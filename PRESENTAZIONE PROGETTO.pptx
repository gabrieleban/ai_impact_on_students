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ink/ink1.xml" ContentType="application/inkml+xml"/>
  <Override PartName="/ppt/ink/ink2.xml" ContentType="application/inkml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66" r:id="rId2"/>
    <p:sldId id="268" r:id="rId3"/>
    <p:sldId id="279" r:id="rId4"/>
    <p:sldId id="256" r:id="rId5"/>
    <p:sldId id="257" r:id="rId6"/>
    <p:sldId id="258" r:id="rId7"/>
    <p:sldId id="259" r:id="rId8"/>
    <p:sldId id="260" r:id="rId9"/>
    <p:sldId id="261" r:id="rId10"/>
    <p:sldId id="262" r:id="rId11"/>
    <p:sldId id="273" r:id="rId12"/>
    <p:sldId id="269" r:id="rId13"/>
    <p:sldId id="271" r:id="rId14"/>
    <p:sldId id="274" r:id="rId15"/>
    <p:sldId id="270" r:id="rId16"/>
    <p:sldId id="275" r:id="rId17"/>
    <p:sldId id="276" r:id="rId18"/>
    <p:sldId id="278" r:id="rId19"/>
    <p:sldId id="263" r:id="rId20"/>
    <p:sldId id="277" r:id="rId21"/>
    <p:sldId id="280" r:id="rId22"/>
  </p:sldIdLst>
  <p:sldSz cx="12192000" cy="6858000"/>
  <p:notesSz cx="6858000" cy="9144000"/>
  <p:defaultTextStyle>
    <a:defPPr>
      <a:defRPr lang="de-DE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0016B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0D012389-56C7-7DED-9952-47571E55145B}" v="1568" dt="2026-06-05T14:53:57.580"/>
    <p1510:client id="{37235EE6-577B-4579-89FF-2A8F28748373}" v="1256" dt="2026-06-05T13:54:38.393"/>
    <p1510:client id="{4486E0A4-A333-72EF-F28F-8D227860009B}" v="332" dt="2026-06-05T10:06:26.873"/>
    <p1510:client id="{63591EF4-F689-E4BA-1D42-4469D0E61B97}" v="7" dt="2026-06-05T07:46:08.866"/>
    <p1510:client id="{69451265-7DEF-1AC6-470A-C8AC19C05205}" v="86" dt="2026-06-05T09:56:28.935"/>
    <p1510:client id="{7A366621-9105-F631-DD70-21325964D760}" v="151" dt="2026-06-05T12:13:09.451"/>
    <p1510:client id="{85F610FC-0149-A822-B28B-2FAE11799762}" v="33" dt="2026-06-05T12:46:59.628"/>
    <p1510:client id="{93DE4B43-A91B-4E68-B682-ADAB112E62F2}" v="140" dt="2026-06-04T15:45:22.927"/>
    <p1510:client id="{DF6AC373-C688-EE84-BC32-65497822BA42}" v="3399" dt="2026-06-05T14:09:13.174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tableStyles" Target="tableStyles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viewProps" Target="view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presProps" Target="pres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microsoft.com/office/2015/10/relationships/revisionInfo" Target="revisionInfo.xml"/></Relationships>
</file>

<file path=ppt/ink/ink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6-05T09:56:23.466"/>
    </inkml:context>
    <inkml:brush xml:id="br0">
      <inkml:brushProperty name="width" value="0.1" units="cm"/>
      <inkml:brushProperty name="height" value="0.1" units="cm"/>
    </inkml:brush>
  </inkml:definitions>
  <inkml:trace contextRef="#ctx0" brushRef="#br0">7197 9074 16383 0 0,'7'0'0'0'0,"12"0"0"0"0,5 0 0 0 0,7 0 0 0 0,6 0 0 0 0,4 0 0 0 0,3 0 0 0 0,3 0 0 0 0,-1 0 0 0 0,-1 0 0 0 0,-4 0 0 0 0,-3 0 0 0 0,-1 0 0 0 0,-2 0 0 0 0,-4 0 0 0 0,-2 0 0 0 0,-3 0 0 0 0,-2 0 0 0 0,3 0 0 0 0,5 0 0 0 0,0 0 0 0 0,0 0 0 0 0,1 0 0 0 0,-1 0 0 0 0,3 0 0 0 0,-2 0 0 0 0,-2 0 0 0 0,-2 0 0 0 0,-3 0 0 0 0,-2 0 0 0 0,0 0 0 0 0,-1 0 0 0 0,0 0 0 0 0,-1 0 0 0 0,1 0 0 0 0,0 0 0 0 0,-1 0 0 0 0,1 0 0 0 0,4 0 0 0 0,1 0 0 0 0,4 0 0 0 0,0 0 0 0 0,-1 0 0 0 0,-2 0 0 0 0,-2 0 0 0 0,-3 0 0 0 0,1 0 0 0 0,-2 0 0 0 0,4 0 0 0 0,5 0 0 0 0,0 0 0 0 0,0 0 0 0 0,-2 0 0 0 0,-3 0 0 0 0,-2 0 0 0 0,3 0 0 0 0,5 0 0 0 0,0 0 0 0 0,2 0 0 0 0,1 0 0 0 0,-4 0 0 0 0,1 0 0 0 0,3 0 0 0 0,-1 0 0 0 0,2 0 0 0 0,-2 0 0 0 0,-3 0 0 0 0,-3 0 0 0 0,-2 0 0 0 0,2 0 0 0 0,3 0 0 0 0,5 0 0 0 0,-1 0 0 0 0,2 0 0 0 0,7 0 0 0 0,2 0 0 0 0,6 0 0 0 0,9 0 0 0 0,6 0 0 0 0,3 0 0 0 0,1 0 0 0 0,5 0 0 0 0,-1 0 0 0 0,12 0 0 0 0,6 0 0 0 0,6 0 0 0 0,-1 0 0 0 0,-7 0 0 0 0,-10 0 0 0 0,-12 0 0 0 0,-9 0 0 0 0,-13 0 0 0 0,-5 0 0 0 0,-6 0 0 0 0,-6 0 0 0 0,-4 0 0 0 0,-4 0 0 0 0,0 0 0 0 0,-1 0 0 0 0,-1 0 0 0 0,1 0 0 0 0,1 0 0 0 0,-1 0 0 0 0,0 0 0 0 0,2 0 0 0 0,3 0 0 0 0,5 0 0 0 0,1 0 0 0 0,3 0 0 0 0,2 0 0 0 0,5 0 0 0 0,0 0 0 0 0,2 0 0 0 0,2 0 0 0 0,-1 0 0 0 0,1 0 0 0 0,3 0 0 0 0,9 0 0 0 0,7 0 0 0 0,3 0 0 0 0,3 0 0 0 0,-5 0 0 0 0,3 0 0 0 0,-3 0 0 0 0,-1 0 0 0 0,-3 0 0 0 0,-2 0 0 0 0,-3 0 0 0 0,-3 0 0 0 0,-4 0 0 0 0,-2 0 0 0 0,-2 0 0 0 0,0 0 0 0 0,-2 0 0 0 0,1 0 0 0 0,-1 0 0 0 0,0 0 0 0 0,5 0 0 0 0,1 0 0 0 0,3 0 0 0 0,9 0 0 0 0,5 0 0 0 0,4 0 0 0 0,-1 0 0 0 0,1 0 0 0 0,4 0 0 0 0,-1 0 0 0 0,9 0 0 0 0,-1 0 0 0 0,0 0 0 0 0,-5 0 0 0 0,2 0 0 0 0,-6 0 0 0 0,-4 0 0 0 0,-2 0 0 0 0,5 0 0 0 0,-1 0 0 0 0,0 0 0 0 0,-4 0 0 0 0,-2 0 0 0 0,8 0 0 0 0,1 0 0 0 0,6 0 0 0 0,-1 0 0 0 0,-1 0 0 0 0,-7 0 0 0 0,-4 0 0 0 0,-1 0 0 0 0,3 0 0 0 0,2 0 0 0 0,0 0 0 0 0,-5 0 0 0 0,3 0 0 0 0,0 0 0 0 0,5 0 0 0 0,5 0 0 0 0,0 0 0 0 0,2 0 0 0 0,4 0 0 0 0,-1 0 0 0 0,-5 0 0 0 0,1 0 0 0 0,-2 0 0 0 0,-6 0 0 0 0,-4 0 0 0 0,-6 0 0 0 0,-7 0 0 0 0,0 0 0 0 0,-1 0 0 0 0,-3 0 0 0 0,4 0 0 0 0,6 0 0 0 0,0 0 0 0 0,1 0 0 0 0,-2 0 0 0 0,-4 0 0 0 0,0 0 0 0 0,-2 0 0 0 0,-2 0 0 0 0,-2 0 0 0 0,-7 0 0 0 0,-2 0 0 0 0,-1 0 0 0 0,-3 0 0 0 0,-4 0 0 0 0,-1 0 0 0 0,-1 0 0 0 0,1 0 0 0 0,3 0 0 0 0,0 0 0 0 0,-4 0 0 0 0,2 0 0 0 0,4 0 0 0 0,1 0 0 0 0,6 0 0 0 0,8 0 0 0 0,3 0 0 0 0,22 0 0 0 0,26 0 0 0 0,19 0 0 0 0,16 0 0 0 0,6 0 0 0 0,1 0 0 0 0,-8 0 0 0 0,-9 0 0 0 0,-9 0 0 0 0,0 0 0 0 0,-2 0 0 0 0,3 0 0 0 0,-3 0 0 0 0,-2 0 0 0 0,1 0 0 0 0,2 0 0 0 0,-3 0 0 0 0,-4 0 0 0 0,-8 0 0 0 0,-1 0 0 0 0,-5 0 0 0 0,3 0 0 0 0,-6 0 0 0 0,-2 0 0 0 0,2 0 0 0 0,-3 0 0 0 0,-7 0 0 0 0,-7 0 0 0 0,-8 0 0 0 0,-7 0 0 0 0,-6 0 0 0 0,3 0 0 0 0,-6 0 0 0 0,-3 0 0 0 0,-3 0 0 0 0,-6 0 0 0 0,-2 0 0 0 0,-4 0 0 0 0,-4 0 0 0 0,-3 0 0 0 0,-3 0 0 0 0,-2 0 0 0 0,-2 0 0 0 0,0 0 0 0 0,4 0 0 0 0,6 0 0 0 0,4 0 0 0 0,5 0 0 0 0,3 0 0 0 0,1 0 0 0 0,2 0 0 0 0,0 0 0 0 0,4 0 0 0 0,4 0 0 0 0,10 0 0 0 0,5 0 0 0 0,2 0 0 0 0,1 0 0 0 0,-5 0 0 0 0,7 0 0 0 0,1 0 0 0 0,1 0 0 0 0,1 0 0 0 0,-8 0 0 0 0,-7 0 0 0 0,0 0 0 0 0,-2 0 0 0 0,-4 0 0 0 0,-4 0 0 0 0,-3 0 0 0 0,-2 0 0 0 0,-2 0 0 0 0,1 0 0 0 0,-6 0 0 0 0,-1 0 0 0 0,0 0 0 0 0,-7 0 0 0 0,-4 0 0 0 0,-4 0 0 0 0,-2 0 0 0 0,0 0 0 0 0,-3 0 0 0 0,2 0 0 0 0,1 0 0 0 0,-2 0 0 0 0,2 0 0 0 0,0 0 0 0 0,-1 0 0 0 0,1 0 0 0 0,1 0 0 0 0,-1 0 0 0 0,-1 0 0 0 0,6 0 0 0 0,4 0 0 0 0,1 0 0 0 0,-1 0 0 0 0,1 0 0 0 0,4 0 0 0 0,11 0 0 0 0,9 0 0 0 0,3 0 0 0 0,2 0 0 0 0,-2 0 0 0 0,2 0 0 0 0,2 0 0 0 0,-3 0 0 0 0,4 0 0 0 0,3 0 0 0 0,-1 0 0 0 0,-7 0 0 0 0,-4 0 0 0 0,-3 0 0 0 0,-5 0 0 0 0,0 0 0 0 0,-3 0 0 0 0,1 0 0 0 0,-2 0 0 0 0,2 0 0 0 0,-8 0 0 0 0,-7 0 0 0 0,-1 0 0 0 0,0 0 0 0 0,1 0 0 0 0,-1 0 0 0 0,4 0 0 0 0,-6 0 0 0 0,-3 0 0 0 0,-1 0 0 0 0,-1 0 0 0 0,-2 0 0 0 0,1 0 0 0 0,1 0 0 0 0,3 0 0 0 0,2 0 0 0 0,-1 0 0 0 0,0 0 0 0 0,3 0 0 0 0,3 0 0 0 0,1 0 0 0 0,-1 0 0 0 0,-3 0 0 0 0,1 0 0 0 0,0 0 0 0 0,-2 0 0 0 0,-2 0 0 0 0,-1 0 0 0 0,-1 0 0 0 0,-3 0 0 0 0,2 0 0 0 0,-1 0 0 0 0,-1 0 0 0 0,1 0 0 0 0,0 0 0 0 0,4 0 0 0 0,1 0 0 0 0,0 0 0 0 0,-2 0 0 0 0,0 0 0 0 0,-1 0 0 0 0,-1 0 0 0 0,-1 0 0 0 0,0 0 0 0 0,0 0 0 0 0,0 0 0 0 0,-1 0 0 0 0,1 0 0 0 0,1 0 0 0 0,-2 0 0 0 0,1 0 0 0 0,0 0 0 0 0,1 0 0 0 0,-2 0 0 0 0,1 0 0 0 0,0 0 0 0 0,1 0 0 0 0,-2 0 0 0 0,1 0 0 0 0,1 0 0 0 0,-2 0 0 0 0,1 0 0 0 0,0 0 0 0 0,1 0 0 0 0,-2 0 0 0 0,1 0 0 0 0,1 0 0 0 0,-2 0 0 0 0,1 0 0 0 0,0 0 0 0 0,1 0 0 0 0,-2 0 0 0 0,5 0 0 0 0,5 0 0 0 0,5 0 0 0 0,1 0 0 0 0,-3 0 0 0 0,-4 0 0 0 0,-2 0 0 0 0,-4 0 0 0 0,0 0 0 0 0,-2 0 0 0 0,0 0 0 0 0,-1 0 0 0 0,1 0 0 0 0,-1 0 0 0 0,0 0 0 0 0,1 0 0 0 0,1 0 0 0 0,-1 0 0 0 0,-1 0 0 0 0,1 0 0 0 0,1 0 0 0 0,-2 0 0 0 0,-3 0 0 0 0</inkml:trace>
</inkml:ink>
</file>

<file path=ppt/ink/ink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6-05T10:32:51.007"/>
    </inkml:context>
    <inkml:brush xml:id="br0">
      <inkml:brushProperty name="width" value="0.1" units="cm"/>
      <inkml:brushProperty name="height" value="0.1" units="cm"/>
    </inkml:brush>
  </inkml:definitions>
  <inkml:trace contextRef="#ctx0" brushRef="#br0">7197 9074 16383 0 0,'7'0'0'0'0,"12"0"0"0"0,4 0 0 0 0,8 0 0 0 0,5 0 0 0 0,4 0 0 0 0,3 0 0 0 0,3 0 0 0 0,0 0 0 0 0,-2 0 0 0 0,-4 0 0 0 0,-3 0 0 0 0,0 0 0 0 0,-3 0 0 0 0,-3 0 0 0 0,-3 0 0 0 0,-2 0 0 0 0,-3 0 0 0 0,4 0 0 0 0,4 0 0 0 0,0 0 0 0 0,1 0 0 0 0,0 0 0 0 0,0 0 0 0 0,2 0 0 0 0,-2 0 0 0 0,-1 0 0 0 0,-3 0 0 0 0,-2 0 0 0 0,-3 0 0 0 0,1 0 0 0 0,-1 0 0 0 0,-1 0 0 0 0,0 0 0 0 0,0 0 0 0 0,1 0 0 0 0,-1 0 0 0 0,0 0 0 0 0,5 0 0 0 0,0 0 0 0 0,5 0 0 0 0,-1 0 0 0 0,-1 0 0 0 0,-1 0 0 0 0,-3 0 0 0 0,-2 0 0 0 0,1 0 0 0 0,-3 0 0 0 0,5 0 0 0 0,4 0 0 0 0,0 0 0 0 0,1 0 0 0 0,-3 0 0 0 0,-2 0 0 0 0,-3 0 0 0 0,4 0 0 0 0,4 0 0 0 0,1 0 0 0 0,1 0 0 0 0,1 0 0 0 0,-3 0 0 0 0,0 0 0 0 0,4 0 0 0 0,-2 0 0 0 0,2 0 0 0 0,-1 0 0 0 0,-4 0 0 0 0,-2 0 0 0 0,-3 0 0 0 0,3 0 0 0 0,2 0 0 0 0,5 0 0 0 0,0 0 0 0 0,1 0 0 0 0,7 0 0 0 0,2 0 0 0 0,6 0 0 0 0,9 0 0 0 0,6 0 0 0 0,3 0 0 0 0,0 0 0 0 0,6 0 0 0 0,-1 0 0 0 0,11 0 0 0 0,6 0 0 0 0,7 0 0 0 0,-2 0 0 0 0,-7 0 0 0 0,-9 0 0 0 0,-13 0 0 0 0,-8 0 0 0 0,-13 0 0 0 0,-4 0 0 0 0,-7 0 0 0 0,-6 0 0 0 0,-3 0 0 0 0,-5 0 0 0 0,1 0 0 0 0,-1 0 0 0 0,-2 0 0 0 0,2 0 0 0 0,0 0 0 0 0,0 0 0 0 0,0 0 0 0 0,1 0 0 0 0,4 0 0 0 0,4 0 0 0 0,2 0 0 0 0,2 0 0 0 0,2 0 0 0 0,5 0 0 0 0,1 0 0 0 0,1 0 0 0 0,2 0 0 0 0,-1 0 0 0 0,1 0 0 0 0,3 0 0 0 0,9 0 0 0 0,7 0 0 0 0,3 0 0 0 0,3 0 0 0 0,-6 0 0 0 0,4 0 0 0 0,-3 0 0 0 0,-1 0 0 0 0,-3 0 0 0 0,-3 0 0 0 0,-2 0 0 0 0,-3 0 0 0 0,-4 0 0 0 0,-1 0 0 0 0,-3 0 0 0 0,0 0 0 0 0,-2 0 0 0 0,1 0 0 0 0,-1 0 0 0 0,1 0 0 0 0,4 0 0 0 0,1 0 0 0 0,3 0 0 0 0,9 0 0 0 0,4 0 0 0 0,5 0 0 0 0,-1 0 0 0 0,0 0 0 0 0,5 0 0 0 0,-1 0 0 0 0,8 0 0 0 0,0 0 0 0 0,-1 0 0 0 0,-4 0 0 0 0,1 0 0 0 0,-5 0 0 0 0,-4 0 0 0 0,-2 0 0 0 0,4 0 0 0 0,0 0 0 0 0,0 0 0 0 0,-5 0 0 0 0,-1 0 0 0 0,8 0 0 0 0,0 0 0 0 0,7 0 0 0 0,-1 0 0 0 0,-2 0 0 0 0,-6 0 0 0 0,-4 0 0 0 0,-2 0 0 0 0,4 0 0 0 0,2 0 0 0 0,0 0 0 0 0,-6 0 0 0 0,4 0 0 0 0,0 0 0 0 0,4 0 0 0 0,6 0 0 0 0,0 0 0 0 0,1 0 0 0 0,4 0 0 0 0,0 0 0 0 0,-6 0 0 0 0,2 0 0 0 0,-2 0 0 0 0,-7 0 0 0 0,-3 0 0 0 0,-6 0 0 0 0,-7 0 0 0 0,0 0 0 0 0,-1 0 0 0 0,-3 0 0 0 0,4 0 0 0 0,6 0 0 0 0,0 0 0 0 0,1 0 0 0 0,-3 0 0 0 0,-3 0 0 0 0,0 0 0 0 0,-2 0 0 0 0,-2 0 0 0 0,-2 0 0 0 0,-6 0 0 0 0,-3 0 0 0 0,-1 0 0 0 0,-3 0 0 0 0,-3 0 0 0 0,-2 0 0 0 0,0 0 0 0 0,0 0 0 0 0,3 0 0 0 0,1 0 0 0 0,-5 0 0 0 0,3 0 0 0 0,3 0 0 0 0,1 0 0 0 0,6 0 0 0 0,8 0 0 0 0,3 0 0 0 0,22 0 0 0 0,25 0 0 0 0,19 0 0 0 0,15 0 0 0 0,7 0 0 0 0,0 0 0 0 0,-7 0 0 0 0,-10 0 0 0 0,-8 0 0 0 0,0 0 0 0 0,-2 0 0 0 0,3 0 0 0 0,-4 0 0 0 0,-1 0 0 0 0,1 0 0 0 0,2 0 0 0 0,-3 0 0 0 0,-4 0 0 0 0,-8 0 0 0 0,-1 0 0 0 0,-5 0 0 0 0,4 0 0 0 0,-7 0 0 0 0,-2 0 0 0 0,2 0 0 0 0,-2 0 0 0 0,-8 0 0 0 0,-6 0 0 0 0,-8 0 0 0 0,-8 0 0 0 0,-5 0 0 0 0,3 0 0 0 0,-6 0 0 0 0,-3 0 0 0 0,-2 0 0 0 0,-7 0 0 0 0,-2 0 0 0 0,-4 0 0 0 0,-3 0 0 0 0,-4 0 0 0 0,-2 0 0 0 0,-3 0 0 0 0,-1 0 0 0 0,0 0 0 0 0,3 0 0 0 0,7 0 0 0 0,3 0 0 0 0,5 0 0 0 0,3 0 0 0 0,2 0 0 0 0,1 0 0 0 0,0 0 0 0 0,4 0 0 0 0,4 0 0 0 0,10 0 0 0 0,5 0 0 0 0,1 0 0 0 0,2 0 0 0 0,-5 0 0 0 0,6 0 0 0 0,2 0 0 0 0,1 0 0 0 0,0 0 0 0 0,-7 0 0 0 0,-7 0 0 0 0,0 0 0 0 0,-3 0 0 0 0,-3 0 0 0 0,-4 0 0 0 0,-2 0 0 0 0,-3 0 0 0 0,-2 0 0 0 0,1 0 0 0 0,-6 0 0 0 0,0 0 0 0 0,-1 0 0 0 0,-7 0 0 0 0,-3 0 0 0 0,-5 0 0 0 0,-1 0 0 0 0,-1 0 0 0 0,-2 0 0 0 0,2 0 0 0 0,0 0 0 0 0,-1 0 0 0 0,1 0 0 0 0,1 0 0 0 0,-1 0 0 0 0,0 0 0 0 0,2 0 0 0 0,-2 0 0 0 0,0 0 0 0 0,5 0 0 0 0,5 0 0 0 0,0 0 0 0 0,0 0 0 0 0,0 0 0 0 0,4 0 0 0 0,12 0 0 0 0,8 0 0 0 0,2 0 0 0 0,3 0 0 0 0,-2 0 0 0 0,2 0 0 0 0,2 0 0 0 0,-3 0 0 0 0,4 0 0 0 0,2 0 0 0 0,0 0 0 0 0,-7 0 0 0 0,-4 0 0 0 0,-3 0 0 0 0,-5 0 0 0 0,0 0 0 0 0,-2 0 0 0 0,0 0 0 0 0,-2 0 0 0 0,2 0 0 0 0,-8 0 0 0 0,-6 0 0 0 0,-2 0 0 0 0,1 0 0 0 0,0 0 0 0 0,0 0 0 0 0,3 0 0 0 0,-5 0 0 0 0,-4 0 0 0 0,0 0 0 0 0,-2 0 0 0 0,-1 0 0 0 0,0 0 0 0 0,2 0 0 0 0,3 0 0 0 0,1 0 0 0 0,0 0 0 0 0,-1 0 0 0 0,4 0 0 0 0,2 0 0 0 0,1 0 0 0 0,0 0 0 0 0,-4 0 0 0 0,2 0 0 0 0,-1 0 0 0 0,-1 0 0 0 0,-3 0 0 0 0,0 0 0 0 0,-2 0 0 0 0,-2 0 0 0 0,1 0 0 0 0,0 0 0 0 0,-1 0 0 0 0,0 0 0 0 0,1 0 0 0 0,3 0 0 0 0,2 0 0 0 0,-1 0 0 0 0,-1 0 0 0 0,-1 0 0 0 0,0 0 0 0 0,-2 0 0 0 0,0 0 0 0 0,0 0 0 0 0,-1 0 0 0 0,1 0 0 0 0,-2 0 0 0 0,2 0 0 0 0,0 0 0 0 0,-1 0 0 0 0,1 0 0 0 0,-1 0 0 0 0,2 0 0 0 0,-3 0 0 0 0,2 0 0 0 0,0 0 0 0 0,0 0 0 0 0,-1 0 0 0 0,0 0 0 0 0,2 0 0 0 0,-3 0 0 0 0,2 0 0 0 0,0 0 0 0 0,0 0 0 0 0,-1 0 0 0 0,0 0 0 0 0,2 0 0 0 0,-2 0 0 0 0,0 0 0 0 0,1 0 0 0 0,0 0 0 0 0,-1 0 0 0 0,4 0 0 0 0,6 0 0 0 0,4 0 0 0 0,1 0 0 0 0,-2 0 0 0 0,-5 0 0 0 0,-1 0 0 0 0,-5 0 0 0 0,1 0 0 0 0,-3 0 0 0 0,1 0 0 0 0,-1 0 0 0 0,0 0 0 0 0,0 0 0 0 0,-1 0 0 0 0,2 0 0 0 0,1 0 0 0 0,-2 0 0 0 0,0 0 0 0 0,0 0 0 0 0,2 0 0 0 0,-3 0 0 0 0,-2 0 0 0 0</inkml:trace>
</inkml:ink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a tito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it-IT"/>
              <a:t>Fare clic per modificare lo stile del titolo</a:t>
            </a:r>
            <a:endParaRPr lang="de-DE"/>
          </a:p>
        </p:txBody>
      </p:sp>
      <p:sp>
        <p:nvSpPr>
          <p:cNvPr id="3" name="Sottotitolo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it-IT"/>
              <a:t>Fare clic per modificare lo stile del sottotitolo dello schema</a:t>
            </a:r>
            <a:endParaRPr lang="de-DE"/>
          </a:p>
        </p:txBody>
      </p:sp>
      <p:sp>
        <p:nvSpPr>
          <p:cNvPr id="4" name="Segnaposto dat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64A8E5F-40E5-4553-9F3C-699F1A5B8145}" type="datetimeFigureOut">
              <a:rPr lang="de-DE" smtClean="0"/>
              <a:t>05.06.2026</a:t>
            </a:fld>
            <a:endParaRPr lang="de-DE"/>
          </a:p>
        </p:txBody>
      </p:sp>
      <p:sp>
        <p:nvSpPr>
          <p:cNvPr id="5" name="Segnaposto piè di pagina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6" name="Segnaposto numero diapositiva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6CD45B7-DFE2-4393-8D37-380FC36BF3AA}" type="slidenum">
              <a:rPr lang="de-DE" smtClean="0"/>
              <a:t>‹N›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318619264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olo e contenu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t-IT"/>
              <a:t>Fare clic per modificare lo stile del titolo</a:t>
            </a:r>
            <a:endParaRPr lang="de-DE"/>
          </a:p>
        </p:txBody>
      </p:sp>
      <p:sp>
        <p:nvSpPr>
          <p:cNvPr id="3" name="Segnaposto contenuto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it-IT"/>
              <a:t>Fare clic per modificare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  <a:endParaRPr lang="de-DE"/>
          </a:p>
        </p:txBody>
      </p:sp>
      <p:sp>
        <p:nvSpPr>
          <p:cNvPr id="4" name="Segnaposto dat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64A8E5F-40E5-4553-9F3C-699F1A5B8145}" type="datetimeFigureOut">
              <a:rPr lang="de-DE" smtClean="0"/>
              <a:t>05.06.2026</a:t>
            </a:fld>
            <a:endParaRPr lang="de-DE"/>
          </a:p>
        </p:txBody>
      </p:sp>
      <p:sp>
        <p:nvSpPr>
          <p:cNvPr id="5" name="Segnaposto piè di pagina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6" name="Segnaposto numero diapositiva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6CD45B7-DFE2-4393-8D37-380FC36BF3AA}" type="slidenum">
              <a:rPr lang="de-DE" smtClean="0"/>
              <a:t>‹N›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12631810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Intestazione sezion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it-IT"/>
              <a:t>Fare clic per modificare lo stile del titolo</a:t>
            </a:r>
            <a:endParaRPr lang="de-DE"/>
          </a:p>
        </p:txBody>
      </p:sp>
      <p:sp>
        <p:nvSpPr>
          <p:cNvPr id="3" name="Segnaposto testo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it-IT"/>
              <a:t>Fare clic per modificare stili del testo dello schema</a:t>
            </a:r>
          </a:p>
        </p:txBody>
      </p:sp>
      <p:sp>
        <p:nvSpPr>
          <p:cNvPr id="4" name="Segnaposto dat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64A8E5F-40E5-4553-9F3C-699F1A5B8145}" type="datetimeFigureOut">
              <a:rPr lang="de-DE" smtClean="0"/>
              <a:t>05.06.2026</a:t>
            </a:fld>
            <a:endParaRPr lang="de-DE"/>
          </a:p>
        </p:txBody>
      </p:sp>
      <p:sp>
        <p:nvSpPr>
          <p:cNvPr id="5" name="Segnaposto piè di pagina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6" name="Segnaposto numero diapositiva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6CD45B7-DFE2-4393-8D37-380FC36BF3AA}" type="slidenum">
              <a:rPr lang="de-DE" smtClean="0"/>
              <a:t>‹N›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357739358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ue contenuti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t-IT"/>
              <a:t>Fare clic per modificare lo stile del titolo</a:t>
            </a:r>
            <a:endParaRPr lang="de-DE"/>
          </a:p>
        </p:txBody>
      </p:sp>
      <p:sp>
        <p:nvSpPr>
          <p:cNvPr id="3" name="Segnaposto contenuto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it-IT"/>
              <a:t>Fare clic per modificare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  <a:endParaRPr lang="de-DE"/>
          </a:p>
        </p:txBody>
      </p:sp>
      <p:sp>
        <p:nvSpPr>
          <p:cNvPr id="4" name="Segnaposto contenuto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it-IT"/>
              <a:t>Fare clic per modificare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  <a:endParaRPr lang="de-DE"/>
          </a:p>
        </p:txBody>
      </p:sp>
      <p:sp>
        <p:nvSpPr>
          <p:cNvPr id="5" name="Segnaposto data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64A8E5F-40E5-4553-9F3C-699F1A5B8145}" type="datetimeFigureOut">
              <a:rPr lang="de-DE" smtClean="0"/>
              <a:t>05.06.2026</a:t>
            </a:fld>
            <a:endParaRPr lang="de-DE"/>
          </a:p>
        </p:txBody>
      </p:sp>
      <p:sp>
        <p:nvSpPr>
          <p:cNvPr id="6" name="Segnaposto piè di pagina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7" name="Segnaposto numero diapositiva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6CD45B7-DFE2-4393-8D37-380FC36BF3AA}" type="slidenum">
              <a:rPr lang="de-DE" smtClean="0"/>
              <a:t>‹N›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128408977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nfron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it-IT"/>
              <a:t>Fare clic per modificare lo stile del titolo</a:t>
            </a:r>
            <a:endParaRPr lang="de-DE"/>
          </a:p>
        </p:txBody>
      </p:sp>
      <p:sp>
        <p:nvSpPr>
          <p:cNvPr id="3" name="Segnaposto testo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it-IT"/>
              <a:t>Fare clic per modificare stili del testo dello schema</a:t>
            </a:r>
          </a:p>
        </p:txBody>
      </p:sp>
      <p:sp>
        <p:nvSpPr>
          <p:cNvPr id="4" name="Segnaposto contenuto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it-IT"/>
              <a:t>Fare clic per modificare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  <a:endParaRPr lang="de-DE"/>
          </a:p>
        </p:txBody>
      </p:sp>
      <p:sp>
        <p:nvSpPr>
          <p:cNvPr id="5" name="Segnaposto testo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it-IT"/>
              <a:t>Fare clic per modificare stili del testo dello schema</a:t>
            </a:r>
          </a:p>
        </p:txBody>
      </p:sp>
      <p:sp>
        <p:nvSpPr>
          <p:cNvPr id="6" name="Segnaposto contenuto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it-IT"/>
              <a:t>Fare clic per modificare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  <a:endParaRPr lang="de-DE"/>
          </a:p>
        </p:txBody>
      </p:sp>
      <p:sp>
        <p:nvSpPr>
          <p:cNvPr id="7" name="Segnaposto data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64A8E5F-40E5-4553-9F3C-699F1A5B8145}" type="datetimeFigureOut">
              <a:rPr lang="de-DE" smtClean="0"/>
              <a:t>05.06.2026</a:t>
            </a:fld>
            <a:endParaRPr lang="de-DE"/>
          </a:p>
        </p:txBody>
      </p:sp>
      <p:sp>
        <p:nvSpPr>
          <p:cNvPr id="8" name="Segnaposto piè di pagina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9" name="Segnaposto numero diapositiva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6CD45B7-DFE2-4393-8D37-380FC36BF3AA}" type="slidenum">
              <a:rPr lang="de-DE" smtClean="0"/>
              <a:t>‹N›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274798298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lo tito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t-IT"/>
              <a:t>Fare clic per modificare lo stile del titolo</a:t>
            </a:r>
            <a:endParaRPr lang="de-DE"/>
          </a:p>
        </p:txBody>
      </p:sp>
      <p:sp>
        <p:nvSpPr>
          <p:cNvPr id="3" name="Segnaposto data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64A8E5F-40E5-4553-9F3C-699F1A5B8145}" type="datetimeFigureOut">
              <a:rPr lang="de-DE" smtClean="0"/>
              <a:t>05.06.2026</a:t>
            </a:fld>
            <a:endParaRPr lang="de-DE"/>
          </a:p>
        </p:txBody>
      </p:sp>
      <p:sp>
        <p:nvSpPr>
          <p:cNvPr id="4" name="Segnaposto piè di pagina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5" name="Segnaposto numero diapositiva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6CD45B7-DFE2-4393-8D37-380FC36BF3AA}" type="slidenum">
              <a:rPr lang="de-DE" smtClean="0"/>
              <a:t>‹N›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33178254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Vuot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gnaposto data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64A8E5F-40E5-4553-9F3C-699F1A5B8145}" type="datetimeFigureOut">
              <a:rPr lang="de-DE" smtClean="0"/>
              <a:t>05.06.2026</a:t>
            </a:fld>
            <a:endParaRPr lang="de-DE"/>
          </a:p>
        </p:txBody>
      </p:sp>
      <p:sp>
        <p:nvSpPr>
          <p:cNvPr id="3" name="Segnaposto piè di pagina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4" name="Segnaposto numero diapositiva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6CD45B7-DFE2-4393-8D37-380FC36BF3AA}" type="slidenum">
              <a:rPr lang="de-DE" smtClean="0"/>
              <a:t>‹N›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189409514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uto con didascali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it-IT"/>
              <a:t>Fare clic per modificare lo stile del titolo</a:t>
            </a:r>
            <a:endParaRPr lang="de-DE"/>
          </a:p>
        </p:txBody>
      </p:sp>
      <p:sp>
        <p:nvSpPr>
          <p:cNvPr id="3" name="Segnaposto contenuto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it-IT"/>
              <a:t>Fare clic per modificare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  <a:endParaRPr lang="de-DE"/>
          </a:p>
        </p:txBody>
      </p:sp>
      <p:sp>
        <p:nvSpPr>
          <p:cNvPr id="4" name="Segnaposto testo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it-IT"/>
              <a:t>Fare clic per modificare stili del testo dello schema</a:t>
            </a:r>
          </a:p>
        </p:txBody>
      </p:sp>
      <p:sp>
        <p:nvSpPr>
          <p:cNvPr id="5" name="Segnaposto data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64A8E5F-40E5-4553-9F3C-699F1A5B8145}" type="datetimeFigureOut">
              <a:rPr lang="de-DE" smtClean="0"/>
              <a:t>05.06.2026</a:t>
            </a:fld>
            <a:endParaRPr lang="de-DE"/>
          </a:p>
        </p:txBody>
      </p:sp>
      <p:sp>
        <p:nvSpPr>
          <p:cNvPr id="6" name="Segnaposto piè di pagina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7" name="Segnaposto numero diapositiva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6CD45B7-DFE2-4393-8D37-380FC36BF3AA}" type="slidenum">
              <a:rPr lang="de-DE" smtClean="0"/>
              <a:t>‹N›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236581632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magine con didascali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it-IT"/>
              <a:t>Fare clic per modificare lo stile del titolo</a:t>
            </a:r>
            <a:endParaRPr lang="de-DE"/>
          </a:p>
        </p:txBody>
      </p:sp>
      <p:sp>
        <p:nvSpPr>
          <p:cNvPr id="3" name="Segnaposto immagine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de-DE"/>
          </a:p>
        </p:txBody>
      </p:sp>
      <p:sp>
        <p:nvSpPr>
          <p:cNvPr id="4" name="Segnaposto testo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it-IT"/>
              <a:t>Fare clic per modificare stili del testo dello schema</a:t>
            </a:r>
          </a:p>
        </p:txBody>
      </p:sp>
      <p:sp>
        <p:nvSpPr>
          <p:cNvPr id="5" name="Segnaposto data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64A8E5F-40E5-4553-9F3C-699F1A5B8145}" type="datetimeFigureOut">
              <a:rPr lang="de-DE" smtClean="0"/>
              <a:t>05.06.2026</a:t>
            </a:fld>
            <a:endParaRPr lang="de-DE"/>
          </a:p>
        </p:txBody>
      </p:sp>
      <p:sp>
        <p:nvSpPr>
          <p:cNvPr id="6" name="Segnaposto piè di pagina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7" name="Segnaposto numero diapositiva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6CD45B7-DFE2-4393-8D37-380FC36BF3AA}" type="slidenum">
              <a:rPr lang="de-DE" smtClean="0"/>
              <a:t>‹N›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168857669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olo e testo vertica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t-IT"/>
              <a:t>Fare clic per modificare lo stile del titolo</a:t>
            </a:r>
            <a:endParaRPr lang="de-DE"/>
          </a:p>
        </p:txBody>
      </p:sp>
      <p:sp>
        <p:nvSpPr>
          <p:cNvPr id="3" name="Segnaposto testo verticale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it-IT"/>
              <a:t>Fare clic per modificare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  <a:endParaRPr lang="de-DE"/>
          </a:p>
        </p:txBody>
      </p:sp>
      <p:sp>
        <p:nvSpPr>
          <p:cNvPr id="4" name="Segnaposto dat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64A8E5F-40E5-4553-9F3C-699F1A5B8145}" type="datetimeFigureOut">
              <a:rPr lang="de-DE" smtClean="0"/>
              <a:t>05.06.2026</a:t>
            </a:fld>
            <a:endParaRPr lang="de-DE"/>
          </a:p>
        </p:txBody>
      </p:sp>
      <p:sp>
        <p:nvSpPr>
          <p:cNvPr id="5" name="Segnaposto piè di pagina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6" name="Segnaposto numero diapositiva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6CD45B7-DFE2-4393-8D37-380FC36BF3AA}" type="slidenum">
              <a:rPr lang="de-DE" smtClean="0"/>
              <a:t>‹N›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342446902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itolo e testo vertica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vertica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it-IT"/>
              <a:t>Fare clic per modificare lo stile del titolo</a:t>
            </a:r>
            <a:endParaRPr lang="de-DE"/>
          </a:p>
        </p:txBody>
      </p:sp>
      <p:sp>
        <p:nvSpPr>
          <p:cNvPr id="3" name="Segnaposto testo verticale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it-IT"/>
              <a:t>Fare clic per modificare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  <a:endParaRPr lang="de-DE"/>
          </a:p>
        </p:txBody>
      </p:sp>
      <p:sp>
        <p:nvSpPr>
          <p:cNvPr id="4" name="Segnaposto dat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64A8E5F-40E5-4553-9F3C-699F1A5B8145}" type="datetimeFigureOut">
              <a:rPr lang="de-DE" smtClean="0"/>
              <a:t>05.06.2026</a:t>
            </a:fld>
            <a:endParaRPr lang="de-DE"/>
          </a:p>
        </p:txBody>
      </p:sp>
      <p:sp>
        <p:nvSpPr>
          <p:cNvPr id="5" name="Segnaposto piè di pagina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6" name="Segnaposto numero diapositiva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6CD45B7-DFE2-4393-8D37-380FC36BF3AA}" type="slidenum">
              <a:rPr lang="de-DE" smtClean="0"/>
              <a:t>‹N›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102684236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gnaposto titolo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it-IT"/>
              <a:t>Fare clic per modificare lo stile del titolo</a:t>
            </a:r>
            <a:endParaRPr lang="de-DE"/>
          </a:p>
        </p:txBody>
      </p:sp>
      <p:sp>
        <p:nvSpPr>
          <p:cNvPr id="3" name="Segnaposto testo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it-IT"/>
              <a:t>Fare clic per modificare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  <a:endParaRPr lang="de-DE"/>
          </a:p>
        </p:txBody>
      </p:sp>
      <p:sp>
        <p:nvSpPr>
          <p:cNvPr id="4" name="Segnaposto data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F64A8E5F-40E5-4553-9F3C-699F1A5B8145}" type="datetimeFigureOut">
              <a:rPr lang="de-DE" smtClean="0"/>
              <a:t>05.06.2026</a:t>
            </a:fld>
            <a:endParaRPr lang="de-DE"/>
          </a:p>
        </p:txBody>
      </p:sp>
      <p:sp>
        <p:nvSpPr>
          <p:cNvPr id="5" name="Segnaposto piè di pagina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de-DE"/>
          </a:p>
        </p:txBody>
      </p:sp>
      <p:sp>
        <p:nvSpPr>
          <p:cNvPr id="6" name="Segnaposto numero diapositiva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66CD45B7-DFE2-4393-8D37-380FC36BF3AA}" type="slidenum">
              <a:rPr lang="de-DE" smtClean="0"/>
              <a:t>‹N›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180193149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de-DE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customXml" Target="../ink/ink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customXml" Target="../ink/ink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sv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CB2EAB2-B59B-1D31-28D5-4A8521B0B6E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>
            <a:extLst>
              <a:ext uri="{FF2B5EF4-FFF2-40B4-BE49-F238E27FC236}">
                <a16:creationId xmlns:a16="http://schemas.microsoft.com/office/drawing/2014/main" id="{CC3E7B92-285A-D3DD-9174-A12FEF97365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Freeform: Shape 10">
            <a:extLst>
              <a:ext uri="{FF2B5EF4-FFF2-40B4-BE49-F238E27FC236}">
                <a16:creationId xmlns:a16="http://schemas.microsoft.com/office/drawing/2014/main" id="{491C9820-7FFE-1AF4-FF23-28997414856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8900000" flipH="1">
            <a:off x="-376156" y="-253670"/>
            <a:ext cx="1827638" cy="1376989"/>
          </a:xfrm>
          <a:custGeom>
            <a:avLst/>
            <a:gdLst>
              <a:gd name="connsiteX0" fmla="*/ 0 w 1827638"/>
              <a:gd name="connsiteY0" fmla="*/ 987379 h 1376989"/>
              <a:gd name="connsiteX1" fmla="*/ 987379 w 1827638"/>
              <a:gd name="connsiteY1" fmla="*/ 0 h 1376989"/>
              <a:gd name="connsiteX2" fmla="*/ 1827638 w 1827638"/>
              <a:gd name="connsiteY2" fmla="*/ 840260 h 1376989"/>
              <a:gd name="connsiteX3" fmla="*/ 1827638 w 1827638"/>
              <a:gd name="connsiteY3" fmla="*/ 1376989 h 1376989"/>
              <a:gd name="connsiteX4" fmla="*/ 0 w 1827638"/>
              <a:gd name="connsiteY4" fmla="*/ 1376989 h 137698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827638" h="1376989">
                <a:moveTo>
                  <a:pt x="0" y="987379"/>
                </a:moveTo>
                <a:lnTo>
                  <a:pt x="987379" y="0"/>
                </a:lnTo>
                <a:lnTo>
                  <a:pt x="1827638" y="840260"/>
                </a:lnTo>
                <a:lnTo>
                  <a:pt x="1827638" y="1376989"/>
                </a:lnTo>
                <a:lnTo>
                  <a:pt x="0" y="1376989"/>
                </a:lnTo>
                <a:close/>
              </a:path>
            </a:pathLst>
          </a:custGeom>
          <a:solidFill>
            <a:schemeClr val="accent1"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1406B514-733A-9D3D-8753-0A1F59359F6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8900000" flipH="1">
            <a:off x="891641" y="422146"/>
            <a:ext cx="645368" cy="645368"/>
          </a:xfrm>
          <a:prstGeom prst="rect">
            <a:avLst/>
          </a:prstGeom>
          <a:solidFill>
            <a:schemeClr val="accent1"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E117A660-1848-F6D4-7D91-2454E3E67C6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8900000" flipH="1">
            <a:off x="10043482" y="655140"/>
            <a:ext cx="687472" cy="687472"/>
          </a:xfrm>
          <a:prstGeom prst="rect">
            <a:avLst/>
          </a:prstGeom>
          <a:solidFill>
            <a:schemeClr val="accent4"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7" name="Freeform: Shape 16">
            <a:extLst>
              <a:ext uri="{FF2B5EF4-FFF2-40B4-BE49-F238E27FC236}">
                <a16:creationId xmlns:a16="http://schemas.microsoft.com/office/drawing/2014/main" id="{069FAFE5-5409-D393-176C-70B70744676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9356643" y="0"/>
            <a:ext cx="2835357" cy="1480837"/>
          </a:xfrm>
          <a:custGeom>
            <a:avLst/>
            <a:gdLst>
              <a:gd name="connsiteX0" fmla="*/ 2835357 w 2835357"/>
              <a:gd name="connsiteY0" fmla="*/ 1480837 h 1480837"/>
              <a:gd name="connsiteX1" fmla="*/ 0 w 2835357"/>
              <a:gd name="connsiteY1" fmla="*/ 1480837 h 1480837"/>
              <a:gd name="connsiteX2" fmla="*/ 1552727 w 2835357"/>
              <a:gd name="connsiteY2" fmla="*/ 0 h 1480837"/>
              <a:gd name="connsiteX3" fmla="*/ 2835357 w 2835357"/>
              <a:gd name="connsiteY3" fmla="*/ 1223245 h 148083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835357" h="1480837">
                <a:moveTo>
                  <a:pt x="2835357" y="1480837"/>
                </a:moveTo>
                <a:lnTo>
                  <a:pt x="0" y="1480837"/>
                </a:lnTo>
                <a:lnTo>
                  <a:pt x="1552727" y="0"/>
                </a:lnTo>
                <a:lnTo>
                  <a:pt x="2835357" y="1223245"/>
                </a:lnTo>
                <a:close/>
              </a:path>
            </a:pathLst>
          </a:custGeom>
          <a:solidFill>
            <a:schemeClr val="accent4"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19" name="Isosceles Triangle 18">
            <a:extLst>
              <a:ext uri="{FF2B5EF4-FFF2-40B4-BE49-F238E27FC236}">
                <a16:creationId xmlns:a16="http://schemas.microsoft.com/office/drawing/2014/main" id="{3FCD722A-FDE0-3765-BA78-797451ACA9E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7976344" y="6115501"/>
            <a:ext cx="1494513" cy="742499"/>
          </a:xfrm>
          <a:prstGeom prst="triangle">
            <a:avLst/>
          </a:prstGeom>
          <a:solidFill>
            <a:schemeClr val="accent1"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1" name="Isosceles Triangle 20">
            <a:extLst>
              <a:ext uri="{FF2B5EF4-FFF2-40B4-BE49-F238E27FC236}">
                <a16:creationId xmlns:a16="http://schemas.microsoft.com/office/drawing/2014/main" id="{1CFEBA00-59D4-ACA8-3BAC-0E8E6AE82C1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7604080" y="6453143"/>
            <a:ext cx="814903" cy="404857"/>
          </a:xfrm>
          <a:prstGeom prst="triangle">
            <a:avLst/>
          </a:prstGeom>
          <a:solidFill>
            <a:schemeClr val="accent1"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CasellaDiTesto 4">
            <a:extLst>
              <a:ext uri="{FF2B5EF4-FFF2-40B4-BE49-F238E27FC236}">
                <a16:creationId xmlns:a16="http://schemas.microsoft.com/office/drawing/2014/main" id="{66397C6D-CD3C-F9A8-548A-8FD57FB5E87B}"/>
              </a:ext>
            </a:extLst>
          </p:cNvPr>
          <p:cNvSpPr txBox="1"/>
          <p:nvPr/>
        </p:nvSpPr>
        <p:spPr>
          <a:xfrm>
            <a:off x="3608457" y="3750285"/>
            <a:ext cx="2489199" cy="646331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r"/>
            <a:r>
              <a:rPr lang="it-IT"/>
              <a:t>Gabriele Banchio</a:t>
            </a:r>
          </a:p>
          <a:p>
            <a:pPr algn="r"/>
            <a:r>
              <a:rPr lang="it-IT"/>
              <a:t>Anna Kotelevych</a:t>
            </a:r>
          </a:p>
        </p:txBody>
      </p:sp>
      <p:sp>
        <p:nvSpPr>
          <p:cNvPr id="7" name="Titolo 1">
            <a:extLst>
              <a:ext uri="{FF2B5EF4-FFF2-40B4-BE49-F238E27FC236}">
                <a16:creationId xmlns:a16="http://schemas.microsoft.com/office/drawing/2014/main" id="{6AF11AEE-F18C-85E8-CC1B-483909A0F009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959606"/>
            <a:ext cx="9144000" cy="2387600"/>
          </a:xfrm>
        </p:spPr>
        <p:txBody>
          <a:bodyPr>
            <a:normAutofit/>
          </a:bodyPr>
          <a:lstStyle/>
          <a:p>
            <a:r>
              <a:rPr lang="en-US" sz="4800" b="1">
                <a:solidFill>
                  <a:schemeClr val="tx2"/>
                </a:solidFill>
                <a:latin typeface="Aptos"/>
              </a:rPr>
              <a:t>AI IMPACT ON STUDENTS</a:t>
            </a:r>
            <a:endParaRPr lang="it-IT" sz="4800">
              <a:solidFill>
                <a:schemeClr val="tx2"/>
              </a:solidFill>
            </a:endParaRPr>
          </a:p>
        </p:txBody>
      </p:sp>
      <p:sp>
        <p:nvSpPr>
          <p:cNvPr id="10" name="CasellaDiTesto 9">
            <a:extLst>
              <a:ext uri="{FF2B5EF4-FFF2-40B4-BE49-F238E27FC236}">
                <a16:creationId xmlns:a16="http://schemas.microsoft.com/office/drawing/2014/main" id="{56102412-B77C-B7AA-49BA-D32F2B72BFDD}"/>
              </a:ext>
            </a:extLst>
          </p:cNvPr>
          <p:cNvSpPr txBox="1"/>
          <p:nvPr/>
        </p:nvSpPr>
        <p:spPr>
          <a:xfrm>
            <a:off x="6093768" y="3747117"/>
            <a:ext cx="3055399" cy="646331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rtl="0"/>
            <a:r>
              <a:rPr lang="it-IT" sz="1800" b="0" i="0" u="none" strike="noStrike" baseline="0">
                <a:solidFill>
                  <a:srgbClr val="000000"/>
                </a:solidFill>
                <a:latin typeface="Aptos"/>
                <a:ea typeface="Segoe UI"/>
                <a:cs typeface="Segoe UI"/>
              </a:rPr>
              <a:t>Adriano Brancatello</a:t>
            </a:r>
            <a:r>
              <a:rPr lang="en-US" sz="1800" b="0" i="0">
                <a:solidFill>
                  <a:srgbClr val="000000"/>
                </a:solidFill>
                <a:latin typeface="Aptos"/>
                <a:ea typeface="Segoe UI"/>
                <a:cs typeface="Segoe UI"/>
              </a:rPr>
              <a:t>​</a:t>
            </a:r>
            <a:endParaRPr lang="it-IT"/>
          </a:p>
          <a:p>
            <a:pPr rtl="0"/>
            <a:r>
              <a:rPr lang="it-IT" sz="1800" b="0" i="0" u="none" strike="noStrike" baseline="0">
                <a:solidFill>
                  <a:srgbClr val="000000"/>
                </a:solidFill>
                <a:latin typeface="Aptos"/>
                <a:ea typeface="Segoe UI"/>
                <a:cs typeface="Segoe UI"/>
              </a:rPr>
              <a:t>Manuel Luis Cortes</a:t>
            </a:r>
            <a:r>
              <a:rPr lang="en-US" sz="1800" b="0" i="0">
                <a:solidFill>
                  <a:srgbClr val="000000"/>
                </a:solidFill>
                <a:latin typeface="Aptos"/>
                <a:ea typeface="Segoe UI"/>
                <a:cs typeface="Segoe UI"/>
              </a:rPr>
              <a:t>​</a:t>
            </a:r>
          </a:p>
        </p:txBody>
      </p:sp>
      <mc:AlternateContent xmlns:mc="http://schemas.openxmlformats.org/markup-compatibility/2006">
        <mc:Choice xmlns:p14="http://schemas.microsoft.com/office/powerpoint/2010/main" Requires="p14">
          <p:contentPart p14:bwMode="auto" r:id="rId2">
            <p14:nvContentPartPr>
              <p14:cNvPr id="14" name="Input penna 13">
                <a:extLst>
                  <a:ext uri="{FF2B5EF4-FFF2-40B4-BE49-F238E27FC236}">
                    <a16:creationId xmlns:a16="http://schemas.microsoft.com/office/drawing/2014/main" id="{8832ABEA-A9F3-C41F-5C68-3955E728A6F3}"/>
                  </a:ext>
                </a:extLst>
              </p14:cNvPr>
              <p14:cNvContentPartPr/>
              <p14:nvPr/>
            </p14:nvContentPartPr>
            <p14:xfrm>
              <a:off x="2450860" y="3502448"/>
              <a:ext cx="7294983" cy="56419"/>
            </p14:xfrm>
          </p:contentPart>
        </mc:Choice>
        <mc:Fallback>
          <p:pic>
            <p:nvPicPr>
              <p:cNvPr id="14" name="Input penna 13">
                <a:extLst>
                  <a:ext uri="{FF2B5EF4-FFF2-40B4-BE49-F238E27FC236}">
                    <a16:creationId xmlns:a16="http://schemas.microsoft.com/office/drawing/2014/main" id="{8832ABEA-A9F3-C41F-5C68-3955E728A6F3}"/>
                  </a:ext>
                </a:extLst>
              </p:cNvPr>
              <p:cNvPicPr/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2432860" y="681498"/>
                <a:ext cx="7330623" cy="564190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279856494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4D4E41A-F196-2899-754C-01DDB7BF563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Freeform: Shape 10">
            <a:extLst>
              <a:ext uri="{FF2B5EF4-FFF2-40B4-BE49-F238E27FC236}">
                <a16:creationId xmlns:a16="http://schemas.microsoft.com/office/drawing/2014/main" id="{2E71A0A7-698F-5211-0527-9C1F5FD7DEC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8900000" flipH="1">
            <a:off x="-376156" y="-253670"/>
            <a:ext cx="1827638" cy="1376989"/>
          </a:xfrm>
          <a:custGeom>
            <a:avLst/>
            <a:gdLst>
              <a:gd name="connsiteX0" fmla="*/ 0 w 1827638"/>
              <a:gd name="connsiteY0" fmla="*/ 987379 h 1376989"/>
              <a:gd name="connsiteX1" fmla="*/ 987379 w 1827638"/>
              <a:gd name="connsiteY1" fmla="*/ 0 h 1376989"/>
              <a:gd name="connsiteX2" fmla="*/ 1827638 w 1827638"/>
              <a:gd name="connsiteY2" fmla="*/ 840260 h 1376989"/>
              <a:gd name="connsiteX3" fmla="*/ 1827638 w 1827638"/>
              <a:gd name="connsiteY3" fmla="*/ 1376989 h 1376989"/>
              <a:gd name="connsiteX4" fmla="*/ 0 w 1827638"/>
              <a:gd name="connsiteY4" fmla="*/ 1376989 h 137698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827638" h="1376989">
                <a:moveTo>
                  <a:pt x="0" y="987379"/>
                </a:moveTo>
                <a:lnTo>
                  <a:pt x="987379" y="0"/>
                </a:lnTo>
                <a:lnTo>
                  <a:pt x="1827638" y="840260"/>
                </a:lnTo>
                <a:lnTo>
                  <a:pt x="1827638" y="1376989"/>
                </a:lnTo>
                <a:lnTo>
                  <a:pt x="0" y="1376989"/>
                </a:lnTo>
                <a:close/>
              </a:path>
            </a:pathLst>
          </a:custGeom>
          <a:solidFill>
            <a:schemeClr val="accent1"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A81A260A-40E5-6BEB-E972-88D7BC967B7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8900000" flipH="1">
            <a:off x="891641" y="422146"/>
            <a:ext cx="645368" cy="645368"/>
          </a:xfrm>
          <a:prstGeom prst="rect">
            <a:avLst/>
          </a:prstGeom>
          <a:solidFill>
            <a:schemeClr val="accent1"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618E35FE-2E1D-706E-82EE-927F5A1D670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8900000" flipH="1">
            <a:off x="10043482" y="655140"/>
            <a:ext cx="687472" cy="687472"/>
          </a:xfrm>
          <a:prstGeom prst="rect">
            <a:avLst/>
          </a:prstGeom>
          <a:solidFill>
            <a:schemeClr val="accent4"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7" name="Freeform: Shape 16">
            <a:extLst>
              <a:ext uri="{FF2B5EF4-FFF2-40B4-BE49-F238E27FC236}">
                <a16:creationId xmlns:a16="http://schemas.microsoft.com/office/drawing/2014/main" id="{FC6AAE21-F2E4-76BE-85E7-CF888EB8490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9356643" y="0"/>
            <a:ext cx="2835357" cy="1480837"/>
          </a:xfrm>
          <a:custGeom>
            <a:avLst/>
            <a:gdLst>
              <a:gd name="connsiteX0" fmla="*/ 2835357 w 2835357"/>
              <a:gd name="connsiteY0" fmla="*/ 1480837 h 1480837"/>
              <a:gd name="connsiteX1" fmla="*/ 0 w 2835357"/>
              <a:gd name="connsiteY1" fmla="*/ 1480837 h 1480837"/>
              <a:gd name="connsiteX2" fmla="*/ 1552727 w 2835357"/>
              <a:gd name="connsiteY2" fmla="*/ 0 h 1480837"/>
              <a:gd name="connsiteX3" fmla="*/ 2835357 w 2835357"/>
              <a:gd name="connsiteY3" fmla="*/ 1223245 h 148083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835357" h="1480837">
                <a:moveTo>
                  <a:pt x="2835357" y="1480837"/>
                </a:moveTo>
                <a:lnTo>
                  <a:pt x="0" y="1480837"/>
                </a:lnTo>
                <a:lnTo>
                  <a:pt x="1552727" y="0"/>
                </a:lnTo>
                <a:lnTo>
                  <a:pt x="2835357" y="1223245"/>
                </a:lnTo>
                <a:close/>
              </a:path>
            </a:pathLst>
          </a:custGeom>
          <a:solidFill>
            <a:schemeClr val="accent4"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19" name="Isosceles Triangle 18">
            <a:extLst>
              <a:ext uri="{FF2B5EF4-FFF2-40B4-BE49-F238E27FC236}">
                <a16:creationId xmlns:a16="http://schemas.microsoft.com/office/drawing/2014/main" id="{A707EF46-1237-67CA-25C8-4E50352098A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7976344" y="6115501"/>
            <a:ext cx="1494513" cy="742499"/>
          </a:xfrm>
          <a:prstGeom prst="triangle">
            <a:avLst/>
          </a:prstGeom>
          <a:solidFill>
            <a:schemeClr val="accent1"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1" name="Isosceles Triangle 20">
            <a:extLst>
              <a:ext uri="{FF2B5EF4-FFF2-40B4-BE49-F238E27FC236}">
                <a16:creationId xmlns:a16="http://schemas.microsoft.com/office/drawing/2014/main" id="{434F15B8-A6AD-017B-673B-7C93DFFAC92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7604080" y="6453143"/>
            <a:ext cx="814903" cy="404857"/>
          </a:xfrm>
          <a:prstGeom prst="triangle">
            <a:avLst/>
          </a:prstGeom>
          <a:solidFill>
            <a:schemeClr val="accent1"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mc:AlternateContent xmlns:mc="http://schemas.openxmlformats.org/markup-compatibility/2006">
        <mc:Choice xmlns:p14="http://schemas.microsoft.com/office/powerpoint/2010/main" Requires="p14">
          <p:contentPart p14:bwMode="auto" r:id="rId2">
            <p14:nvContentPartPr>
              <p14:cNvPr id="6" name="Input penna 5">
                <a:extLst>
                  <a:ext uri="{FF2B5EF4-FFF2-40B4-BE49-F238E27FC236}">
                    <a16:creationId xmlns:a16="http://schemas.microsoft.com/office/drawing/2014/main" id="{3F0E00D3-B857-C9AD-9857-D11763AFF23C}"/>
                  </a:ext>
                </a:extLst>
              </p14:cNvPr>
              <p14:cNvContentPartPr/>
              <p14:nvPr/>
            </p14:nvContentPartPr>
            <p14:xfrm>
              <a:off x="2440700" y="2486448"/>
              <a:ext cx="7162903" cy="66579"/>
            </p14:xfrm>
          </p:contentPart>
        </mc:Choice>
        <mc:Fallback>
          <p:pic>
            <p:nvPicPr>
              <p:cNvPr id="6" name="Input penna 5">
                <a:extLst>
                  <a:ext uri="{FF2B5EF4-FFF2-40B4-BE49-F238E27FC236}">
                    <a16:creationId xmlns:a16="http://schemas.microsoft.com/office/drawing/2014/main" id="{3F0E00D3-B857-C9AD-9857-D11763AFF23C}"/>
                  </a:ext>
                </a:extLst>
              </p:cNvPr>
              <p:cNvPicPr/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2422700" y="-842502"/>
                <a:ext cx="7198543" cy="6657900"/>
              </a:xfrm>
              <a:prstGeom prst="rect">
                <a:avLst/>
              </a:prstGeom>
            </p:spPr>
          </p:pic>
        </mc:Fallback>
      </mc:AlternateContent>
      <p:sp>
        <p:nvSpPr>
          <p:cNvPr id="12" name="CasellaDiTesto 11">
            <a:extLst>
              <a:ext uri="{FF2B5EF4-FFF2-40B4-BE49-F238E27FC236}">
                <a16:creationId xmlns:a16="http://schemas.microsoft.com/office/drawing/2014/main" id="{DE124F09-0C5C-5255-AB20-D5A9D069E298}"/>
              </a:ext>
            </a:extLst>
          </p:cNvPr>
          <p:cNvSpPr txBox="1"/>
          <p:nvPr/>
        </p:nvSpPr>
        <p:spPr>
          <a:xfrm>
            <a:off x="3605224" y="2758627"/>
            <a:ext cx="4977724" cy="3139321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marL="342900" indent="-342900">
              <a:buFont typeface="Courier New"/>
              <a:buChar char="o"/>
            </a:pPr>
            <a:r>
              <a:rPr lang="it-IT" b="1"/>
              <a:t>Analizzare l'impatto dell'IA sugli studenti:</a:t>
            </a:r>
          </a:p>
          <a:p>
            <a:pPr marL="800100" lvl="1" indent="-342900">
              <a:buFont typeface="Courier New"/>
              <a:buChar char="o"/>
            </a:pPr>
            <a:r>
              <a:rPr lang="it-IT"/>
              <a:t>sul GPA post semestre</a:t>
            </a:r>
          </a:p>
          <a:p>
            <a:pPr marL="800100" lvl="1" indent="-342900">
              <a:buFont typeface="Courier New"/>
              <a:buChar char="o"/>
            </a:pPr>
            <a:r>
              <a:rPr lang="it-IT"/>
              <a:t>sul Burnout</a:t>
            </a:r>
          </a:p>
          <a:p>
            <a:pPr marL="800100" lvl="1" indent="-342900">
              <a:buFont typeface="Courier New"/>
              <a:buChar char="o"/>
            </a:pPr>
            <a:r>
              <a:rPr lang="it-IT"/>
              <a:t>sullo score della skill </a:t>
            </a:r>
            <a:r>
              <a:rPr lang="it-IT" err="1"/>
              <a:t>retention</a:t>
            </a:r>
            <a:r>
              <a:rPr lang="it-IT"/>
              <a:t> </a:t>
            </a:r>
          </a:p>
          <a:p>
            <a:pPr marL="800100" lvl="1" indent="-342900">
              <a:buFont typeface="Courier New"/>
              <a:buChar char="o"/>
            </a:pPr>
            <a:endParaRPr lang="it-IT"/>
          </a:p>
          <a:p>
            <a:pPr marL="342900" indent="-342900">
              <a:buFont typeface="Courier New"/>
              <a:buChar char="o"/>
            </a:pPr>
            <a:r>
              <a:rPr lang="it-IT" b="1"/>
              <a:t>Realizzazione modelli​</a:t>
            </a:r>
          </a:p>
          <a:p>
            <a:pPr marL="800100" lvl="1" indent="-342900">
              <a:buFont typeface="Courier New"/>
              <a:buChar char="o"/>
            </a:pPr>
            <a:r>
              <a:rPr lang="it-IT"/>
              <a:t>classificazione del burnout</a:t>
            </a:r>
          </a:p>
          <a:p>
            <a:pPr marL="800100" lvl="1" indent="-342900">
              <a:buFont typeface="Courier New"/>
              <a:buChar char="o"/>
            </a:pPr>
            <a:r>
              <a:rPr lang="it-IT"/>
              <a:t>regressione su GPA post-semestre</a:t>
            </a:r>
          </a:p>
          <a:p>
            <a:endParaRPr lang="it-IT"/>
          </a:p>
          <a:p>
            <a:pPr marL="342900" indent="-342900">
              <a:buFont typeface="Courier New"/>
              <a:buChar char="o"/>
            </a:pPr>
            <a:endParaRPr lang="it-IT"/>
          </a:p>
          <a:p>
            <a:pPr marL="342900" indent="-342900">
              <a:buFont typeface="Courier New"/>
              <a:buChar char="o"/>
            </a:pPr>
            <a:endParaRPr lang="it-IT"/>
          </a:p>
        </p:txBody>
      </p:sp>
      <p:sp>
        <p:nvSpPr>
          <p:cNvPr id="18" name="Titolo 7">
            <a:extLst>
              <a:ext uri="{FF2B5EF4-FFF2-40B4-BE49-F238E27FC236}">
                <a16:creationId xmlns:a16="http://schemas.microsoft.com/office/drawing/2014/main" id="{C3ACAE04-2D6C-4178-9FA9-BBEA5E89606F}"/>
              </a:ext>
            </a:extLst>
          </p:cNvPr>
          <p:cNvSpPr txBox="1">
            <a:spLocks/>
          </p:cNvSpPr>
          <p:nvPr/>
        </p:nvSpPr>
        <p:spPr>
          <a:xfrm>
            <a:off x="4851400" y="1564005"/>
            <a:ext cx="2042160" cy="817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it-IT" sz="2800" b="1">
                <a:latin typeface="Aptos"/>
              </a:rPr>
              <a:t>OBBIETTIVI</a:t>
            </a:r>
            <a:endParaRPr lang="it-IT" sz="2800">
              <a:latin typeface="Aptos"/>
            </a:endParaRPr>
          </a:p>
        </p:txBody>
      </p:sp>
    </p:spTree>
    <p:extLst>
      <p:ext uri="{BB962C8B-B14F-4D97-AF65-F5344CB8AC3E}">
        <p14:creationId xmlns:p14="http://schemas.microsoft.com/office/powerpoint/2010/main" val="3377282487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B098037E-B875-335C-8648-ED0F2C7220F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25" name="Rectangle 7">
            <a:extLst>
              <a:ext uri="{FF2B5EF4-FFF2-40B4-BE49-F238E27FC236}">
                <a16:creationId xmlns:a16="http://schemas.microsoft.com/office/drawing/2014/main" id="{9AB1763B-C6CE-0B31-82CB-FC1AF1E827C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olo 1">
            <a:extLst>
              <a:ext uri="{FF2B5EF4-FFF2-40B4-BE49-F238E27FC236}">
                <a16:creationId xmlns:a16="http://schemas.microsoft.com/office/drawing/2014/main" id="{0FB5961C-E02D-8C1C-E798-35D1B5D632F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199" y="1093788"/>
            <a:ext cx="10506455" cy="2967208"/>
          </a:xfr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en-US" sz="8000" dirty="0" err="1"/>
              <a:t>Analisi</a:t>
            </a:r>
            <a:r>
              <a:rPr lang="en-US" sz="8000" dirty="0"/>
              <a:t> </a:t>
            </a:r>
            <a:r>
              <a:rPr lang="en-US" sz="8000" dirty="0" err="1"/>
              <a:t>dei</a:t>
            </a:r>
            <a:r>
              <a:rPr lang="en-US" sz="8000" dirty="0"/>
              <a:t> </a:t>
            </a:r>
            <a:r>
              <a:rPr lang="en-US" sz="8000" dirty="0" err="1"/>
              <a:t>dati</a:t>
            </a:r>
            <a:endParaRPr lang="it-IT" dirty="0" err="1">
              <a:ea typeface="+mj-ea"/>
              <a:cs typeface="+mj-cs"/>
            </a:endParaRPr>
          </a:p>
        </p:txBody>
      </p:sp>
      <p:sp>
        <p:nvSpPr>
          <p:cNvPr id="3" name="Segnaposto contenuto 2">
            <a:extLst>
              <a:ext uri="{FF2B5EF4-FFF2-40B4-BE49-F238E27FC236}">
                <a16:creationId xmlns:a16="http://schemas.microsoft.com/office/drawing/2014/main" id="{44522029-0DFD-D35F-7B3C-C0C2A2642A1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7400924" y="4619624"/>
            <a:ext cx="3946779" cy="1038225"/>
          </a:xfrm>
        </p:spPr>
        <p:txBody>
          <a:bodyPr vert="horz" lIns="91440" tIns="45720" rIns="91440" bIns="45720" rtlCol="0">
            <a:normAutofit/>
          </a:bodyPr>
          <a:lstStyle/>
          <a:p>
            <a:pPr algn="r"/>
            <a:endParaRPr lang="en-US" sz="2400" kern="1200">
              <a:solidFill>
                <a:schemeClr val="tx1"/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id="26" name="Rectangle 9">
            <a:extLst>
              <a:ext uri="{FF2B5EF4-FFF2-40B4-BE49-F238E27FC236}">
                <a16:creationId xmlns:a16="http://schemas.microsoft.com/office/drawing/2014/main" id="{C903303D-A2AF-C0F4-CD6D-C8CF5CE337D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841248" y="4331166"/>
            <a:ext cx="10506456" cy="18288"/>
          </a:xfrm>
          <a:prstGeom prst="rect">
            <a:avLst/>
          </a:prstGeom>
          <a:solidFill>
            <a:srgbClr val="D5D5D5"/>
          </a:solidFill>
          <a:ln w="3175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prstClr val="white"/>
              </a:solidFill>
              <a:latin typeface="Calibri" panose="020F0502020204030204"/>
            </a:endParaRPr>
          </a:p>
        </p:txBody>
      </p:sp>
      <p:sp>
        <p:nvSpPr>
          <p:cNvPr id="27" name="Rectangle 11">
            <a:extLst>
              <a:ext uri="{FF2B5EF4-FFF2-40B4-BE49-F238E27FC236}">
                <a16:creationId xmlns:a16="http://schemas.microsoft.com/office/drawing/2014/main" id="{AEC76694-1CEB-B462-28AC-41D59BE32A0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>
            <a:off x="9346882" y="2348839"/>
            <a:ext cx="54864" cy="394677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810633053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>
            <a:extLst>
              <a:ext uri="{FF2B5EF4-FFF2-40B4-BE49-F238E27FC236}">
                <a16:creationId xmlns:a16="http://schemas.microsoft.com/office/drawing/2014/main" id="{F3060C83-F051-4F0E-ABAD-AA0DFC48B21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Freeform: Shape 10">
            <a:extLst>
              <a:ext uri="{FF2B5EF4-FFF2-40B4-BE49-F238E27FC236}">
                <a16:creationId xmlns:a16="http://schemas.microsoft.com/office/drawing/2014/main" id="{83C98ABE-055B-441F-B07E-44F97F083C3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8900000" flipH="1">
            <a:off x="-376156" y="-253670"/>
            <a:ext cx="1827638" cy="1376989"/>
          </a:xfrm>
          <a:custGeom>
            <a:avLst/>
            <a:gdLst>
              <a:gd name="connsiteX0" fmla="*/ 0 w 1827638"/>
              <a:gd name="connsiteY0" fmla="*/ 987379 h 1376989"/>
              <a:gd name="connsiteX1" fmla="*/ 987379 w 1827638"/>
              <a:gd name="connsiteY1" fmla="*/ 0 h 1376989"/>
              <a:gd name="connsiteX2" fmla="*/ 1827638 w 1827638"/>
              <a:gd name="connsiteY2" fmla="*/ 840260 h 1376989"/>
              <a:gd name="connsiteX3" fmla="*/ 1827638 w 1827638"/>
              <a:gd name="connsiteY3" fmla="*/ 1376989 h 1376989"/>
              <a:gd name="connsiteX4" fmla="*/ 0 w 1827638"/>
              <a:gd name="connsiteY4" fmla="*/ 1376989 h 137698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827638" h="1376989">
                <a:moveTo>
                  <a:pt x="0" y="987379"/>
                </a:moveTo>
                <a:lnTo>
                  <a:pt x="987379" y="0"/>
                </a:lnTo>
                <a:lnTo>
                  <a:pt x="1827638" y="840260"/>
                </a:lnTo>
                <a:lnTo>
                  <a:pt x="1827638" y="1376989"/>
                </a:lnTo>
                <a:lnTo>
                  <a:pt x="0" y="1376989"/>
                </a:lnTo>
                <a:close/>
              </a:path>
            </a:pathLst>
          </a:custGeom>
          <a:solidFill>
            <a:schemeClr val="accent1"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29FDB030-9B49-4CED-8CCD-4D99382388A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8900000" flipH="1">
            <a:off x="891641" y="422146"/>
            <a:ext cx="645368" cy="645368"/>
          </a:xfrm>
          <a:prstGeom prst="rect">
            <a:avLst/>
          </a:prstGeom>
          <a:solidFill>
            <a:schemeClr val="accent1"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3783CA14-24A1-485C-8B30-D6A5D87987A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8900000" flipH="1">
            <a:off x="10043482" y="655140"/>
            <a:ext cx="687472" cy="687472"/>
          </a:xfrm>
          <a:prstGeom prst="rect">
            <a:avLst/>
          </a:prstGeom>
          <a:solidFill>
            <a:schemeClr val="accent4"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7" name="Freeform: Shape 16">
            <a:extLst>
              <a:ext uri="{FF2B5EF4-FFF2-40B4-BE49-F238E27FC236}">
                <a16:creationId xmlns:a16="http://schemas.microsoft.com/office/drawing/2014/main" id="{9A97C86A-04D6-40F7-AE84-31AB43E6A84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9356643" y="0"/>
            <a:ext cx="2835357" cy="1480837"/>
          </a:xfrm>
          <a:custGeom>
            <a:avLst/>
            <a:gdLst>
              <a:gd name="connsiteX0" fmla="*/ 2835357 w 2835357"/>
              <a:gd name="connsiteY0" fmla="*/ 1480837 h 1480837"/>
              <a:gd name="connsiteX1" fmla="*/ 0 w 2835357"/>
              <a:gd name="connsiteY1" fmla="*/ 1480837 h 1480837"/>
              <a:gd name="connsiteX2" fmla="*/ 1552727 w 2835357"/>
              <a:gd name="connsiteY2" fmla="*/ 0 h 1480837"/>
              <a:gd name="connsiteX3" fmla="*/ 2835357 w 2835357"/>
              <a:gd name="connsiteY3" fmla="*/ 1223245 h 148083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835357" h="1480837">
                <a:moveTo>
                  <a:pt x="2835357" y="1480837"/>
                </a:moveTo>
                <a:lnTo>
                  <a:pt x="0" y="1480837"/>
                </a:lnTo>
                <a:lnTo>
                  <a:pt x="1552727" y="0"/>
                </a:lnTo>
                <a:lnTo>
                  <a:pt x="2835357" y="1223245"/>
                </a:lnTo>
                <a:close/>
              </a:path>
            </a:pathLst>
          </a:custGeom>
          <a:solidFill>
            <a:schemeClr val="accent4"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19" name="Isosceles Triangle 18">
            <a:extLst>
              <a:ext uri="{FF2B5EF4-FFF2-40B4-BE49-F238E27FC236}">
                <a16:creationId xmlns:a16="http://schemas.microsoft.com/office/drawing/2014/main" id="{FF9F2414-84E8-453E-B1F3-389FDE8192D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7976344" y="6115501"/>
            <a:ext cx="1494513" cy="742499"/>
          </a:xfrm>
          <a:prstGeom prst="triangle">
            <a:avLst/>
          </a:prstGeom>
          <a:solidFill>
            <a:schemeClr val="accent1"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4" name="Immagine 3" descr="Immagine che contiene testo, schermata, diagramma, linea&#10;&#10;Il contenuto generato dall&amp;#39;IA potrebbe non essere corretto.">
            <a:extLst>
              <a:ext uri="{FF2B5EF4-FFF2-40B4-BE49-F238E27FC236}">
                <a16:creationId xmlns:a16="http://schemas.microsoft.com/office/drawing/2014/main" id="{A7F96045-6886-B920-45D9-F260E70A881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34310" y="1405467"/>
            <a:ext cx="7965209" cy="4781521"/>
          </a:xfrm>
          <a:prstGeom prst="rect">
            <a:avLst/>
          </a:prstGeom>
          <a:ln>
            <a:noFill/>
          </a:ln>
        </p:spPr>
      </p:pic>
      <p:sp>
        <p:nvSpPr>
          <p:cNvPr id="21" name="Isosceles Triangle 20">
            <a:extLst>
              <a:ext uri="{FF2B5EF4-FFF2-40B4-BE49-F238E27FC236}">
                <a16:creationId xmlns:a16="http://schemas.microsoft.com/office/drawing/2014/main" id="{3ECA69A1-7536-43AC-85EF-C7106179F5E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7604080" y="6453143"/>
            <a:ext cx="814903" cy="404857"/>
          </a:xfrm>
          <a:prstGeom prst="triangle">
            <a:avLst/>
          </a:prstGeom>
          <a:solidFill>
            <a:schemeClr val="accent1"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CasellaDiTesto 1">
            <a:extLst>
              <a:ext uri="{FF2B5EF4-FFF2-40B4-BE49-F238E27FC236}">
                <a16:creationId xmlns:a16="http://schemas.microsoft.com/office/drawing/2014/main" id="{5EF3B60A-DA8F-EBC9-C943-A3087A9C4438}"/>
              </a:ext>
            </a:extLst>
          </p:cNvPr>
          <p:cNvSpPr txBox="1"/>
          <p:nvPr/>
        </p:nvSpPr>
        <p:spPr>
          <a:xfrm>
            <a:off x="8499584" y="1845287"/>
            <a:ext cx="3515738" cy="3970318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marL="228600" indent="-228600">
              <a:buFont typeface=""/>
              <a:buChar char="•"/>
            </a:pPr>
            <a:r>
              <a:rPr lang="en-US" sz="1400" b="1" dirty="0" err="1"/>
              <a:t>Effetto</a:t>
            </a:r>
            <a:r>
              <a:rPr lang="en-US" sz="1400" b="1" dirty="0"/>
              <a:t> </a:t>
            </a:r>
            <a:r>
              <a:rPr lang="en-US" sz="1400" b="1" dirty="0" err="1"/>
              <a:t>sinergico</a:t>
            </a:r>
            <a:r>
              <a:rPr lang="en-US" sz="1400" b="1" dirty="0"/>
              <a:t>: </a:t>
            </a:r>
            <a:r>
              <a:rPr lang="en-US" sz="1400" dirty="0" err="1"/>
              <a:t>AI</a:t>
            </a:r>
            <a:r>
              <a:rPr lang="en-US" sz="1400" dirty="0"/>
              <a:t> non </a:t>
            </a:r>
            <a:r>
              <a:rPr lang="en-US" sz="1400" dirty="0" err="1"/>
              <a:t>sostituisce</a:t>
            </a:r>
            <a:r>
              <a:rPr lang="en-US" sz="1400" dirty="0"/>
              <a:t> lo studio </a:t>
            </a:r>
            <a:r>
              <a:rPr lang="en-US" sz="1400" dirty="0" err="1"/>
              <a:t>tradizionale</a:t>
            </a:r>
            <a:r>
              <a:rPr lang="en-US" sz="1400" dirty="0"/>
              <a:t>. Chi studia poco in modo </a:t>
            </a:r>
            <a:r>
              <a:rPr lang="en-US" sz="1400" dirty="0" err="1"/>
              <a:t>tradizionale</a:t>
            </a:r>
            <a:r>
              <a:rPr lang="en-US" sz="1400" dirty="0"/>
              <a:t> (</a:t>
            </a:r>
            <a:r>
              <a:rPr lang="en-US" sz="1400" dirty="0" err="1"/>
              <a:t>linee</a:t>
            </a:r>
            <a:r>
              <a:rPr lang="en-US" sz="1400" dirty="0"/>
              <a:t> </a:t>
            </a:r>
            <a:r>
              <a:rPr lang="en-US" sz="1400" dirty="0" err="1"/>
              <a:t>chiare</a:t>
            </a:r>
            <a:r>
              <a:rPr lang="en-US" sz="1400" dirty="0"/>
              <a:t> in basso) </a:t>
            </a:r>
            <a:r>
              <a:rPr lang="en-US" sz="1400" dirty="0" err="1"/>
              <a:t>mediamente</a:t>
            </a:r>
            <a:r>
              <a:rPr lang="en-US" sz="1400" dirty="0"/>
              <a:t> </a:t>
            </a:r>
            <a:r>
              <a:rPr lang="en-US" sz="1400" dirty="0" err="1"/>
              <a:t>ottiene</a:t>
            </a:r>
            <a:r>
              <a:rPr lang="en-US" sz="1400" dirty="0"/>
              <a:t> </a:t>
            </a:r>
            <a:r>
              <a:rPr lang="en-US" sz="1400" dirty="0" err="1"/>
              <a:t>benefici</a:t>
            </a:r>
            <a:r>
              <a:rPr lang="en-US" sz="1400" dirty="0"/>
              <a:t> </a:t>
            </a:r>
            <a:r>
              <a:rPr lang="en-US" sz="1400" dirty="0" err="1"/>
              <a:t>minimi</a:t>
            </a:r>
            <a:r>
              <a:rPr lang="en-US" sz="1400" dirty="0"/>
              <a:t>. La GenAI porta </a:t>
            </a:r>
            <a:r>
              <a:rPr lang="en-US" sz="1400" dirty="0" err="1"/>
              <a:t>benefici</a:t>
            </a:r>
            <a:r>
              <a:rPr lang="en-US" sz="1400" dirty="0"/>
              <a:t> </a:t>
            </a:r>
            <a:r>
              <a:rPr lang="en-US" sz="1400" dirty="0" err="1"/>
              <a:t>principalmente</a:t>
            </a:r>
            <a:r>
              <a:rPr lang="en-US" sz="1400" dirty="0"/>
              <a:t> a chi </a:t>
            </a:r>
            <a:r>
              <a:rPr lang="en-US" sz="1400" dirty="0" err="1"/>
              <a:t>si</a:t>
            </a:r>
            <a:r>
              <a:rPr lang="en-US" sz="1400" dirty="0"/>
              <a:t> </a:t>
            </a:r>
            <a:r>
              <a:rPr lang="en-US" sz="1400" dirty="0" err="1"/>
              <a:t>impegna</a:t>
            </a:r>
            <a:r>
              <a:rPr lang="en-US" sz="1400" dirty="0"/>
              <a:t> di </a:t>
            </a:r>
            <a:r>
              <a:rPr lang="en-US" sz="1400" dirty="0" err="1"/>
              <a:t>più</a:t>
            </a:r>
            <a:r>
              <a:rPr lang="en-US" sz="1400" dirty="0"/>
              <a:t>.</a:t>
            </a:r>
          </a:p>
          <a:p>
            <a:pPr marL="228600" indent="-228600">
              <a:buFont typeface=""/>
              <a:buChar char="•"/>
            </a:pPr>
            <a:endParaRPr lang="en-US" sz="1400" dirty="0"/>
          </a:p>
          <a:p>
            <a:pPr marL="228600" indent="-228600">
              <a:buFont typeface=""/>
              <a:buChar char="•"/>
            </a:pPr>
            <a:endParaRPr lang="en-US" sz="1400"/>
          </a:p>
          <a:p>
            <a:pPr marL="228600" indent="-228600">
              <a:buFont typeface=""/>
              <a:buChar char="•"/>
            </a:pPr>
            <a:r>
              <a:rPr lang="en-US" sz="1400" b="1" dirty="0" err="1"/>
              <a:t>Variabilità</a:t>
            </a:r>
            <a:r>
              <a:rPr lang="en-US" sz="1400" b="1" dirty="0"/>
              <a:t> </a:t>
            </a:r>
            <a:r>
              <a:rPr lang="en-US" sz="1400" b="1" dirty="0" err="1"/>
              <a:t>risultato</a:t>
            </a:r>
            <a:r>
              <a:rPr lang="en-US" sz="1400" b="1" dirty="0"/>
              <a:t>:</a:t>
            </a:r>
            <a:r>
              <a:rPr lang="en-US" sz="1400" dirty="0"/>
              <a:t> </a:t>
            </a:r>
            <a:r>
              <a:rPr lang="en-US" sz="1400" dirty="0" err="1"/>
              <a:t>osservando</a:t>
            </a:r>
            <a:r>
              <a:rPr lang="en-US" sz="1400" dirty="0"/>
              <a:t> la </a:t>
            </a:r>
            <a:r>
              <a:rPr lang="en-US" sz="1400" dirty="0" err="1"/>
              <a:t>banda</a:t>
            </a:r>
            <a:r>
              <a:rPr lang="en-US" sz="1400" dirty="0"/>
              <a:t> </a:t>
            </a:r>
            <a:r>
              <a:rPr lang="en-US" sz="1400" dirty="0" err="1"/>
              <a:t>sfumata</a:t>
            </a:r>
            <a:r>
              <a:rPr lang="en-US" sz="1400" dirty="0"/>
              <a:t> </a:t>
            </a:r>
            <a:r>
              <a:rPr lang="en-US" sz="1400" dirty="0" err="1"/>
              <a:t>si</a:t>
            </a:r>
            <a:r>
              <a:rPr lang="en-US" sz="1400" dirty="0"/>
              <a:t>  nota </a:t>
            </a:r>
            <a:r>
              <a:rPr lang="en-US" sz="1400" dirty="0" err="1"/>
              <a:t>che</a:t>
            </a:r>
            <a:r>
              <a:rPr lang="en-US" sz="1400" dirty="0"/>
              <a:t> chi studia poco ha un </a:t>
            </a:r>
            <a:r>
              <a:rPr lang="en-US" sz="1400" dirty="0" err="1"/>
              <a:t>incremento</a:t>
            </a:r>
            <a:r>
              <a:rPr lang="en-US" sz="1400" dirty="0"/>
              <a:t> </a:t>
            </a:r>
            <a:r>
              <a:rPr lang="en-US" sz="1400" dirty="0" err="1"/>
              <a:t>prevedibile</a:t>
            </a:r>
            <a:r>
              <a:rPr lang="en-US" sz="1400" dirty="0"/>
              <a:t>.</a:t>
            </a:r>
          </a:p>
          <a:p>
            <a:pPr marL="228600" indent="-228600">
              <a:buFont typeface=""/>
              <a:buChar char="•"/>
            </a:pPr>
            <a:endParaRPr lang="en-US" sz="1400" dirty="0"/>
          </a:p>
          <a:p>
            <a:pPr marL="228600" indent="-228600">
              <a:buFont typeface=""/>
              <a:buChar char="•"/>
            </a:pPr>
            <a:endParaRPr lang="en-US" sz="1400"/>
          </a:p>
          <a:p>
            <a:pPr marL="228600" indent="-228600">
              <a:buFont typeface=""/>
              <a:buChar char="•"/>
            </a:pPr>
            <a:r>
              <a:rPr lang="en-US" sz="1400" b="1" dirty="0" err="1"/>
              <a:t>Limite</a:t>
            </a:r>
            <a:r>
              <a:rPr lang="en-US" sz="1400" b="1" dirty="0"/>
              <a:t> di tempo:</a:t>
            </a:r>
            <a:r>
              <a:rPr lang="en-US" sz="1400" dirty="0"/>
              <a:t> le </a:t>
            </a:r>
            <a:r>
              <a:rPr lang="en-US" sz="1400" dirty="0" err="1"/>
              <a:t>linee</a:t>
            </a:r>
            <a:r>
              <a:rPr lang="en-US" sz="1400" dirty="0"/>
              <a:t> degli </a:t>
            </a:r>
            <a:r>
              <a:rPr lang="en-US" sz="1400" dirty="0" err="1"/>
              <a:t>studenti</a:t>
            </a:r>
            <a:r>
              <a:rPr lang="en-US" sz="1400" dirty="0"/>
              <a:t> </a:t>
            </a:r>
            <a:r>
              <a:rPr lang="en-US" sz="1400" dirty="0" err="1"/>
              <a:t>che</a:t>
            </a:r>
            <a:r>
              <a:rPr lang="en-US" sz="1400" dirty="0"/>
              <a:t> </a:t>
            </a:r>
            <a:r>
              <a:rPr lang="en-US" sz="1400" dirty="0" err="1"/>
              <a:t>si</a:t>
            </a:r>
            <a:r>
              <a:rPr lang="en-US" sz="1400" dirty="0"/>
              <a:t> </a:t>
            </a:r>
            <a:r>
              <a:rPr lang="en-US" sz="1400" dirty="0" err="1"/>
              <a:t>impegnano</a:t>
            </a:r>
            <a:r>
              <a:rPr lang="en-US" sz="1400" dirty="0"/>
              <a:t> per </a:t>
            </a:r>
            <a:r>
              <a:rPr lang="en-US" sz="1400" dirty="0" err="1"/>
              <a:t>più</a:t>
            </a:r>
            <a:r>
              <a:rPr lang="en-US" sz="1400" dirty="0"/>
              <a:t> di 25 ore </a:t>
            </a:r>
            <a:r>
              <a:rPr lang="en-US" sz="1400" dirty="0" err="1"/>
              <a:t>si</a:t>
            </a:r>
            <a:r>
              <a:rPr lang="en-US" sz="1400" dirty="0"/>
              <a:t> </a:t>
            </a:r>
            <a:r>
              <a:rPr lang="en-US" sz="1400" dirty="0" err="1"/>
              <a:t>interrompono</a:t>
            </a:r>
            <a:r>
              <a:rPr lang="en-US" sz="1400" dirty="0"/>
              <a:t> per </a:t>
            </a:r>
            <a:r>
              <a:rPr lang="en-US" sz="1400" dirty="0" err="1"/>
              <a:t>mancanza</a:t>
            </a:r>
            <a:r>
              <a:rPr lang="en-US" sz="1400" dirty="0"/>
              <a:t> di tempo </a:t>
            </a:r>
            <a:r>
              <a:rPr lang="en-US" sz="1400" dirty="0" err="1"/>
              <a:t>disponibile</a:t>
            </a:r>
            <a:r>
              <a:rPr lang="en-US" sz="1400" dirty="0"/>
              <a:t> </a:t>
            </a:r>
            <a:r>
              <a:rPr lang="en-US" sz="1400" dirty="0" err="1"/>
              <a:t>nella</a:t>
            </a:r>
            <a:r>
              <a:rPr lang="en-US" sz="1400" dirty="0"/>
              <a:t> </a:t>
            </a:r>
            <a:r>
              <a:rPr lang="en-US" sz="1400" dirty="0" err="1"/>
              <a:t>settimana</a:t>
            </a:r>
            <a:r>
              <a:rPr lang="en-US" sz="1400" dirty="0"/>
              <a:t>.</a:t>
            </a:r>
          </a:p>
          <a:p>
            <a:pPr algn="ctr"/>
            <a:endParaRPr lang="it-IT" sz="1400"/>
          </a:p>
        </p:txBody>
      </p:sp>
    </p:spTree>
    <p:extLst>
      <p:ext uri="{BB962C8B-B14F-4D97-AF65-F5344CB8AC3E}">
        <p14:creationId xmlns:p14="http://schemas.microsoft.com/office/powerpoint/2010/main" val="3962583941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>
            <a:extLst>
              <a:ext uri="{FF2B5EF4-FFF2-40B4-BE49-F238E27FC236}">
                <a16:creationId xmlns:a16="http://schemas.microsoft.com/office/drawing/2014/main" id="{F3060C83-F051-4F0E-ABAD-AA0DFC48B21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Freeform: Shape 10">
            <a:extLst>
              <a:ext uri="{FF2B5EF4-FFF2-40B4-BE49-F238E27FC236}">
                <a16:creationId xmlns:a16="http://schemas.microsoft.com/office/drawing/2014/main" id="{83C98ABE-055B-441F-B07E-44F97F083C3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8900000" flipH="1">
            <a:off x="-376156" y="-253670"/>
            <a:ext cx="1827638" cy="1376989"/>
          </a:xfrm>
          <a:custGeom>
            <a:avLst/>
            <a:gdLst>
              <a:gd name="connsiteX0" fmla="*/ 0 w 1827638"/>
              <a:gd name="connsiteY0" fmla="*/ 987379 h 1376989"/>
              <a:gd name="connsiteX1" fmla="*/ 987379 w 1827638"/>
              <a:gd name="connsiteY1" fmla="*/ 0 h 1376989"/>
              <a:gd name="connsiteX2" fmla="*/ 1827638 w 1827638"/>
              <a:gd name="connsiteY2" fmla="*/ 840260 h 1376989"/>
              <a:gd name="connsiteX3" fmla="*/ 1827638 w 1827638"/>
              <a:gd name="connsiteY3" fmla="*/ 1376989 h 1376989"/>
              <a:gd name="connsiteX4" fmla="*/ 0 w 1827638"/>
              <a:gd name="connsiteY4" fmla="*/ 1376989 h 137698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827638" h="1376989">
                <a:moveTo>
                  <a:pt x="0" y="987379"/>
                </a:moveTo>
                <a:lnTo>
                  <a:pt x="987379" y="0"/>
                </a:lnTo>
                <a:lnTo>
                  <a:pt x="1827638" y="840260"/>
                </a:lnTo>
                <a:lnTo>
                  <a:pt x="1827638" y="1376989"/>
                </a:lnTo>
                <a:lnTo>
                  <a:pt x="0" y="1376989"/>
                </a:lnTo>
                <a:close/>
              </a:path>
            </a:pathLst>
          </a:custGeom>
          <a:solidFill>
            <a:schemeClr val="accent1"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29FDB030-9B49-4CED-8CCD-4D99382388A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8900000" flipH="1">
            <a:off x="891641" y="422146"/>
            <a:ext cx="645368" cy="645368"/>
          </a:xfrm>
          <a:prstGeom prst="rect">
            <a:avLst/>
          </a:prstGeom>
          <a:solidFill>
            <a:schemeClr val="accent1"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3783CA14-24A1-485C-8B30-D6A5D87987A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8900000" flipH="1">
            <a:off x="10043482" y="655140"/>
            <a:ext cx="687472" cy="687472"/>
          </a:xfrm>
          <a:prstGeom prst="rect">
            <a:avLst/>
          </a:prstGeom>
          <a:solidFill>
            <a:schemeClr val="accent4"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7" name="Freeform: Shape 16">
            <a:extLst>
              <a:ext uri="{FF2B5EF4-FFF2-40B4-BE49-F238E27FC236}">
                <a16:creationId xmlns:a16="http://schemas.microsoft.com/office/drawing/2014/main" id="{9A97C86A-04D6-40F7-AE84-31AB43E6A84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9356643" y="0"/>
            <a:ext cx="2835357" cy="1480837"/>
          </a:xfrm>
          <a:custGeom>
            <a:avLst/>
            <a:gdLst>
              <a:gd name="connsiteX0" fmla="*/ 2835357 w 2835357"/>
              <a:gd name="connsiteY0" fmla="*/ 1480837 h 1480837"/>
              <a:gd name="connsiteX1" fmla="*/ 0 w 2835357"/>
              <a:gd name="connsiteY1" fmla="*/ 1480837 h 1480837"/>
              <a:gd name="connsiteX2" fmla="*/ 1552727 w 2835357"/>
              <a:gd name="connsiteY2" fmla="*/ 0 h 1480837"/>
              <a:gd name="connsiteX3" fmla="*/ 2835357 w 2835357"/>
              <a:gd name="connsiteY3" fmla="*/ 1223245 h 148083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835357" h="1480837">
                <a:moveTo>
                  <a:pt x="2835357" y="1480837"/>
                </a:moveTo>
                <a:lnTo>
                  <a:pt x="0" y="1480837"/>
                </a:lnTo>
                <a:lnTo>
                  <a:pt x="1552727" y="0"/>
                </a:lnTo>
                <a:lnTo>
                  <a:pt x="2835357" y="1223245"/>
                </a:lnTo>
                <a:close/>
              </a:path>
            </a:pathLst>
          </a:custGeom>
          <a:solidFill>
            <a:schemeClr val="accent4"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19" name="Isosceles Triangle 18">
            <a:extLst>
              <a:ext uri="{FF2B5EF4-FFF2-40B4-BE49-F238E27FC236}">
                <a16:creationId xmlns:a16="http://schemas.microsoft.com/office/drawing/2014/main" id="{FF9F2414-84E8-453E-B1F3-389FDE8192D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7976344" y="6115501"/>
            <a:ext cx="1494513" cy="742499"/>
          </a:xfrm>
          <a:prstGeom prst="triangle">
            <a:avLst/>
          </a:prstGeom>
          <a:solidFill>
            <a:schemeClr val="accent1"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1" name="Isosceles Triangle 20">
            <a:extLst>
              <a:ext uri="{FF2B5EF4-FFF2-40B4-BE49-F238E27FC236}">
                <a16:creationId xmlns:a16="http://schemas.microsoft.com/office/drawing/2014/main" id="{3ECA69A1-7536-43AC-85EF-C7106179F5E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7604080" y="6453143"/>
            <a:ext cx="814903" cy="404857"/>
          </a:xfrm>
          <a:prstGeom prst="triangle">
            <a:avLst/>
          </a:prstGeom>
          <a:solidFill>
            <a:schemeClr val="accent1"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2" name="Immagine 1" descr="Immagine che contiene testo, schermata, Carattere, Diagramma&#10;&#10;Il contenuto generato dall&amp;#39;IA potrebbe non essere corretto.">
            <a:extLst>
              <a:ext uri="{FF2B5EF4-FFF2-40B4-BE49-F238E27FC236}">
                <a16:creationId xmlns:a16="http://schemas.microsoft.com/office/drawing/2014/main" id="{6715348E-1C55-1B92-4238-9DE11D2E86A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67858" y="512158"/>
            <a:ext cx="6618665" cy="5495017"/>
          </a:xfrm>
          <a:prstGeom prst="rect">
            <a:avLst/>
          </a:prstGeom>
        </p:spPr>
      </p:pic>
      <p:sp>
        <p:nvSpPr>
          <p:cNvPr id="3" name="CasellaDiTesto 2">
            <a:extLst>
              <a:ext uri="{FF2B5EF4-FFF2-40B4-BE49-F238E27FC236}">
                <a16:creationId xmlns:a16="http://schemas.microsoft.com/office/drawing/2014/main" id="{E0EC1F87-D972-A107-7A53-1368B9666B6E}"/>
              </a:ext>
            </a:extLst>
          </p:cNvPr>
          <p:cNvSpPr txBox="1"/>
          <p:nvPr/>
        </p:nvSpPr>
        <p:spPr>
          <a:xfrm>
            <a:off x="8518519" y="2055554"/>
            <a:ext cx="3443666" cy="3170099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>
              <a:buFont typeface="Arial"/>
              <a:buChar char="•"/>
            </a:pPr>
            <a:r>
              <a:rPr lang="en-US" sz="1400" b="1">
                <a:ea typeface="+mn-lt"/>
                <a:cs typeface="+mn-lt"/>
              </a:rPr>
              <a:t>Massimo </a:t>
            </a:r>
            <a:r>
              <a:rPr lang="en-US" sz="1400" b="1" err="1">
                <a:ea typeface="+mn-lt"/>
                <a:cs typeface="+mn-lt"/>
              </a:rPr>
              <a:t>incremento</a:t>
            </a:r>
            <a:r>
              <a:rPr lang="en-US" sz="1400" b="1">
                <a:ea typeface="+mn-lt"/>
                <a:cs typeface="+mn-lt"/>
              </a:rPr>
              <a:t>:</a:t>
            </a:r>
            <a:r>
              <a:rPr lang="en-US" sz="1400">
                <a:ea typeface="+mn-lt"/>
                <a:cs typeface="+mn-lt"/>
              </a:rPr>
              <a:t> Si </a:t>
            </a:r>
            <a:r>
              <a:rPr lang="en-US" sz="1400" err="1">
                <a:ea typeface="+mn-lt"/>
                <a:cs typeface="+mn-lt"/>
              </a:rPr>
              <a:t>registra</a:t>
            </a:r>
            <a:r>
              <a:rPr lang="en-US" sz="1400">
                <a:ea typeface="+mn-lt"/>
                <a:cs typeface="+mn-lt"/>
              </a:rPr>
              <a:t> </a:t>
            </a:r>
            <a:r>
              <a:rPr lang="en-US" sz="1400" err="1">
                <a:ea typeface="+mn-lt"/>
                <a:cs typeface="+mn-lt"/>
              </a:rPr>
              <a:t>tra</a:t>
            </a:r>
            <a:r>
              <a:rPr lang="en-US" sz="1400">
                <a:ea typeface="+mn-lt"/>
                <a:cs typeface="+mn-lt"/>
              </a:rPr>
              <a:t> chi </a:t>
            </a:r>
            <a:r>
              <a:rPr lang="en-US" sz="1400" b="1">
                <a:ea typeface="+mn-lt"/>
                <a:cs typeface="+mn-lt"/>
              </a:rPr>
              <a:t>non </a:t>
            </a:r>
            <a:r>
              <a:rPr lang="en-US" sz="1400" b="1" err="1">
                <a:ea typeface="+mn-lt"/>
                <a:cs typeface="+mn-lt"/>
              </a:rPr>
              <a:t>usa</a:t>
            </a:r>
            <a:r>
              <a:rPr lang="en-US" sz="1400" b="1">
                <a:ea typeface="+mn-lt"/>
                <a:cs typeface="+mn-lt"/>
              </a:rPr>
              <a:t> </a:t>
            </a:r>
            <a:r>
              <a:rPr lang="en-US" sz="1400" b="1" err="1">
                <a:ea typeface="+mn-lt"/>
                <a:cs typeface="+mn-lt"/>
              </a:rPr>
              <a:t>l'IA</a:t>
            </a:r>
            <a:r>
              <a:rPr lang="en-US" sz="1400">
                <a:ea typeface="+mn-lt"/>
                <a:cs typeface="+mn-lt"/>
              </a:rPr>
              <a:t> (Gruppo 0), </a:t>
            </a:r>
            <a:r>
              <a:rPr lang="en-US" sz="1400" err="1">
                <a:ea typeface="+mn-lt"/>
                <a:cs typeface="+mn-lt"/>
              </a:rPr>
              <a:t>anche</a:t>
            </a:r>
            <a:r>
              <a:rPr lang="en-US" sz="1400">
                <a:ea typeface="+mn-lt"/>
                <a:cs typeface="+mn-lt"/>
              </a:rPr>
              <a:t> se con forte </a:t>
            </a:r>
            <a:r>
              <a:rPr lang="en-US" sz="1400" err="1">
                <a:ea typeface="+mn-lt"/>
                <a:cs typeface="+mn-lt"/>
              </a:rPr>
              <a:t>variabilità</a:t>
            </a:r>
            <a:r>
              <a:rPr lang="en-US" sz="1400">
                <a:ea typeface="+mn-lt"/>
                <a:cs typeface="+mn-lt"/>
              </a:rPr>
              <a:t> </a:t>
            </a:r>
            <a:r>
              <a:rPr lang="en-US" sz="1400" err="1">
                <a:ea typeface="+mn-lt"/>
                <a:cs typeface="+mn-lt"/>
              </a:rPr>
              <a:t>tra</a:t>
            </a:r>
            <a:r>
              <a:rPr lang="en-US" sz="1400">
                <a:ea typeface="+mn-lt"/>
                <a:cs typeface="+mn-lt"/>
              </a:rPr>
              <a:t> </a:t>
            </a:r>
            <a:r>
              <a:rPr lang="en-US" sz="1400" err="1">
                <a:ea typeface="+mn-lt"/>
                <a:cs typeface="+mn-lt"/>
              </a:rPr>
              <a:t>i</a:t>
            </a:r>
            <a:r>
              <a:rPr lang="en-US" sz="1400">
                <a:ea typeface="+mn-lt"/>
                <a:cs typeface="+mn-lt"/>
              </a:rPr>
              <a:t> </a:t>
            </a:r>
            <a:r>
              <a:rPr lang="en-US" sz="1400" err="1">
                <a:ea typeface="+mn-lt"/>
                <a:cs typeface="+mn-lt"/>
              </a:rPr>
              <a:t>singoli</a:t>
            </a:r>
            <a:r>
              <a:rPr lang="en-US" sz="1400">
                <a:ea typeface="+mn-lt"/>
                <a:cs typeface="+mn-lt"/>
              </a:rPr>
              <a:t> </a:t>
            </a:r>
            <a:r>
              <a:rPr lang="en-US" sz="1400" err="1">
                <a:ea typeface="+mn-lt"/>
                <a:cs typeface="+mn-lt"/>
              </a:rPr>
              <a:t>studenti</a:t>
            </a:r>
            <a:r>
              <a:rPr lang="en-US" sz="1400">
                <a:ea typeface="+mn-lt"/>
                <a:cs typeface="+mn-lt"/>
              </a:rPr>
              <a:t>.</a:t>
            </a:r>
            <a:endParaRPr lang="it-IT" sz="1400">
              <a:ea typeface="+mn-lt"/>
              <a:cs typeface="+mn-lt"/>
            </a:endParaRPr>
          </a:p>
          <a:p>
            <a:pPr>
              <a:buFont typeface="Arial"/>
              <a:buChar char="•"/>
            </a:pPr>
            <a:endParaRPr lang="en-US" sz="1400">
              <a:ea typeface="+mn-lt"/>
              <a:cs typeface="+mn-lt"/>
            </a:endParaRPr>
          </a:p>
          <a:p>
            <a:pPr>
              <a:buFont typeface="Arial"/>
              <a:buChar char="•"/>
            </a:pPr>
            <a:r>
              <a:rPr lang="en-US" sz="1400" b="1">
                <a:ea typeface="+mn-lt"/>
                <a:cs typeface="+mn-lt"/>
              </a:rPr>
              <a:t>Uso moderato (6-15):</a:t>
            </a:r>
            <a:r>
              <a:rPr lang="en-US" sz="1400">
                <a:ea typeface="+mn-lt"/>
                <a:cs typeface="+mn-lt"/>
              </a:rPr>
              <a:t> Mostra un buon </a:t>
            </a:r>
            <a:r>
              <a:rPr lang="en-US" sz="1400" err="1">
                <a:ea typeface="+mn-lt"/>
                <a:cs typeface="+mn-lt"/>
              </a:rPr>
              <a:t>compromesso</a:t>
            </a:r>
            <a:r>
              <a:rPr lang="en-US" sz="1400">
                <a:ea typeface="+mn-lt"/>
                <a:cs typeface="+mn-lt"/>
              </a:rPr>
              <a:t>, </a:t>
            </a:r>
            <a:r>
              <a:rPr lang="en-US" sz="1400" err="1">
                <a:ea typeface="+mn-lt"/>
                <a:cs typeface="+mn-lt"/>
              </a:rPr>
              <a:t>mantenendo</a:t>
            </a:r>
            <a:r>
              <a:rPr lang="en-US" sz="1400">
                <a:ea typeface="+mn-lt"/>
                <a:cs typeface="+mn-lt"/>
              </a:rPr>
              <a:t> </a:t>
            </a:r>
            <a:r>
              <a:rPr lang="en-US" sz="1400" err="1">
                <a:ea typeface="+mn-lt"/>
                <a:cs typeface="+mn-lt"/>
              </a:rPr>
              <a:t>l'incremento</a:t>
            </a:r>
            <a:r>
              <a:rPr lang="en-US" sz="1400">
                <a:ea typeface="+mn-lt"/>
                <a:cs typeface="+mn-lt"/>
              </a:rPr>
              <a:t> del GPA stabile e </a:t>
            </a:r>
            <a:r>
              <a:rPr lang="en-US" sz="1400" err="1">
                <a:ea typeface="+mn-lt"/>
                <a:cs typeface="+mn-lt"/>
              </a:rPr>
              <a:t>positivo</a:t>
            </a:r>
            <a:r>
              <a:rPr lang="en-US" sz="1400">
                <a:ea typeface="+mn-lt"/>
                <a:cs typeface="+mn-lt"/>
              </a:rPr>
              <a:t>.</a:t>
            </a:r>
            <a:endParaRPr lang="en-US" sz="1400"/>
          </a:p>
          <a:p>
            <a:pPr>
              <a:buFont typeface="Arial"/>
              <a:buChar char="•"/>
            </a:pPr>
            <a:endParaRPr lang="en-US" sz="1400">
              <a:ea typeface="+mn-lt"/>
              <a:cs typeface="+mn-lt"/>
            </a:endParaRPr>
          </a:p>
          <a:p>
            <a:pPr>
              <a:buFont typeface="Arial"/>
              <a:buChar char="•"/>
            </a:pPr>
            <a:r>
              <a:rPr lang="en-US" sz="1400" b="1" err="1">
                <a:ea typeface="+mn-lt"/>
                <a:cs typeface="+mn-lt"/>
              </a:rPr>
              <a:t>Effetto</a:t>
            </a:r>
            <a:r>
              <a:rPr lang="en-US" sz="1400" b="1">
                <a:ea typeface="+mn-lt"/>
                <a:cs typeface="+mn-lt"/>
              </a:rPr>
              <a:t> </a:t>
            </a:r>
            <a:r>
              <a:rPr lang="en-US" sz="1400" b="1" err="1">
                <a:ea typeface="+mn-lt"/>
                <a:cs typeface="+mn-lt"/>
              </a:rPr>
              <a:t>saturazione</a:t>
            </a:r>
            <a:r>
              <a:rPr lang="en-US" sz="1400" b="1">
                <a:ea typeface="+mn-lt"/>
                <a:cs typeface="+mn-lt"/>
              </a:rPr>
              <a:t> (16+):</a:t>
            </a:r>
            <a:r>
              <a:rPr lang="en-US" sz="1400">
                <a:ea typeface="+mn-lt"/>
                <a:cs typeface="+mn-lt"/>
              </a:rPr>
              <a:t> </a:t>
            </a:r>
            <a:r>
              <a:rPr lang="en-US" sz="1400" err="1">
                <a:ea typeface="+mn-lt"/>
                <a:cs typeface="+mn-lt"/>
              </a:rPr>
              <a:t>aumento</a:t>
            </a:r>
            <a:r>
              <a:rPr lang="en-US" sz="1400">
                <a:ea typeface="+mn-lt"/>
                <a:cs typeface="+mn-lt"/>
              </a:rPr>
              <a:t> </a:t>
            </a:r>
            <a:r>
              <a:rPr lang="en-US" sz="1400" err="1">
                <a:ea typeface="+mn-lt"/>
                <a:cs typeface="+mn-lt"/>
              </a:rPr>
              <a:t>utilizzo</a:t>
            </a:r>
            <a:r>
              <a:rPr lang="en-US" sz="1400">
                <a:ea typeface="+mn-lt"/>
                <a:cs typeface="+mn-lt"/>
              </a:rPr>
              <a:t> della GenAI, </a:t>
            </a:r>
            <a:r>
              <a:rPr lang="en-US" sz="1400" err="1">
                <a:ea typeface="+mn-lt"/>
                <a:cs typeface="+mn-lt"/>
              </a:rPr>
              <a:t>più</a:t>
            </a:r>
            <a:r>
              <a:rPr lang="en-US" sz="1400">
                <a:ea typeface="+mn-lt"/>
                <a:cs typeface="+mn-lt"/>
              </a:rPr>
              <a:t> </a:t>
            </a:r>
            <a:r>
              <a:rPr lang="en-US" sz="1400" err="1">
                <a:ea typeface="+mn-lt"/>
                <a:cs typeface="+mn-lt"/>
              </a:rPr>
              <a:t>l'incremento</a:t>
            </a:r>
            <a:r>
              <a:rPr lang="en-US" sz="1400">
                <a:ea typeface="+mn-lt"/>
                <a:cs typeface="+mn-lt"/>
              </a:rPr>
              <a:t> del GPA </a:t>
            </a:r>
            <a:r>
              <a:rPr lang="en-US" sz="1400" b="1" err="1">
                <a:ea typeface="+mn-lt"/>
                <a:cs typeface="+mn-lt"/>
              </a:rPr>
              <a:t>diminuisce</a:t>
            </a:r>
            <a:r>
              <a:rPr lang="en-US" sz="1400" b="1">
                <a:ea typeface="+mn-lt"/>
                <a:cs typeface="+mn-lt"/>
              </a:rPr>
              <a:t> </a:t>
            </a:r>
            <a:r>
              <a:rPr lang="en-US" sz="1400" b="1" err="1">
                <a:ea typeface="+mn-lt"/>
                <a:cs typeface="+mn-lt"/>
              </a:rPr>
              <a:t>progressivamente</a:t>
            </a:r>
            <a:r>
              <a:rPr lang="en-US" sz="1400">
                <a:ea typeface="+mn-lt"/>
                <a:cs typeface="+mn-lt"/>
              </a:rPr>
              <a:t>,  (minimo </a:t>
            </a:r>
            <a:r>
              <a:rPr lang="en-US" sz="1400" err="1">
                <a:ea typeface="+mn-lt"/>
                <a:cs typeface="+mn-lt"/>
              </a:rPr>
              <a:t>nel</a:t>
            </a:r>
            <a:r>
              <a:rPr lang="en-US" sz="1400">
                <a:ea typeface="+mn-lt"/>
                <a:cs typeface="+mn-lt"/>
              </a:rPr>
              <a:t> </a:t>
            </a:r>
            <a:r>
              <a:rPr lang="en-US" sz="1400" err="1">
                <a:ea typeface="+mn-lt"/>
                <a:cs typeface="+mn-lt"/>
              </a:rPr>
              <a:t>gruppo</a:t>
            </a:r>
            <a:r>
              <a:rPr lang="en-US" sz="1400">
                <a:ea typeface="+mn-lt"/>
                <a:cs typeface="+mn-lt"/>
              </a:rPr>
              <a:t> 36-40).</a:t>
            </a:r>
          </a:p>
          <a:p>
            <a:pPr marL="228600" indent="-228600">
              <a:buFont typeface=""/>
              <a:buChar char="•"/>
            </a:pPr>
            <a:endParaRPr lang="en-US">
              <a:latin typeface="Google Sans Text"/>
            </a:endParaRPr>
          </a:p>
        </p:txBody>
      </p:sp>
    </p:spTree>
    <p:extLst>
      <p:ext uri="{BB962C8B-B14F-4D97-AF65-F5344CB8AC3E}">
        <p14:creationId xmlns:p14="http://schemas.microsoft.com/office/powerpoint/2010/main" val="3433455436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Rectangle 8">
            <a:extLst>
              <a:ext uri="{FF2B5EF4-FFF2-40B4-BE49-F238E27FC236}">
                <a16:creationId xmlns:a16="http://schemas.microsoft.com/office/drawing/2014/main" id="{F3060C83-F051-4F0E-ABAD-AA0DFC48B21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6" name="Freeform: Shape 10">
            <a:extLst>
              <a:ext uri="{FF2B5EF4-FFF2-40B4-BE49-F238E27FC236}">
                <a16:creationId xmlns:a16="http://schemas.microsoft.com/office/drawing/2014/main" id="{83C98ABE-055B-441F-B07E-44F97F083C3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8900000" flipH="1">
            <a:off x="-376156" y="-253670"/>
            <a:ext cx="1827638" cy="1376989"/>
          </a:xfrm>
          <a:custGeom>
            <a:avLst/>
            <a:gdLst>
              <a:gd name="connsiteX0" fmla="*/ 0 w 1827638"/>
              <a:gd name="connsiteY0" fmla="*/ 987379 h 1376989"/>
              <a:gd name="connsiteX1" fmla="*/ 987379 w 1827638"/>
              <a:gd name="connsiteY1" fmla="*/ 0 h 1376989"/>
              <a:gd name="connsiteX2" fmla="*/ 1827638 w 1827638"/>
              <a:gd name="connsiteY2" fmla="*/ 840260 h 1376989"/>
              <a:gd name="connsiteX3" fmla="*/ 1827638 w 1827638"/>
              <a:gd name="connsiteY3" fmla="*/ 1376989 h 1376989"/>
              <a:gd name="connsiteX4" fmla="*/ 0 w 1827638"/>
              <a:gd name="connsiteY4" fmla="*/ 1376989 h 137698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827638" h="1376989">
                <a:moveTo>
                  <a:pt x="0" y="987379"/>
                </a:moveTo>
                <a:lnTo>
                  <a:pt x="987379" y="0"/>
                </a:lnTo>
                <a:lnTo>
                  <a:pt x="1827638" y="840260"/>
                </a:lnTo>
                <a:lnTo>
                  <a:pt x="1827638" y="1376989"/>
                </a:lnTo>
                <a:lnTo>
                  <a:pt x="0" y="1376989"/>
                </a:lnTo>
                <a:close/>
              </a:path>
            </a:pathLst>
          </a:custGeom>
          <a:solidFill>
            <a:schemeClr val="accent1"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7" name="Rectangle 12">
            <a:extLst>
              <a:ext uri="{FF2B5EF4-FFF2-40B4-BE49-F238E27FC236}">
                <a16:creationId xmlns:a16="http://schemas.microsoft.com/office/drawing/2014/main" id="{29FDB030-9B49-4CED-8CCD-4D99382388A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8900000" flipH="1">
            <a:off x="891641" y="422146"/>
            <a:ext cx="645368" cy="645368"/>
          </a:xfrm>
          <a:prstGeom prst="rect">
            <a:avLst/>
          </a:prstGeom>
          <a:solidFill>
            <a:schemeClr val="accent1"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8" name="Rectangle 14">
            <a:extLst>
              <a:ext uri="{FF2B5EF4-FFF2-40B4-BE49-F238E27FC236}">
                <a16:creationId xmlns:a16="http://schemas.microsoft.com/office/drawing/2014/main" id="{3783CA14-24A1-485C-8B30-D6A5D87987A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8900000" flipH="1">
            <a:off x="10043482" y="655140"/>
            <a:ext cx="687472" cy="687472"/>
          </a:xfrm>
          <a:prstGeom prst="rect">
            <a:avLst/>
          </a:prstGeom>
          <a:solidFill>
            <a:schemeClr val="accent4"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9" name="Freeform: Shape 16">
            <a:extLst>
              <a:ext uri="{FF2B5EF4-FFF2-40B4-BE49-F238E27FC236}">
                <a16:creationId xmlns:a16="http://schemas.microsoft.com/office/drawing/2014/main" id="{9A97C86A-04D6-40F7-AE84-31AB43E6A84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9356643" y="0"/>
            <a:ext cx="2835357" cy="1480837"/>
          </a:xfrm>
          <a:custGeom>
            <a:avLst/>
            <a:gdLst>
              <a:gd name="connsiteX0" fmla="*/ 2835357 w 2835357"/>
              <a:gd name="connsiteY0" fmla="*/ 1480837 h 1480837"/>
              <a:gd name="connsiteX1" fmla="*/ 0 w 2835357"/>
              <a:gd name="connsiteY1" fmla="*/ 1480837 h 1480837"/>
              <a:gd name="connsiteX2" fmla="*/ 1552727 w 2835357"/>
              <a:gd name="connsiteY2" fmla="*/ 0 h 1480837"/>
              <a:gd name="connsiteX3" fmla="*/ 2835357 w 2835357"/>
              <a:gd name="connsiteY3" fmla="*/ 1223245 h 148083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835357" h="1480837">
                <a:moveTo>
                  <a:pt x="2835357" y="1480837"/>
                </a:moveTo>
                <a:lnTo>
                  <a:pt x="0" y="1480837"/>
                </a:lnTo>
                <a:lnTo>
                  <a:pt x="1552727" y="0"/>
                </a:lnTo>
                <a:lnTo>
                  <a:pt x="2835357" y="1223245"/>
                </a:lnTo>
                <a:close/>
              </a:path>
            </a:pathLst>
          </a:custGeom>
          <a:solidFill>
            <a:schemeClr val="accent4"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30" name="Isosceles Triangle 18">
            <a:extLst>
              <a:ext uri="{FF2B5EF4-FFF2-40B4-BE49-F238E27FC236}">
                <a16:creationId xmlns:a16="http://schemas.microsoft.com/office/drawing/2014/main" id="{FF9F2414-84E8-453E-B1F3-389FDE8192D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7976344" y="6115501"/>
            <a:ext cx="1494513" cy="742499"/>
          </a:xfrm>
          <a:prstGeom prst="triangle">
            <a:avLst/>
          </a:prstGeom>
          <a:solidFill>
            <a:schemeClr val="accent1"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1" name="Isosceles Triangle 20">
            <a:extLst>
              <a:ext uri="{FF2B5EF4-FFF2-40B4-BE49-F238E27FC236}">
                <a16:creationId xmlns:a16="http://schemas.microsoft.com/office/drawing/2014/main" id="{3ECA69A1-7536-43AC-85EF-C7106179F5E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7604080" y="6453143"/>
            <a:ext cx="814903" cy="404857"/>
          </a:xfrm>
          <a:prstGeom prst="triangle">
            <a:avLst/>
          </a:prstGeom>
          <a:solidFill>
            <a:schemeClr val="accent1"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3" name="Immagine 2" descr="Immagine che contiene testo, schermata, Policromia, modello&#10;&#10;Il contenuto generato dall&amp;#39;IA potrebbe non essere corretto.">
            <a:extLst>
              <a:ext uri="{FF2B5EF4-FFF2-40B4-BE49-F238E27FC236}">
                <a16:creationId xmlns:a16="http://schemas.microsoft.com/office/drawing/2014/main" id="{E9197619-FC14-CB77-C7F2-8D9D5ACDBB7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49936" y="435429"/>
            <a:ext cx="6751271" cy="5854096"/>
          </a:xfrm>
          <a:prstGeom prst="rect">
            <a:avLst/>
          </a:prstGeom>
        </p:spPr>
      </p:pic>
      <p:sp>
        <p:nvSpPr>
          <p:cNvPr id="2" name="CasellaDiTesto 1">
            <a:extLst>
              <a:ext uri="{FF2B5EF4-FFF2-40B4-BE49-F238E27FC236}">
                <a16:creationId xmlns:a16="http://schemas.microsoft.com/office/drawing/2014/main" id="{A9D91421-B9B7-4C53-E9AD-C20DC3395DAF}"/>
              </a:ext>
            </a:extLst>
          </p:cNvPr>
          <p:cNvSpPr txBox="1"/>
          <p:nvPr/>
        </p:nvSpPr>
        <p:spPr>
          <a:xfrm>
            <a:off x="8625840" y="1701800"/>
            <a:ext cx="3556000" cy="3724096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marL="228600" indent="-228600">
              <a:buFont typeface=""/>
              <a:buChar char="•"/>
            </a:pPr>
            <a:endParaRPr lang="en-US" sz="1400" b="1"/>
          </a:p>
          <a:p>
            <a:pPr marL="228600" indent="-228600">
              <a:buFont typeface=""/>
              <a:buChar char="•"/>
            </a:pPr>
            <a:endParaRPr lang="en-US" sz="1400" b="1"/>
          </a:p>
          <a:p>
            <a:pPr marL="228600" indent="-228600">
              <a:buFont typeface=""/>
              <a:buChar char="•"/>
            </a:pPr>
            <a:endParaRPr lang="en-US" sz="1400" b="1"/>
          </a:p>
          <a:p>
            <a:pPr marL="228600" indent="-228600">
              <a:buFont typeface=""/>
              <a:buChar char="•"/>
            </a:pPr>
            <a:r>
              <a:rPr lang="en-US" sz="1400" b="1" dirty="0"/>
              <a:t>Cosa serve:</a:t>
            </a:r>
            <a:r>
              <a:rPr lang="en-US" sz="1400" dirty="0"/>
              <a:t> </a:t>
            </a:r>
            <a:r>
              <a:rPr lang="en-US" sz="1400" dirty="0" err="1"/>
              <a:t>Più</a:t>
            </a:r>
            <a:r>
              <a:rPr lang="en-US" sz="1400" dirty="0"/>
              <a:t> ore di studio </a:t>
            </a:r>
            <a:r>
              <a:rPr lang="en-US" sz="1400" dirty="0" err="1"/>
              <a:t>portano</a:t>
            </a:r>
            <a:r>
              <a:rPr lang="en-US" sz="1400" dirty="0"/>
              <a:t> </a:t>
            </a:r>
            <a:r>
              <a:rPr lang="en-US" sz="1400" dirty="0" err="1"/>
              <a:t>a</a:t>
            </a:r>
            <a:r>
              <a:rPr lang="en-US" sz="1400" dirty="0"/>
              <a:t> </a:t>
            </a:r>
            <a:r>
              <a:rPr lang="en-US" sz="1400" dirty="0" err="1"/>
              <a:t>incremento</a:t>
            </a:r>
            <a:r>
              <a:rPr lang="en-US" sz="1400" dirty="0"/>
              <a:t> </a:t>
            </a:r>
            <a:r>
              <a:rPr lang="en-US" sz="1400" dirty="0" err="1"/>
              <a:t>più</a:t>
            </a:r>
            <a:r>
              <a:rPr lang="en-US" sz="1400" dirty="0"/>
              <a:t> stabile, </a:t>
            </a:r>
            <a:r>
              <a:rPr lang="en-US" sz="1400" dirty="0" err="1"/>
              <a:t>aggiungere</a:t>
            </a:r>
            <a:r>
              <a:rPr lang="en-US" sz="1400" dirty="0"/>
              <a:t> ore di studio </a:t>
            </a:r>
            <a:r>
              <a:rPr lang="en-US" sz="1400" dirty="0" err="1"/>
              <a:t>assistite</a:t>
            </a:r>
            <a:r>
              <a:rPr lang="en-US" sz="1400" dirty="0"/>
              <a:t> in maniera </a:t>
            </a:r>
            <a:r>
              <a:rPr lang="en-US" sz="1400" dirty="0" err="1"/>
              <a:t>contenuta</a:t>
            </a:r>
            <a:r>
              <a:rPr lang="en-US" sz="1400" dirty="0"/>
              <a:t> </a:t>
            </a:r>
            <a:r>
              <a:rPr lang="en-US" sz="1400" dirty="0" err="1"/>
              <a:t>può</a:t>
            </a:r>
            <a:r>
              <a:rPr lang="en-US" sz="1400" dirty="0"/>
              <a:t> </a:t>
            </a:r>
            <a:r>
              <a:rPr lang="en-US" sz="1400" dirty="0" err="1"/>
              <a:t>portare</a:t>
            </a:r>
            <a:r>
              <a:rPr lang="en-US" sz="1400" dirty="0"/>
              <a:t> a </a:t>
            </a:r>
            <a:r>
              <a:rPr lang="en-US" sz="1400" dirty="0" err="1"/>
              <a:t>benefici</a:t>
            </a:r>
            <a:r>
              <a:rPr lang="en-US" sz="1400" dirty="0"/>
              <a:t>.</a:t>
            </a:r>
            <a:endParaRPr lang="en-US" dirty="0"/>
          </a:p>
          <a:p>
            <a:pPr marL="228600" indent="-228600">
              <a:buFont typeface=""/>
              <a:buChar char="•"/>
            </a:pPr>
            <a:endParaRPr lang="en-US" sz="1400"/>
          </a:p>
          <a:p>
            <a:pPr marL="228600" indent="-228600">
              <a:buFont typeface=""/>
              <a:buChar char="•"/>
            </a:pPr>
            <a:r>
              <a:rPr lang="en-US" sz="1400" b="1"/>
              <a:t>Cosa </a:t>
            </a:r>
            <a:r>
              <a:rPr lang="en-US" sz="1400" b="1" err="1"/>
              <a:t>danneggia</a:t>
            </a:r>
            <a:r>
              <a:rPr lang="en-US" sz="1400" b="1"/>
              <a:t>:</a:t>
            </a:r>
            <a:r>
              <a:rPr lang="en-US" sz="1400"/>
              <a:t> </a:t>
            </a:r>
            <a:r>
              <a:rPr lang="en-US" sz="1400" err="1"/>
              <a:t>Sbilanciamenti</a:t>
            </a:r>
            <a:r>
              <a:rPr lang="en-US" sz="1400"/>
              <a:t> di ore </a:t>
            </a:r>
            <a:r>
              <a:rPr lang="en-US" sz="1400" err="1"/>
              <a:t>investiste</a:t>
            </a:r>
            <a:r>
              <a:rPr lang="en-US" sz="1400"/>
              <a:t> in GenAI porta a </a:t>
            </a:r>
            <a:r>
              <a:rPr lang="en-US" sz="1400" err="1"/>
              <a:t>decrementi</a:t>
            </a:r>
            <a:r>
              <a:rPr lang="en-US" sz="1400"/>
              <a:t> del GPA  .</a:t>
            </a:r>
          </a:p>
          <a:p>
            <a:pPr marL="228600" indent="-228600">
              <a:buFont typeface=""/>
              <a:buChar char="•"/>
            </a:pPr>
            <a:endParaRPr lang="en-US" sz="1400"/>
          </a:p>
          <a:p>
            <a:endParaRPr lang="en-US" sz="1400" b="1"/>
          </a:p>
          <a:p>
            <a:endParaRPr lang="en-US"/>
          </a:p>
          <a:p>
            <a:endParaRPr lang="en-US"/>
          </a:p>
          <a:p>
            <a:pPr algn="ctr"/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1823408657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>
            <a:extLst>
              <a:ext uri="{FF2B5EF4-FFF2-40B4-BE49-F238E27FC236}">
                <a16:creationId xmlns:a16="http://schemas.microsoft.com/office/drawing/2014/main" id="{F3060C83-F051-4F0E-ABAD-AA0DFC48B21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Freeform: Shape 10">
            <a:extLst>
              <a:ext uri="{FF2B5EF4-FFF2-40B4-BE49-F238E27FC236}">
                <a16:creationId xmlns:a16="http://schemas.microsoft.com/office/drawing/2014/main" id="{83C98ABE-055B-441F-B07E-44F97F083C3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8900000" flipH="1">
            <a:off x="-376156" y="-253670"/>
            <a:ext cx="1827638" cy="1376989"/>
          </a:xfrm>
          <a:custGeom>
            <a:avLst/>
            <a:gdLst>
              <a:gd name="connsiteX0" fmla="*/ 0 w 1827638"/>
              <a:gd name="connsiteY0" fmla="*/ 987379 h 1376989"/>
              <a:gd name="connsiteX1" fmla="*/ 987379 w 1827638"/>
              <a:gd name="connsiteY1" fmla="*/ 0 h 1376989"/>
              <a:gd name="connsiteX2" fmla="*/ 1827638 w 1827638"/>
              <a:gd name="connsiteY2" fmla="*/ 840260 h 1376989"/>
              <a:gd name="connsiteX3" fmla="*/ 1827638 w 1827638"/>
              <a:gd name="connsiteY3" fmla="*/ 1376989 h 1376989"/>
              <a:gd name="connsiteX4" fmla="*/ 0 w 1827638"/>
              <a:gd name="connsiteY4" fmla="*/ 1376989 h 137698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827638" h="1376989">
                <a:moveTo>
                  <a:pt x="0" y="987379"/>
                </a:moveTo>
                <a:lnTo>
                  <a:pt x="987379" y="0"/>
                </a:lnTo>
                <a:lnTo>
                  <a:pt x="1827638" y="840260"/>
                </a:lnTo>
                <a:lnTo>
                  <a:pt x="1827638" y="1376989"/>
                </a:lnTo>
                <a:lnTo>
                  <a:pt x="0" y="1376989"/>
                </a:lnTo>
                <a:close/>
              </a:path>
            </a:pathLst>
          </a:custGeom>
          <a:solidFill>
            <a:schemeClr val="accent1"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29FDB030-9B49-4CED-8CCD-4D99382388A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8900000" flipH="1">
            <a:off x="891641" y="422146"/>
            <a:ext cx="645368" cy="645368"/>
          </a:xfrm>
          <a:prstGeom prst="rect">
            <a:avLst/>
          </a:prstGeom>
          <a:solidFill>
            <a:schemeClr val="accent1"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3783CA14-24A1-485C-8B30-D6A5D87987A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8900000" flipH="1">
            <a:off x="10043482" y="655140"/>
            <a:ext cx="687472" cy="687472"/>
          </a:xfrm>
          <a:prstGeom prst="rect">
            <a:avLst/>
          </a:prstGeom>
          <a:solidFill>
            <a:schemeClr val="accent4"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7" name="Freeform: Shape 16">
            <a:extLst>
              <a:ext uri="{FF2B5EF4-FFF2-40B4-BE49-F238E27FC236}">
                <a16:creationId xmlns:a16="http://schemas.microsoft.com/office/drawing/2014/main" id="{9A97C86A-04D6-40F7-AE84-31AB43E6A84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9356643" y="0"/>
            <a:ext cx="2835357" cy="1480837"/>
          </a:xfrm>
          <a:custGeom>
            <a:avLst/>
            <a:gdLst>
              <a:gd name="connsiteX0" fmla="*/ 2835357 w 2835357"/>
              <a:gd name="connsiteY0" fmla="*/ 1480837 h 1480837"/>
              <a:gd name="connsiteX1" fmla="*/ 0 w 2835357"/>
              <a:gd name="connsiteY1" fmla="*/ 1480837 h 1480837"/>
              <a:gd name="connsiteX2" fmla="*/ 1552727 w 2835357"/>
              <a:gd name="connsiteY2" fmla="*/ 0 h 1480837"/>
              <a:gd name="connsiteX3" fmla="*/ 2835357 w 2835357"/>
              <a:gd name="connsiteY3" fmla="*/ 1223245 h 148083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835357" h="1480837">
                <a:moveTo>
                  <a:pt x="2835357" y="1480837"/>
                </a:moveTo>
                <a:lnTo>
                  <a:pt x="0" y="1480837"/>
                </a:lnTo>
                <a:lnTo>
                  <a:pt x="1552727" y="0"/>
                </a:lnTo>
                <a:lnTo>
                  <a:pt x="2835357" y="1223245"/>
                </a:lnTo>
                <a:close/>
              </a:path>
            </a:pathLst>
          </a:custGeom>
          <a:solidFill>
            <a:schemeClr val="accent4"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19" name="Isosceles Triangle 18">
            <a:extLst>
              <a:ext uri="{FF2B5EF4-FFF2-40B4-BE49-F238E27FC236}">
                <a16:creationId xmlns:a16="http://schemas.microsoft.com/office/drawing/2014/main" id="{FF9F2414-84E8-453E-B1F3-389FDE8192D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7976344" y="6115501"/>
            <a:ext cx="1494513" cy="742499"/>
          </a:xfrm>
          <a:prstGeom prst="triangle">
            <a:avLst/>
          </a:prstGeom>
          <a:solidFill>
            <a:schemeClr val="accent1"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1" name="Isosceles Triangle 20">
            <a:extLst>
              <a:ext uri="{FF2B5EF4-FFF2-40B4-BE49-F238E27FC236}">
                <a16:creationId xmlns:a16="http://schemas.microsoft.com/office/drawing/2014/main" id="{3ECA69A1-7536-43AC-85EF-C7106179F5E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7604080" y="6453143"/>
            <a:ext cx="814903" cy="404857"/>
          </a:xfrm>
          <a:prstGeom prst="triangle">
            <a:avLst/>
          </a:prstGeom>
          <a:solidFill>
            <a:schemeClr val="accent1"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2" name="Immagine 1" descr="Immagine che contiene testo, schermata, Policromia, diagramma&#10;&#10;Il contenuto generato dall&amp;#39;IA potrebbe non essere corretto.">
            <a:extLst>
              <a:ext uri="{FF2B5EF4-FFF2-40B4-BE49-F238E27FC236}">
                <a16:creationId xmlns:a16="http://schemas.microsoft.com/office/drawing/2014/main" id="{546B8540-611E-1216-F71B-9A56FEC71DF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65905" y="737810"/>
            <a:ext cx="6779810" cy="5334000"/>
          </a:xfrm>
          <a:prstGeom prst="rect">
            <a:avLst/>
          </a:prstGeom>
        </p:spPr>
      </p:pic>
      <p:sp>
        <p:nvSpPr>
          <p:cNvPr id="3" name="CasellaDiTesto 2">
            <a:extLst>
              <a:ext uri="{FF2B5EF4-FFF2-40B4-BE49-F238E27FC236}">
                <a16:creationId xmlns:a16="http://schemas.microsoft.com/office/drawing/2014/main" id="{316F5D5A-C43D-3DA3-A38A-1B10ABE9B2EB}"/>
              </a:ext>
            </a:extLst>
          </p:cNvPr>
          <p:cNvSpPr txBox="1"/>
          <p:nvPr/>
        </p:nvSpPr>
        <p:spPr>
          <a:xfrm>
            <a:off x="8442960" y="1468120"/>
            <a:ext cx="3749040" cy="2954655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marL="228600" indent="-228600">
              <a:buFont typeface=""/>
              <a:buChar char="•"/>
            </a:pPr>
            <a:endParaRPr lang="en-US" sz="1400" b="1"/>
          </a:p>
          <a:p>
            <a:pPr marL="228600" indent="-228600">
              <a:buFont typeface=""/>
              <a:buChar char="•"/>
            </a:pPr>
            <a:r>
              <a:rPr lang="en-US" sz="1400" b="1" dirty="0"/>
              <a:t>La </a:t>
            </a:r>
            <a:r>
              <a:rPr lang="en-US" sz="1400" b="1" dirty="0" err="1"/>
              <a:t>combinazione</a:t>
            </a:r>
            <a:r>
              <a:rPr lang="en-US" sz="1400" b="1" dirty="0"/>
              <a:t> </a:t>
            </a:r>
            <a:r>
              <a:rPr lang="en-US" sz="1400" b="1" dirty="0" err="1"/>
              <a:t>vincente</a:t>
            </a:r>
            <a:r>
              <a:rPr lang="en-US" sz="1400" b="1" dirty="0"/>
              <a:t>:</a:t>
            </a:r>
            <a:r>
              <a:rPr lang="en-US" sz="1400" dirty="0"/>
              <a:t> </a:t>
            </a:r>
            <a:r>
              <a:rPr lang="en-US" sz="1400" dirty="0" err="1"/>
              <a:t>L'incremento</a:t>
            </a:r>
            <a:r>
              <a:rPr lang="en-US" sz="1400" dirty="0"/>
              <a:t> </a:t>
            </a:r>
            <a:r>
              <a:rPr lang="en-US" sz="1400" dirty="0" err="1"/>
              <a:t>maggiore</a:t>
            </a:r>
            <a:r>
              <a:rPr lang="en-US" sz="1400" dirty="0"/>
              <a:t> </a:t>
            </a:r>
            <a:r>
              <a:rPr lang="en-US" sz="1400" dirty="0" err="1"/>
              <a:t>si</a:t>
            </a:r>
            <a:r>
              <a:rPr lang="en-US" sz="1400" dirty="0"/>
              <a:t> </a:t>
            </a:r>
            <a:r>
              <a:rPr lang="en-US" sz="1400" dirty="0" err="1"/>
              <a:t>ottiene</a:t>
            </a:r>
            <a:r>
              <a:rPr lang="en-US" sz="1400" dirty="0"/>
              <a:t> solo </a:t>
            </a:r>
            <a:r>
              <a:rPr lang="en-US" sz="1400" dirty="0" err="1"/>
              <a:t>quando</a:t>
            </a:r>
            <a:r>
              <a:rPr lang="en-US" sz="1400" dirty="0"/>
              <a:t> </a:t>
            </a:r>
            <a:r>
              <a:rPr lang="en-US" sz="1400" b="1" dirty="0" err="1"/>
              <a:t>sia</a:t>
            </a:r>
            <a:r>
              <a:rPr lang="en-US" sz="1400" b="1" dirty="0"/>
              <a:t> le ore </a:t>
            </a:r>
            <a:r>
              <a:rPr lang="en-US" sz="1400" b="1" dirty="0" err="1"/>
              <a:t>totali</a:t>
            </a:r>
            <a:r>
              <a:rPr lang="en-US" sz="1400" b="1" dirty="0"/>
              <a:t> di studio </a:t>
            </a:r>
            <a:r>
              <a:rPr lang="en-US" sz="1400" b="1" dirty="0" err="1"/>
              <a:t>sono</a:t>
            </a:r>
            <a:r>
              <a:rPr lang="en-US" sz="1400" b="1" dirty="0"/>
              <a:t> </a:t>
            </a:r>
            <a:r>
              <a:rPr lang="en-US" sz="1400" b="1" dirty="0" err="1"/>
              <a:t>alte</a:t>
            </a:r>
            <a:r>
              <a:rPr lang="en-US" sz="1400" b="1" dirty="0"/>
              <a:t> (sopra le 30-40) </a:t>
            </a:r>
            <a:r>
              <a:rPr lang="en-US" sz="1400" b="1" dirty="0" err="1"/>
              <a:t>sia</a:t>
            </a:r>
            <a:r>
              <a:rPr lang="en-US" sz="1400" b="1" dirty="0"/>
              <a:t> la </a:t>
            </a:r>
            <a:r>
              <a:rPr lang="en-US" sz="1400" b="1" dirty="0" err="1"/>
              <a:t>proporzione</a:t>
            </a:r>
            <a:r>
              <a:rPr lang="en-US" sz="1400" b="1" dirty="0"/>
              <a:t> di studio </a:t>
            </a:r>
            <a:r>
              <a:rPr lang="en-US" sz="1400" b="1" dirty="0" err="1"/>
              <a:t>tradizionale</a:t>
            </a:r>
            <a:r>
              <a:rPr lang="en-US" sz="1400" b="1" dirty="0"/>
              <a:t> è </a:t>
            </a:r>
            <a:r>
              <a:rPr lang="en-US" sz="1400" b="1" dirty="0" err="1"/>
              <a:t>elevata</a:t>
            </a:r>
            <a:r>
              <a:rPr lang="en-US" sz="1400" b="1" dirty="0"/>
              <a:t> (asse X verso </a:t>
            </a:r>
            <a:r>
              <a:rPr lang="en-US" sz="1400" b="1" dirty="0" err="1"/>
              <a:t>destra</a:t>
            </a:r>
            <a:r>
              <a:rPr lang="en-US" sz="1400" b="1" dirty="0"/>
              <a:t>, da 0.6 a 1.0)</a:t>
            </a:r>
            <a:r>
              <a:rPr lang="en-US" sz="1400" dirty="0"/>
              <a:t>.</a:t>
            </a:r>
            <a:endParaRPr lang="en-US" dirty="0"/>
          </a:p>
          <a:p>
            <a:pPr marL="228600" indent="-228600">
              <a:buFont typeface=""/>
              <a:buChar char="•"/>
            </a:pPr>
            <a:endParaRPr lang="en-US" sz="1400" dirty="0"/>
          </a:p>
          <a:p>
            <a:pPr marL="228600" indent="-228600">
              <a:buFont typeface=""/>
              <a:buChar char="•"/>
            </a:pPr>
            <a:r>
              <a:rPr lang="en-US" sz="1400" b="1" dirty="0" err="1"/>
              <a:t>L'effetto</a:t>
            </a:r>
            <a:r>
              <a:rPr lang="en-US" sz="1400" b="1" dirty="0"/>
              <a:t> GenAI </a:t>
            </a:r>
            <a:r>
              <a:rPr lang="en-US" sz="1400" b="1" dirty="0" err="1"/>
              <a:t>dominante</a:t>
            </a:r>
            <a:r>
              <a:rPr lang="en-US" sz="1400" b="1" dirty="0"/>
              <a:t>:</a:t>
            </a:r>
            <a:r>
              <a:rPr lang="en-US" sz="1400" dirty="0"/>
              <a:t> Se lo studio è quasi </a:t>
            </a:r>
            <a:r>
              <a:rPr lang="en-US" sz="1400" dirty="0" err="1"/>
              <a:t>tutto</a:t>
            </a:r>
            <a:r>
              <a:rPr lang="en-US" sz="1400" dirty="0"/>
              <a:t> </a:t>
            </a:r>
            <a:r>
              <a:rPr lang="en-US" sz="1400" dirty="0" err="1"/>
              <a:t>basato</a:t>
            </a:r>
            <a:r>
              <a:rPr lang="en-US" sz="1400" dirty="0"/>
              <a:t> </a:t>
            </a:r>
            <a:r>
              <a:rPr lang="en-US" sz="1400" dirty="0" err="1"/>
              <a:t>su</a:t>
            </a:r>
            <a:r>
              <a:rPr lang="en-US" sz="1400" dirty="0"/>
              <a:t> GenAI (asse X , verso lo 0.0), </a:t>
            </a:r>
            <a:r>
              <a:rPr lang="en-US" sz="1400" dirty="0" err="1"/>
              <a:t>l'incremento</a:t>
            </a:r>
            <a:r>
              <a:rPr lang="en-US" sz="1400" dirty="0"/>
              <a:t> del GPA </a:t>
            </a:r>
            <a:r>
              <a:rPr lang="en-US" sz="1400" dirty="0" err="1"/>
              <a:t>rimane</a:t>
            </a:r>
            <a:r>
              <a:rPr lang="en-US" sz="1400" dirty="0"/>
              <a:t> basso o </a:t>
            </a:r>
            <a:r>
              <a:rPr lang="en-US" sz="1400" dirty="0" err="1"/>
              <a:t>negativo</a:t>
            </a:r>
            <a:r>
              <a:rPr lang="en-US" sz="1400" dirty="0"/>
              <a:t> (</a:t>
            </a:r>
            <a:r>
              <a:rPr lang="en-US" sz="1400" dirty="0" err="1"/>
              <a:t>colore</a:t>
            </a:r>
            <a:r>
              <a:rPr lang="en-US" sz="1400" dirty="0"/>
              <a:t> viola/</a:t>
            </a:r>
            <a:r>
              <a:rPr lang="en-US" sz="1400" dirty="0" err="1"/>
              <a:t>scuro</a:t>
            </a:r>
            <a:r>
              <a:rPr lang="en-US" sz="1400" dirty="0"/>
              <a:t>), </a:t>
            </a:r>
            <a:r>
              <a:rPr lang="en-US" sz="1400" dirty="0" err="1"/>
              <a:t>anche</a:t>
            </a:r>
            <a:r>
              <a:rPr lang="en-US" sz="1400" dirty="0"/>
              <a:t> se </a:t>
            </a:r>
            <a:r>
              <a:rPr lang="en-US" sz="1400" dirty="0" err="1"/>
              <a:t>si</a:t>
            </a:r>
            <a:r>
              <a:rPr lang="en-US" sz="1400" dirty="0"/>
              <a:t> </a:t>
            </a:r>
            <a:r>
              <a:rPr lang="en-US" sz="1400" dirty="0" err="1"/>
              <a:t>studiano</a:t>
            </a:r>
            <a:r>
              <a:rPr lang="en-US" sz="1400" dirty="0"/>
              <a:t> </a:t>
            </a:r>
            <a:r>
              <a:rPr lang="en-US" sz="1400" dirty="0" err="1"/>
              <a:t>molte</a:t>
            </a:r>
            <a:r>
              <a:rPr lang="en-US" sz="1400" dirty="0"/>
              <a:t> ore in </a:t>
            </a:r>
            <a:r>
              <a:rPr lang="en-US" sz="1400" dirty="0" err="1"/>
              <a:t>totale</a:t>
            </a:r>
            <a:r>
              <a:rPr lang="en-US" sz="1400" dirty="0"/>
              <a:t>.</a:t>
            </a:r>
          </a:p>
          <a:p>
            <a:pPr algn="ctr"/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2062929439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>
            <a:extLst>
              <a:ext uri="{FF2B5EF4-FFF2-40B4-BE49-F238E27FC236}">
                <a16:creationId xmlns:a16="http://schemas.microsoft.com/office/drawing/2014/main" id="{F3060C83-F051-4F0E-ABAD-AA0DFC48B21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Freeform: Shape 10">
            <a:extLst>
              <a:ext uri="{FF2B5EF4-FFF2-40B4-BE49-F238E27FC236}">
                <a16:creationId xmlns:a16="http://schemas.microsoft.com/office/drawing/2014/main" id="{83C98ABE-055B-441F-B07E-44F97F083C3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8900000" flipH="1">
            <a:off x="-376156" y="-253670"/>
            <a:ext cx="1827638" cy="1376989"/>
          </a:xfrm>
          <a:custGeom>
            <a:avLst/>
            <a:gdLst>
              <a:gd name="connsiteX0" fmla="*/ 0 w 1827638"/>
              <a:gd name="connsiteY0" fmla="*/ 987379 h 1376989"/>
              <a:gd name="connsiteX1" fmla="*/ 987379 w 1827638"/>
              <a:gd name="connsiteY1" fmla="*/ 0 h 1376989"/>
              <a:gd name="connsiteX2" fmla="*/ 1827638 w 1827638"/>
              <a:gd name="connsiteY2" fmla="*/ 840260 h 1376989"/>
              <a:gd name="connsiteX3" fmla="*/ 1827638 w 1827638"/>
              <a:gd name="connsiteY3" fmla="*/ 1376989 h 1376989"/>
              <a:gd name="connsiteX4" fmla="*/ 0 w 1827638"/>
              <a:gd name="connsiteY4" fmla="*/ 1376989 h 137698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827638" h="1376989">
                <a:moveTo>
                  <a:pt x="0" y="987379"/>
                </a:moveTo>
                <a:lnTo>
                  <a:pt x="987379" y="0"/>
                </a:lnTo>
                <a:lnTo>
                  <a:pt x="1827638" y="840260"/>
                </a:lnTo>
                <a:lnTo>
                  <a:pt x="1827638" y="1376989"/>
                </a:lnTo>
                <a:lnTo>
                  <a:pt x="0" y="1376989"/>
                </a:lnTo>
                <a:close/>
              </a:path>
            </a:pathLst>
          </a:custGeom>
          <a:solidFill>
            <a:schemeClr val="accent1"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29FDB030-9B49-4CED-8CCD-4D99382388A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8900000" flipH="1">
            <a:off x="891641" y="422146"/>
            <a:ext cx="645368" cy="645368"/>
          </a:xfrm>
          <a:prstGeom prst="rect">
            <a:avLst/>
          </a:prstGeom>
          <a:solidFill>
            <a:schemeClr val="accent1"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3783CA14-24A1-485C-8B30-D6A5D87987A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8900000" flipH="1">
            <a:off x="10043482" y="655140"/>
            <a:ext cx="687472" cy="687472"/>
          </a:xfrm>
          <a:prstGeom prst="rect">
            <a:avLst/>
          </a:prstGeom>
          <a:solidFill>
            <a:schemeClr val="accent4"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7" name="Freeform: Shape 16">
            <a:extLst>
              <a:ext uri="{FF2B5EF4-FFF2-40B4-BE49-F238E27FC236}">
                <a16:creationId xmlns:a16="http://schemas.microsoft.com/office/drawing/2014/main" id="{9A97C86A-04D6-40F7-AE84-31AB43E6A84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9356643" y="0"/>
            <a:ext cx="2835357" cy="1480837"/>
          </a:xfrm>
          <a:custGeom>
            <a:avLst/>
            <a:gdLst>
              <a:gd name="connsiteX0" fmla="*/ 2835357 w 2835357"/>
              <a:gd name="connsiteY0" fmla="*/ 1480837 h 1480837"/>
              <a:gd name="connsiteX1" fmla="*/ 0 w 2835357"/>
              <a:gd name="connsiteY1" fmla="*/ 1480837 h 1480837"/>
              <a:gd name="connsiteX2" fmla="*/ 1552727 w 2835357"/>
              <a:gd name="connsiteY2" fmla="*/ 0 h 1480837"/>
              <a:gd name="connsiteX3" fmla="*/ 2835357 w 2835357"/>
              <a:gd name="connsiteY3" fmla="*/ 1223245 h 148083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835357" h="1480837">
                <a:moveTo>
                  <a:pt x="2835357" y="1480837"/>
                </a:moveTo>
                <a:lnTo>
                  <a:pt x="0" y="1480837"/>
                </a:lnTo>
                <a:lnTo>
                  <a:pt x="1552727" y="0"/>
                </a:lnTo>
                <a:lnTo>
                  <a:pt x="2835357" y="1223245"/>
                </a:lnTo>
                <a:close/>
              </a:path>
            </a:pathLst>
          </a:custGeom>
          <a:solidFill>
            <a:schemeClr val="accent4"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19" name="Isosceles Triangle 18">
            <a:extLst>
              <a:ext uri="{FF2B5EF4-FFF2-40B4-BE49-F238E27FC236}">
                <a16:creationId xmlns:a16="http://schemas.microsoft.com/office/drawing/2014/main" id="{FF9F2414-84E8-453E-B1F3-389FDE8192D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7976344" y="6115501"/>
            <a:ext cx="1494513" cy="742499"/>
          </a:xfrm>
          <a:prstGeom prst="triangle">
            <a:avLst/>
          </a:prstGeom>
          <a:solidFill>
            <a:schemeClr val="accent1"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4" name="Immagine 3" descr="Immagine che contiene testo, schermata, linea, numero&#10;&#10;Il contenuto generato dall&amp;#39;IA potrebbe non essere corretto.">
            <a:extLst>
              <a:ext uri="{FF2B5EF4-FFF2-40B4-BE49-F238E27FC236}">
                <a16:creationId xmlns:a16="http://schemas.microsoft.com/office/drawing/2014/main" id="{D97B2949-4504-25DD-3228-1458D9D9954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459709" y="999475"/>
            <a:ext cx="7512803" cy="4920547"/>
          </a:xfrm>
          <a:prstGeom prst="rect">
            <a:avLst/>
          </a:prstGeom>
          <a:ln>
            <a:noFill/>
          </a:ln>
        </p:spPr>
      </p:pic>
      <p:sp>
        <p:nvSpPr>
          <p:cNvPr id="21" name="Isosceles Triangle 20">
            <a:extLst>
              <a:ext uri="{FF2B5EF4-FFF2-40B4-BE49-F238E27FC236}">
                <a16:creationId xmlns:a16="http://schemas.microsoft.com/office/drawing/2014/main" id="{3ECA69A1-7536-43AC-85EF-C7106179F5E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7604080" y="6453143"/>
            <a:ext cx="814903" cy="404857"/>
          </a:xfrm>
          <a:prstGeom prst="triangle">
            <a:avLst/>
          </a:prstGeom>
          <a:solidFill>
            <a:schemeClr val="accent1"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CasellaDiTesto 1">
            <a:extLst>
              <a:ext uri="{FF2B5EF4-FFF2-40B4-BE49-F238E27FC236}">
                <a16:creationId xmlns:a16="http://schemas.microsoft.com/office/drawing/2014/main" id="{4BC39812-E7ED-659C-BA66-BBED3DF836A2}"/>
              </a:ext>
            </a:extLst>
          </p:cNvPr>
          <p:cNvSpPr txBox="1"/>
          <p:nvPr/>
        </p:nvSpPr>
        <p:spPr>
          <a:xfrm>
            <a:off x="8493760" y="1579880"/>
            <a:ext cx="3789680" cy="4524315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marL="228600" indent="-228600">
              <a:buFont typeface=""/>
              <a:buChar char="•"/>
            </a:pPr>
            <a:r>
              <a:rPr lang="en-US" b="1"/>
              <a:t>L'aumento della dipendenza:</a:t>
            </a:r>
            <a:r>
              <a:rPr lang="en-US"/>
              <a:t> Più aumentano le ore settimanali di uso dell'IA (asse X), più sale linearmente la percezione psicologica di dipendenza da essa (linea tratteggiata nera).</a:t>
            </a:r>
          </a:p>
          <a:p>
            <a:pPr marL="228600" indent="-228600">
              <a:buFont typeface=""/>
              <a:buChar char="•"/>
            </a:pPr>
            <a:r>
              <a:rPr lang="en-US" b="1"/>
              <a:t>Ritenzione delle Competenze:</a:t>
            </a:r>
            <a:r>
              <a:rPr lang="en-US"/>
              <a:t> Nonostante l'uso massiccio e l'alta dipendenza, la stragrande maggioranza dei punti rimane di colore blu/azzurro (punteggi alti, tra 70 e 100). I punti rossi (bassa ritenzione, sotto 40) sono pochissimi e isolati solo ad altissime ore di utilizzo.</a:t>
            </a:r>
          </a:p>
          <a:p>
            <a:pPr algn="ctr"/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192025787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>
            <a:extLst>
              <a:ext uri="{FF2B5EF4-FFF2-40B4-BE49-F238E27FC236}">
                <a16:creationId xmlns:a16="http://schemas.microsoft.com/office/drawing/2014/main" id="{F3060C83-F051-4F0E-ABAD-AA0DFC48B21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Freeform: Shape 10">
            <a:extLst>
              <a:ext uri="{FF2B5EF4-FFF2-40B4-BE49-F238E27FC236}">
                <a16:creationId xmlns:a16="http://schemas.microsoft.com/office/drawing/2014/main" id="{83C98ABE-055B-441F-B07E-44F97F083C3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8900000" flipH="1">
            <a:off x="-376156" y="-253670"/>
            <a:ext cx="1827638" cy="1376989"/>
          </a:xfrm>
          <a:custGeom>
            <a:avLst/>
            <a:gdLst>
              <a:gd name="connsiteX0" fmla="*/ 0 w 1827638"/>
              <a:gd name="connsiteY0" fmla="*/ 987379 h 1376989"/>
              <a:gd name="connsiteX1" fmla="*/ 987379 w 1827638"/>
              <a:gd name="connsiteY1" fmla="*/ 0 h 1376989"/>
              <a:gd name="connsiteX2" fmla="*/ 1827638 w 1827638"/>
              <a:gd name="connsiteY2" fmla="*/ 840260 h 1376989"/>
              <a:gd name="connsiteX3" fmla="*/ 1827638 w 1827638"/>
              <a:gd name="connsiteY3" fmla="*/ 1376989 h 1376989"/>
              <a:gd name="connsiteX4" fmla="*/ 0 w 1827638"/>
              <a:gd name="connsiteY4" fmla="*/ 1376989 h 137698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827638" h="1376989">
                <a:moveTo>
                  <a:pt x="0" y="987379"/>
                </a:moveTo>
                <a:lnTo>
                  <a:pt x="987379" y="0"/>
                </a:lnTo>
                <a:lnTo>
                  <a:pt x="1827638" y="840260"/>
                </a:lnTo>
                <a:lnTo>
                  <a:pt x="1827638" y="1376989"/>
                </a:lnTo>
                <a:lnTo>
                  <a:pt x="0" y="1376989"/>
                </a:lnTo>
                <a:close/>
              </a:path>
            </a:pathLst>
          </a:custGeom>
          <a:solidFill>
            <a:schemeClr val="accent1"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29FDB030-9B49-4CED-8CCD-4D99382388A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8900000" flipH="1">
            <a:off x="891641" y="422146"/>
            <a:ext cx="645368" cy="645368"/>
          </a:xfrm>
          <a:prstGeom prst="rect">
            <a:avLst/>
          </a:prstGeom>
          <a:solidFill>
            <a:schemeClr val="accent1"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3783CA14-24A1-485C-8B30-D6A5D87987A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8900000" flipH="1">
            <a:off x="10043482" y="655140"/>
            <a:ext cx="687472" cy="687472"/>
          </a:xfrm>
          <a:prstGeom prst="rect">
            <a:avLst/>
          </a:prstGeom>
          <a:solidFill>
            <a:schemeClr val="accent4"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7" name="Freeform: Shape 16">
            <a:extLst>
              <a:ext uri="{FF2B5EF4-FFF2-40B4-BE49-F238E27FC236}">
                <a16:creationId xmlns:a16="http://schemas.microsoft.com/office/drawing/2014/main" id="{9A97C86A-04D6-40F7-AE84-31AB43E6A84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9356643" y="0"/>
            <a:ext cx="2835357" cy="1480837"/>
          </a:xfrm>
          <a:custGeom>
            <a:avLst/>
            <a:gdLst>
              <a:gd name="connsiteX0" fmla="*/ 2835357 w 2835357"/>
              <a:gd name="connsiteY0" fmla="*/ 1480837 h 1480837"/>
              <a:gd name="connsiteX1" fmla="*/ 0 w 2835357"/>
              <a:gd name="connsiteY1" fmla="*/ 1480837 h 1480837"/>
              <a:gd name="connsiteX2" fmla="*/ 1552727 w 2835357"/>
              <a:gd name="connsiteY2" fmla="*/ 0 h 1480837"/>
              <a:gd name="connsiteX3" fmla="*/ 2835357 w 2835357"/>
              <a:gd name="connsiteY3" fmla="*/ 1223245 h 148083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835357" h="1480837">
                <a:moveTo>
                  <a:pt x="2835357" y="1480837"/>
                </a:moveTo>
                <a:lnTo>
                  <a:pt x="0" y="1480837"/>
                </a:lnTo>
                <a:lnTo>
                  <a:pt x="1552727" y="0"/>
                </a:lnTo>
                <a:lnTo>
                  <a:pt x="2835357" y="1223245"/>
                </a:lnTo>
                <a:close/>
              </a:path>
            </a:pathLst>
          </a:custGeom>
          <a:solidFill>
            <a:schemeClr val="accent4"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19" name="Isosceles Triangle 18">
            <a:extLst>
              <a:ext uri="{FF2B5EF4-FFF2-40B4-BE49-F238E27FC236}">
                <a16:creationId xmlns:a16="http://schemas.microsoft.com/office/drawing/2014/main" id="{FF9F2414-84E8-453E-B1F3-389FDE8192D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7976344" y="6115501"/>
            <a:ext cx="1494513" cy="742499"/>
          </a:xfrm>
          <a:prstGeom prst="triangle">
            <a:avLst/>
          </a:prstGeom>
          <a:solidFill>
            <a:schemeClr val="accent1"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1" name="Isosceles Triangle 20">
            <a:extLst>
              <a:ext uri="{FF2B5EF4-FFF2-40B4-BE49-F238E27FC236}">
                <a16:creationId xmlns:a16="http://schemas.microsoft.com/office/drawing/2014/main" id="{3ECA69A1-7536-43AC-85EF-C7106179F5E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7604080" y="6453143"/>
            <a:ext cx="814903" cy="404857"/>
          </a:xfrm>
          <a:prstGeom prst="triangle">
            <a:avLst/>
          </a:prstGeom>
          <a:solidFill>
            <a:schemeClr val="accent1"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5" name="Immagine 4" descr="Immagine che contiene testo, schermata, diagramma&#10;&#10;Il contenuto generato dall&amp;#39;IA potrebbe non essere corretto.">
            <a:extLst>
              <a:ext uri="{FF2B5EF4-FFF2-40B4-BE49-F238E27FC236}">
                <a16:creationId xmlns:a16="http://schemas.microsoft.com/office/drawing/2014/main" id="{667A3F8E-01F8-CB49-C91F-AACAFE852E6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66558" y="288094"/>
            <a:ext cx="6751410" cy="6013299"/>
          </a:xfrm>
          <a:prstGeom prst="rect">
            <a:avLst/>
          </a:prstGeom>
        </p:spPr>
      </p:pic>
      <p:sp>
        <p:nvSpPr>
          <p:cNvPr id="3" name="CasellaDiTesto 2">
            <a:extLst>
              <a:ext uri="{FF2B5EF4-FFF2-40B4-BE49-F238E27FC236}">
                <a16:creationId xmlns:a16="http://schemas.microsoft.com/office/drawing/2014/main" id="{E06B9520-77EF-9920-47D8-B38E1A524874}"/>
              </a:ext>
            </a:extLst>
          </p:cNvPr>
          <p:cNvSpPr txBox="1"/>
          <p:nvPr/>
        </p:nvSpPr>
        <p:spPr>
          <a:xfrm>
            <a:off x="8727440" y="1711960"/>
            <a:ext cx="2936240" cy="3970318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marL="228600" indent="-228600">
              <a:buFont typeface=""/>
              <a:buChar char="•"/>
            </a:pPr>
            <a:r>
              <a:rPr lang="en-US" b="1">
                <a:latin typeface="Google Sans Text"/>
                <a:ea typeface="Google Sans Text"/>
                <a:cs typeface="Google Sans Text"/>
              </a:rPr>
              <a:t>La maggioranza:</a:t>
            </a:r>
            <a:r>
              <a:rPr lang="en-US">
                <a:latin typeface="Google Sans Text"/>
                <a:ea typeface="Google Sans Text"/>
                <a:cs typeface="Google Sans Text"/>
              </a:rPr>
              <a:t> Quasi tutti gli studenti usano l'IA pochissimo (0-5 ore) e hanno voti alti (3.0-4.0).</a:t>
            </a:r>
          </a:p>
          <a:p>
            <a:pPr marL="228600" indent="-228600">
              <a:buFont typeface=""/>
              <a:buChar char="•"/>
            </a:pPr>
            <a:r>
              <a:rPr lang="en-US" b="1">
                <a:latin typeface="Google Sans Text"/>
                <a:ea typeface="Google Sans Text"/>
                <a:cs typeface="Google Sans Text"/>
              </a:rPr>
              <a:t>Il fattore chiave (</a:t>
            </a:r>
            <a:r>
              <a:rPr lang="en-US" b="1" i="1">
                <a:latin typeface="Google Sans Text"/>
                <a:ea typeface="Google Sans Text"/>
                <a:cs typeface="Google Sans Text"/>
              </a:rPr>
              <a:t>Prompt Skill</a:t>
            </a:r>
            <a:r>
              <a:rPr lang="en-US" b="1">
                <a:latin typeface="Google Sans Text"/>
                <a:ea typeface="Google Sans Text"/>
                <a:cs typeface="Google Sans Text"/>
              </a:rPr>
              <a:t>):</a:t>
            </a:r>
            <a:r>
              <a:rPr lang="en-US">
                <a:latin typeface="Google Sans Text"/>
                <a:ea typeface="Google Sans Text"/>
                <a:cs typeface="Google Sans Text"/>
              </a:rPr>
              <a:t> Chi ha competenze avanzate (linea verde chiaro) ottiene stabilmente i voti migliori, a prescindere da quante ore usi l'IA. Chi è principiante o intermedio resta più in basso.</a:t>
            </a:r>
          </a:p>
          <a:p>
            <a:pPr algn="ctr"/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3753945257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>
            <a:extLst>
              <a:ext uri="{FF2B5EF4-FFF2-40B4-BE49-F238E27FC236}">
                <a16:creationId xmlns:a16="http://schemas.microsoft.com/office/drawing/2014/main" id="{F3060C83-F051-4F0E-ABAD-AA0DFC48B21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Freeform: Shape 10">
            <a:extLst>
              <a:ext uri="{FF2B5EF4-FFF2-40B4-BE49-F238E27FC236}">
                <a16:creationId xmlns:a16="http://schemas.microsoft.com/office/drawing/2014/main" id="{83C98ABE-055B-441F-B07E-44F97F083C3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8900000" flipH="1">
            <a:off x="-376156" y="-253670"/>
            <a:ext cx="1827638" cy="1376989"/>
          </a:xfrm>
          <a:custGeom>
            <a:avLst/>
            <a:gdLst>
              <a:gd name="connsiteX0" fmla="*/ 0 w 1827638"/>
              <a:gd name="connsiteY0" fmla="*/ 987379 h 1376989"/>
              <a:gd name="connsiteX1" fmla="*/ 987379 w 1827638"/>
              <a:gd name="connsiteY1" fmla="*/ 0 h 1376989"/>
              <a:gd name="connsiteX2" fmla="*/ 1827638 w 1827638"/>
              <a:gd name="connsiteY2" fmla="*/ 840260 h 1376989"/>
              <a:gd name="connsiteX3" fmla="*/ 1827638 w 1827638"/>
              <a:gd name="connsiteY3" fmla="*/ 1376989 h 1376989"/>
              <a:gd name="connsiteX4" fmla="*/ 0 w 1827638"/>
              <a:gd name="connsiteY4" fmla="*/ 1376989 h 137698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827638" h="1376989">
                <a:moveTo>
                  <a:pt x="0" y="987379"/>
                </a:moveTo>
                <a:lnTo>
                  <a:pt x="987379" y="0"/>
                </a:lnTo>
                <a:lnTo>
                  <a:pt x="1827638" y="840260"/>
                </a:lnTo>
                <a:lnTo>
                  <a:pt x="1827638" y="1376989"/>
                </a:lnTo>
                <a:lnTo>
                  <a:pt x="0" y="1376989"/>
                </a:lnTo>
                <a:close/>
              </a:path>
            </a:pathLst>
          </a:custGeom>
          <a:solidFill>
            <a:schemeClr val="accent1"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29FDB030-9B49-4CED-8CCD-4D99382388A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8900000" flipH="1">
            <a:off x="891641" y="422146"/>
            <a:ext cx="645368" cy="645368"/>
          </a:xfrm>
          <a:prstGeom prst="rect">
            <a:avLst/>
          </a:prstGeom>
          <a:solidFill>
            <a:schemeClr val="accent1"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3783CA14-24A1-485C-8B30-D6A5D87987A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8900000" flipH="1">
            <a:off x="10043482" y="655140"/>
            <a:ext cx="687472" cy="687472"/>
          </a:xfrm>
          <a:prstGeom prst="rect">
            <a:avLst/>
          </a:prstGeom>
          <a:solidFill>
            <a:schemeClr val="accent4"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7" name="Freeform: Shape 16">
            <a:extLst>
              <a:ext uri="{FF2B5EF4-FFF2-40B4-BE49-F238E27FC236}">
                <a16:creationId xmlns:a16="http://schemas.microsoft.com/office/drawing/2014/main" id="{9A97C86A-04D6-40F7-AE84-31AB43E6A84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9356643" y="0"/>
            <a:ext cx="2835357" cy="1480837"/>
          </a:xfrm>
          <a:custGeom>
            <a:avLst/>
            <a:gdLst>
              <a:gd name="connsiteX0" fmla="*/ 2835357 w 2835357"/>
              <a:gd name="connsiteY0" fmla="*/ 1480837 h 1480837"/>
              <a:gd name="connsiteX1" fmla="*/ 0 w 2835357"/>
              <a:gd name="connsiteY1" fmla="*/ 1480837 h 1480837"/>
              <a:gd name="connsiteX2" fmla="*/ 1552727 w 2835357"/>
              <a:gd name="connsiteY2" fmla="*/ 0 h 1480837"/>
              <a:gd name="connsiteX3" fmla="*/ 2835357 w 2835357"/>
              <a:gd name="connsiteY3" fmla="*/ 1223245 h 148083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835357" h="1480837">
                <a:moveTo>
                  <a:pt x="2835357" y="1480837"/>
                </a:moveTo>
                <a:lnTo>
                  <a:pt x="0" y="1480837"/>
                </a:lnTo>
                <a:lnTo>
                  <a:pt x="1552727" y="0"/>
                </a:lnTo>
                <a:lnTo>
                  <a:pt x="2835357" y="1223245"/>
                </a:lnTo>
                <a:close/>
              </a:path>
            </a:pathLst>
          </a:custGeom>
          <a:solidFill>
            <a:schemeClr val="accent4"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19" name="Isosceles Triangle 18">
            <a:extLst>
              <a:ext uri="{FF2B5EF4-FFF2-40B4-BE49-F238E27FC236}">
                <a16:creationId xmlns:a16="http://schemas.microsoft.com/office/drawing/2014/main" id="{FF9F2414-84E8-453E-B1F3-389FDE8192D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7976344" y="6115501"/>
            <a:ext cx="1494513" cy="742499"/>
          </a:xfrm>
          <a:prstGeom prst="triangle">
            <a:avLst/>
          </a:prstGeom>
          <a:solidFill>
            <a:schemeClr val="accent1"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4" name="Immagine 3" descr="Immagine che contiene testo, schermata, diagramma, Diagramma&#10;&#10;Il contenuto generato dall&amp;#39;IA potrebbe non essere corretto.">
            <a:extLst>
              <a:ext uri="{FF2B5EF4-FFF2-40B4-BE49-F238E27FC236}">
                <a16:creationId xmlns:a16="http://schemas.microsoft.com/office/drawing/2014/main" id="{D24CCFCF-26AC-A46E-74AA-11147F2DB7B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19795" y="441491"/>
            <a:ext cx="6596915" cy="5672052"/>
          </a:xfrm>
          <a:prstGeom prst="rect">
            <a:avLst/>
          </a:prstGeom>
          <a:ln>
            <a:noFill/>
          </a:ln>
        </p:spPr>
      </p:pic>
      <p:sp>
        <p:nvSpPr>
          <p:cNvPr id="21" name="Isosceles Triangle 20">
            <a:extLst>
              <a:ext uri="{FF2B5EF4-FFF2-40B4-BE49-F238E27FC236}">
                <a16:creationId xmlns:a16="http://schemas.microsoft.com/office/drawing/2014/main" id="{3ECA69A1-7536-43AC-85EF-C7106179F5E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7604080" y="6453143"/>
            <a:ext cx="814903" cy="404857"/>
          </a:xfrm>
          <a:prstGeom prst="triangle">
            <a:avLst/>
          </a:prstGeom>
          <a:solidFill>
            <a:schemeClr val="accent1"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CasellaDiTesto 2">
            <a:extLst>
              <a:ext uri="{FF2B5EF4-FFF2-40B4-BE49-F238E27FC236}">
                <a16:creationId xmlns:a16="http://schemas.microsoft.com/office/drawing/2014/main" id="{730E7E2A-7CC7-8CAA-E961-94E665244BFD}"/>
              </a:ext>
            </a:extLst>
          </p:cNvPr>
          <p:cNvSpPr txBox="1"/>
          <p:nvPr/>
        </p:nvSpPr>
        <p:spPr>
          <a:xfrm>
            <a:off x="8564880" y="1711960"/>
            <a:ext cx="3637280" cy="4524315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marL="228600" indent="-228600">
              <a:buFont typeface=""/>
              <a:buChar char="•"/>
            </a:pPr>
            <a:r>
              <a:rPr lang="en-US" b="1"/>
              <a:t>Meno abilità, più burnout:</a:t>
            </a:r>
            <a:r>
              <a:rPr lang="en-US"/>
              <a:t> Gli studenti principianti (</a:t>
            </a:r>
            <a:r>
              <a:rPr lang="en-US" i="1"/>
              <a:t>Beginner</a:t>
            </a:r>
            <a:r>
              <a:rPr lang="en-US"/>
              <a:t>, barra blu scuro) e intermedi (</a:t>
            </a:r>
            <a:r>
              <a:rPr lang="en-US" i="1"/>
              <a:t>Intermediate</a:t>
            </a:r>
            <a:r>
              <a:rPr lang="en-US"/>
              <a:t>, barra azzurra) sono i più numerosi in tutte le fasce di burnout, con un picco evidente nel rischio medio (</a:t>
            </a:r>
            <a:r>
              <a:rPr lang="en-US" i="1"/>
              <a:t>Medium</a:t>
            </a:r>
            <a:r>
              <a:rPr lang="en-US"/>
              <a:t>) e alto (</a:t>
            </a:r>
            <a:r>
              <a:rPr lang="en-US" i="1"/>
              <a:t>High</a:t>
            </a:r>
            <a:r>
              <a:rPr lang="en-US"/>
              <a:t>).</a:t>
            </a:r>
          </a:p>
          <a:p>
            <a:pPr marL="228600" indent="-228600">
              <a:buFont typeface=""/>
              <a:buChar char="•"/>
            </a:pPr>
            <a:r>
              <a:rPr lang="en-US" b="1"/>
              <a:t>Più abilità, meno stress:</a:t>
            </a:r>
            <a:r>
              <a:rPr lang="en-US"/>
              <a:t> Gli studenti con competenze avanzate (</a:t>
            </a:r>
            <a:r>
              <a:rPr lang="en-US" i="1"/>
              <a:t>Advanced</a:t>
            </a:r>
            <a:r>
              <a:rPr lang="en-US"/>
              <a:t>, barra verde) mostrano costantemente i numeri più bassi in assoluto di burnout in tutte le categorie di rischio.</a:t>
            </a:r>
          </a:p>
          <a:p>
            <a:pPr algn="ctr"/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4250733321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5B4E8B3-7D53-EBEF-AC6C-92F963E7C58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Freeform: Shape 10">
            <a:extLst>
              <a:ext uri="{FF2B5EF4-FFF2-40B4-BE49-F238E27FC236}">
                <a16:creationId xmlns:a16="http://schemas.microsoft.com/office/drawing/2014/main" id="{AA14987D-B5DF-8354-D7D8-687AFD184ED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8900000" flipH="1">
            <a:off x="-376156" y="-253670"/>
            <a:ext cx="1827638" cy="1376989"/>
          </a:xfrm>
          <a:custGeom>
            <a:avLst/>
            <a:gdLst>
              <a:gd name="connsiteX0" fmla="*/ 0 w 1827638"/>
              <a:gd name="connsiteY0" fmla="*/ 987379 h 1376989"/>
              <a:gd name="connsiteX1" fmla="*/ 987379 w 1827638"/>
              <a:gd name="connsiteY1" fmla="*/ 0 h 1376989"/>
              <a:gd name="connsiteX2" fmla="*/ 1827638 w 1827638"/>
              <a:gd name="connsiteY2" fmla="*/ 840260 h 1376989"/>
              <a:gd name="connsiteX3" fmla="*/ 1827638 w 1827638"/>
              <a:gd name="connsiteY3" fmla="*/ 1376989 h 1376989"/>
              <a:gd name="connsiteX4" fmla="*/ 0 w 1827638"/>
              <a:gd name="connsiteY4" fmla="*/ 1376989 h 137698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827638" h="1376989">
                <a:moveTo>
                  <a:pt x="0" y="987379"/>
                </a:moveTo>
                <a:lnTo>
                  <a:pt x="987379" y="0"/>
                </a:lnTo>
                <a:lnTo>
                  <a:pt x="1827638" y="840260"/>
                </a:lnTo>
                <a:lnTo>
                  <a:pt x="1827638" y="1376989"/>
                </a:lnTo>
                <a:lnTo>
                  <a:pt x="0" y="1376989"/>
                </a:lnTo>
                <a:close/>
              </a:path>
            </a:pathLst>
          </a:custGeom>
          <a:solidFill>
            <a:schemeClr val="accent1"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A3890B94-551F-433D-E98B-703AD7F8F50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8900000" flipH="1">
            <a:off x="891641" y="422146"/>
            <a:ext cx="645368" cy="645368"/>
          </a:xfrm>
          <a:prstGeom prst="rect">
            <a:avLst/>
          </a:prstGeom>
          <a:solidFill>
            <a:schemeClr val="accent1"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9731A692-A734-780A-7F12-3D30E2CCAAA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8900000" flipH="1">
            <a:off x="10043482" y="655140"/>
            <a:ext cx="687472" cy="687472"/>
          </a:xfrm>
          <a:prstGeom prst="rect">
            <a:avLst/>
          </a:prstGeom>
          <a:solidFill>
            <a:schemeClr val="accent4"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7" name="Freeform: Shape 16">
            <a:extLst>
              <a:ext uri="{FF2B5EF4-FFF2-40B4-BE49-F238E27FC236}">
                <a16:creationId xmlns:a16="http://schemas.microsoft.com/office/drawing/2014/main" id="{E8F5863D-197D-82C2-CF8E-BB74C68E97A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9356643" y="0"/>
            <a:ext cx="2835357" cy="1480837"/>
          </a:xfrm>
          <a:custGeom>
            <a:avLst/>
            <a:gdLst>
              <a:gd name="connsiteX0" fmla="*/ 2835357 w 2835357"/>
              <a:gd name="connsiteY0" fmla="*/ 1480837 h 1480837"/>
              <a:gd name="connsiteX1" fmla="*/ 0 w 2835357"/>
              <a:gd name="connsiteY1" fmla="*/ 1480837 h 1480837"/>
              <a:gd name="connsiteX2" fmla="*/ 1552727 w 2835357"/>
              <a:gd name="connsiteY2" fmla="*/ 0 h 1480837"/>
              <a:gd name="connsiteX3" fmla="*/ 2835357 w 2835357"/>
              <a:gd name="connsiteY3" fmla="*/ 1223245 h 148083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835357" h="1480837">
                <a:moveTo>
                  <a:pt x="2835357" y="1480837"/>
                </a:moveTo>
                <a:lnTo>
                  <a:pt x="0" y="1480837"/>
                </a:lnTo>
                <a:lnTo>
                  <a:pt x="1552727" y="0"/>
                </a:lnTo>
                <a:lnTo>
                  <a:pt x="2835357" y="1223245"/>
                </a:lnTo>
                <a:close/>
              </a:path>
            </a:pathLst>
          </a:custGeom>
          <a:solidFill>
            <a:schemeClr val="accent4"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19" name="Isosceles Triangle 18">
            <a:extLst>
              <a:ext uri="{FF2B5EF4-FFF2-40B4-BE49-F238E27FC236}">
                <a16:creationId xmlns:a16="http://schemas.microsoft.com/office/drawing/2014/main" id="{BE3D05A2-D332-FB91-9551-9D0042A8FD9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7976344" y="6115501"/>
            <a:ext cx="1494513" cy="742499"/>
          </a:xfrm>
          <a:prstGeom prst="triangle">
            <a:avLst/>
          </a:prstGeom>
          <a:solidFill>
            <a:schemeClr val="accent1"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1" name="Isosceles Triangle 20">
            <a:extLst>
              <a:ext uri="{FF2B5EF4-FFF2-40B4-BE49-F238E27FC236}">
                <a16:creationId xmlns:a16="http://schemas.microsoft.com/office/drawing/2014/main" id="{C44EB952-86DB-1EB9-594E-8507008115C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7604080" y="6453143"/>
            <a:ext cx="814903" cy="404857"/>
          </a:xfrm>
          <a:prstGeom prst="triangle">
            <a:avLst/>
          </a:prstGeom>
          <a:solidFill>
            <a:schemeClr val="accent1"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2" name="Immagine 1" descr="Immagine che contiene diagramma, testo, Diagramma, origami&#10;&#10;Il contenuto generato dall&amp;#39;IA potrebbe non essere corretto.">
            <a:extLst>
              <a:ext uri="{FF2B5EF4-FFF2-40B4-BE49-F238E27FC236}">
                <a16:creationId xmlns:a16="http://schemas.microsoft.com/office/drawing/2014/main" id="{144ECC27-F1A4-0773-224F-DF2209FA00D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54760" y="1477252"/>
            <a:ext cx="7403530" cy="4877278"/>
          </a:xfrm>
          <a:prstGeom prst="rect">
            <a:avLst/>
          </a:prstGeom>
        </p:spPr>
      </p:pic>
      <p:sp>
        <p:nvSpPr>
          <p:cNvPr id="3" name="CasellaDiTesto 2">
            <a:extLst>
              <a:ext uri="{FF2B5EF4-FFF2-40B4-BE49-F238E27FC236}">
                <a16:creationId xmlns:a16="http://schemas.microsoft.com/office/drawing/2014/main" id="{FB300E1A-03E1-4397-688F-35FC976F4222}"/>
              </a:ext>
            </a:extLst>
          </p:cNvPr>
          <p:cNvSpPr txBox="1"/>
          <p:nvPr/>
        </p:nvSpPr>
        <p:spPr>
          <a:xfrm>
            <a:off x="8500230" y="1708606"/>
            <a:ext cx="2802328" cy="6186309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marL="285750" indent="-285750">
              <a:buFont typeface="Arial"/>
              <a:buChar char="•"/>
            </a:pPr>
            <a:r>
              <a:rPr lang="it-IT" dirty="0"/>
              <a:t>Non si vedono particolari differenze per la </a:t>
            </a:r>
            <a:r>
              <a:rPr lang="it-IT"/>
              <a:t>maggior</a:t>
            </a:r>
            <a:r>
              <a:rPr lang="it-IT" dirty="0"/>
              <a:t> parte degli studenti. </a:t>
            </a:r>
          </a:p>
          <a:p>
            <a:pPr marL="285750" indent="-285750">
              <a:buFont typeface="Arial"/>
              <a:buChar char="•"/>
            </a:pPr>
            <a:endParaRPr lang="it-IT"/>
          </a:p>
          <a:p>
            <a:pPr marL="285750" indent="-285750">
              <a:buFont typeface="Arial"/>
              <a:buChar char="•"/>
            </a:pPr>
            <a:r>
              <a:rPr lang="it-IT"/>
              <a:t>C'è una correlazione tra chi riscontra un forte calo (fino al –0.75 di essere nella fascia de burnout High)</a:t>
            </a:r>
          </a:p>
          <a:p>
            <a:pPr marL="285750" indent="-285750">
              <a:buFont typeface="Arial"/>
              <a:buChar char="•"/>
            </a:pPr>
            <a:endParaRPr lang="it-IT"/>
          </a:p>
          <a:p>
            <a:pPr marL="285750" indent="-285750">
              <a:buFont typeface="Arial"/>
              <a:buChar char="•"/>
            </a:pPr>
            <a:r>
              <a:rPr lang="it-IT"/>
              <a:t>Avere un calo nella votazione maggiore di 0,5 è indice di un legame a medio/alto burnout.</a:t>
            </a:r>
          </a:p>
          <a:p>
            <a:pPr marL="285750" indent="-285750">
              <a:buFont typeface="Arial"/>
              <a:buChar char="•"/>
            </a:pPr>
            <a:endParaRPr lang="it-IT"/>
          </a:p>
          <a:p>
            <a:pPr marL="285750" indent="-285750">
              <a:buFont typeface="Arial"/>
              <a:buChar char="•"/>
            </a:pPr>
            <a:endParaRPr lang="it-IT" b="1"/>
          </a:p>
          <a:p>
            <a:endParaRPr lang="it-IT" b="1"/>
          </a:p>
          <a:p>
            <a:endParaRPr lang="it-IT"/>
          </a:p>
          <a:p>
            <a:endParaRPr lang="it-IT"/>
          </a:p>
          <a:p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2120888166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A15657B-6B45-F147-BDE0-0A242F7286F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Freeform: Shape 10">
            <a:extLst>
              <a:ext uri="{FF2B5EF4-FFF2-40B4-BE49-F238E27FC236}">
                <a16:creationId xmlns:a16="http://schemas.microsoft.com/office/drawing/2014/main" id="{07473368-520F-E8D8-91DB-2547DA3DA27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8900000" flipH="1">
            <a:off x="-376156" y="-253670"/>
            <a:ext cx="1827638" cy="1376989"/>
          </a:xfrm>
          <a:custGeom>
            <a:avLst/>
            <a:gdLst>
              <a:gd name="connsiteX0" fmla="*/ 0 w 1827638"/>
              <a:gd name="connsiteY0" fmla="*/ 987379 h 1376989"/>
              <a:gd name="connsiteX1" fmla="*/ 987379 w 1827638"/>
              <a:gd name="connsiteY1" fmla="*/ 0 h 1376989"/>
              <a:gd name="connsiteX2" fmla="*/ 1827638 w 1827638"/>
              <a:gd name="connsiteY2" fmla="*/ 840260 h 1376989"/>
              <a:gd name="connsiteX3" fmla="*/ 1827638 w 1827638"/>
              <a:gd name="connsiteY3" fmla="*/ 1376989 h 1376989"/>
              <a:gd name="connsiteX4" fmla="*/ 0 w 1827638"/>
              <a:gd name="connsiteY4" fmla="*/ 1376989 h 137698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827638" h="1376989">
                <a:moveTo>
                  <a:pt x="0" y="987379"/>
                </a:moveTo>
                <a:lnTo>
                  <a:pt x="987379" y="0"/>
                </a:lnTo>
                <a:lnTo>
                  <a:pt x="1827638" y="840260"/>
                </a:lnTo>
                <a:lnTo>
                  <a:pt x="1827638" y="1376989"/>
                </a:lnTo>
                <a:lnTo>
                  <a:pt x="0" y="1376989"/>
                </a:lnTo>
                <a:close/>
              </a:path>
            </a:pathLst>
          </a:custGeom>
          <a:solidFill>
            <a:schemeClr val="accent1"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6D92845F-F6FB-1961-046D-536F9404BFD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8900000" flipH="1">
            <a:off x="891641" y="422146"/>
            <a:ext cx="645368" cy="645368"/>
          </a:xfrm>
          <a:prstGeom prst="rect">
            <a:avLst/>
          </a:prstGeom>
          <a:solidFill>
            <a:schemeClr val="accent1"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5BD97E5C-ADCD-044A-6C31-80C7B8B0E2F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8900000" flipH="1">
            <a:off x="10043482" y="655140"/>
            <a:ext cx="687472" cy="687472"/>
          </a:xfrm>
          <a:prstGeom prst="rect">
            <a:avLst/>
          </a:prstGeom>
          <a:solidFill>
            <a:schemeClr val="accent4"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7" name="Freeform: Shape 16">
            <a:extLst>
              <a:ext uri="{FF2B5EF4-FFF2-40B4-BE49-F238E27FC236}">
                <a16:creationId xmlns:a16="http://schemas.microsoft.com/office/drawing/2014/main" id="{060FA651-6765-5A2F-F1CB-D9AAD6EEFCB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9356643" y="0"/>
            <a:ext cx="2835357" cy="1480837"/>
          </a:xfrm>
          <a:custGeom>
            <a:avLst/>
            <a:gdLst>
              <a:gd name="connsiteX0" fmla="*/ 2835357 w 2835357"/>
              <a:gd name="connsiteY0" fmla="*/ 1480837 h 1480837"/>
              <a:gd name="connsiteX1" fmla="*/ 0 w 2835357"/>
              <a:gd name="connsiteY1" fmla="*/ 1480837 h 1480837"/>
              <a:gd name="connsiteX2" fmla="*/ 1552727 w 2835357"/>
              <a:gd name="connsiteY2" fmla="*/ 0 h 1480837"/>
              <a:gd name="connsiteX3" fmla="*/ 2835357 w 2835357"/>
              <a:gd name="connsiteY3" fmla="*/ 1223245 h 148083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835357" h="1480837">
                <a:moveTo>
                  <a:pt x="2835357" y="1480837"/>
                </a:moveTo>
                <a:lnTo>
                  <a:pt x="0" y="1480837"/>
                </a:lnTo>
                <a:lnTo>
                  <a:pt x="1552727" y="0"/>
                </a:lnTo>
                <a:lnTo>
                  <a:pt x="2835357" y="1223245"/>
                </a:lnTo>
                <a:close/>
              </a:path>
            </a:pathLst>
          </a:custGeom>
          <a:solidFill>
            <a:schemeClr val="accent4"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19" name="Isosceles Triangle 18">
            <a:extLst>
              <a:ext uri="{FF2B5EF4-FFF2-40B4-BE49-F238E27FC236}">
                <a16:creationId xmlns:a16="http://schemas.microsoft.com/office/drawing/2014/main" id="{79539CC5-09D3-647A-BAAF-BC03563DFA4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7976344" y="6115501"/>
            <a:ext cx="1494513" cy="742499"/>
          </a:xfrm>
          <a:prstGeom prst="triangle">
            <a:avLst/>
          </a:prstGeom>
          <a:solidFill>
            <a:schemeClr val="accent1"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1" name="Isosceles Triangle 20">
            <a:extLst>
              <a:ext uri="{FF2B5EF4-FFF2-40B4-BE49-F238E27FC236}">
                <a16:creationId xmlns:a16="http://schemas.microsoft.com/office/drawing/2014/main" id="{503A0A02-CE45-CCEF-1BD7-5A344A185E0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7604080" y="6453143"/>
            <a:ext cx="814903" cy="404857"/>
          </a:xfrm>
          <a:prstGeom prst="triangle">
            <a:avLst/>
          </a:prstGeom>
          <a:solidFill>
            <a:schemeClr val="accent1"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CasellaDiTesto 2">
            <a:extLst>
              <a:ext uri="{FF2B5EF4-FFF2-40B4-BE49-F238E27FC236}">
                <a16:creationId xmlns:a16="http://schemas.microsoft.com/office/drawing/2014/main" id="{F75C26A7-D121-7710-EAF6-99D356A46675}"/>
              </a:ext>
            </a:extLst>
          </p:cNvPr>
          <p:cNvSpPr txBox="1"/>
          <p:nvPr/>
        </p:nvSpPr>
        <p:spPr>
          <a:xfrm>
            <a:off x="8761615" y="1002737"/>
            <a:ext cx="3245267" cy="2308324"/>
          </a:xfrm>
          <a:prstGeom prst="rect">
            <a:avLst/>
          </a:prstGeom>
          <a:solidFill>
            <a:schemeClr val="bg1"/>
          </a:solidFill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marL="285750" indent="-285750">
              <a:buFont typeface="Arial"/>
              <a:buChar char="•"/>
            </a:pPr>
            <a:r>
              <a:rPr lang="it-IT">
                <a:latin typeface="Aptos"/>
              </a:rPr>
              <a:t>Solo nella politica </a:t>
            </a:r>
            <a:r>
              <a:rPr lang="it-IT" err="1">
                <a:latin typeface="Aptos"/>
              </a:rPr>
              <a:t>Strict</a:t>
            </a:r>
            <a:r>
              <a:rPr lang="it-IT">
                <a:latin typeface="Aptos"/>
              </a:rPr>
              <a:t> Ban la "punta" del violino si estende stabilmente oltre il livello 10 di ansia, segno che il divieto assoluto genera casi di ansia acuta e patologica </a:t>
            </a:r>
            <a:endParaRPr lang="it-IT"/>
          </a:p>
          <a:p>
            <a:pPr algn="l"/>
            <a:endParaRPr lang="it-IT"/>
          </a:p>
        </p:txBody>
      </p:sp>
      <p:sp>
        <p:nvSpPr>
          <p:cNvPr id="5" name="CasellaDiTesto 4">
            <a:extLst>
              <a:ext uri="{FF2B5EF4-FFF2-40B4-BE49-F238E27FC236}">
                <a16:creationId xmlns:a16="http://schemas.microsoft.com/office/drawing/2014/main" id="{855C67F5-D258-0B85-F934-6F404E196B0C}"/>
              </a:ext>
            </a:extLst>
          </p:cNvPr>
          <p:cNvSpPr txBox="1"/>
          <p:nvPr/>
        </p:nvSpPr>
        <p:spPr>
          <a:xfrm>
            <a:off x="8761615" y="3431673"/>
            <a:ext cx="3236740" cy="3211207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marL="285750" indent="-285750">
              <a:buFont typeface="Arial"/>
              <a:buChar char="•"/>
            </a:pPr>
            <a:r>
              <a:rPr lang="it-IT">
                <a:latin typeface="Aptos"/>
              </a:rPr>
              <a:t>Negli altri due casi la distorsione della distribuzione hanno una distribuzione dell'ansia più bilanciata. </a:t>
            </a:r>
            <a:endParaRPr lang="it-IT"/>
          </a:p>
          <a:p>
            <a:pPr marL="285750" indent="-285750">
              <a:buFont typeface="Arial"/>
              <a:buChar char="•"/>
            </a:pPr>
            <a:endParaRPr lang="it-IT">
              <a:latin typeface="Aptos"/>
            </a:endParaRPr>
          </a:p>
          <a:p>
            <a:pPr marL="285750" indent="-285750">
              <a:buFont typeface="Arial"/>
              <a:buChar char="•"/>
            </a:pPr>
            <a:r>
              <a:rPr lang="it-IT">
                <a:latin typeface="Aptos"/>
              </a:rPr>
              <a:t>La forma seghettata suggerisci la tendenza dei partecipanti al test a inserire valori interi</a:t>
            </a:r>
            <a:endParaRPr lang="it-IT">
              <a:highlight>
                <a:srgbClr val="000000"/>
              </a:highlight>
              <a:latin typeface="Aptos"/>
            </a:endParaRPr>
          </a:p>
          <a:p>
            <a:pPr algn="l"/>
            <a:endParaRPr lang="it-IT"/>
          </a:p>
        </p:txBody>
      </p:sp>
      <p:pic>
        <p:nvPicPr>
          <p:cNvPr id="4" name="Immagine 3" descr="Immagine che contiene testo, diagramma&#10;&#10;Il contenuto generato dall&amp;#39;IA potrebbe non essere corretto.">
            <a:extLst>
              <a:ext uri="{FF2B5EF4-FFF2-40B4-BE49-F238E27FC236}">
                <a16:creationId xmlns:a16="http://schemas.microsoft.com/office/drawing/2014/main" id="{0D7A7F83-7C74-8058-335E-7C6B4C787DB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62718" y="1222793"/>
            <a:ext cx="7963620" cy="475746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13378195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65ABD1A-5A7C-0DD9-C276-8A976949414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Freeform: Shape 10">
            <a:extLst>
              <a:ext uri="{FF2B5EF4-FFF2-40B4-BE49-F238E27FC236}">
                <a16:creationId xmlns:a16="http://schemas.microsoft.com/office/drawing/2014/main" id="{D4EF38F3-3F75-6AC3-F26E-CF410D14221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8900000" flipH="1">
            <a:off x="-376156" y="-253670"/>
            <a:ext cx="1827638" cy="1376989"/>
          </a:xfrm>
          <a:custGeom>
            <a:avLst/>
            <a:gdLst>
              <a:gd name="connsiteX0" fmla="*/ 0 w 1827638"/>
              <a:gd name="connsiteY0" fmla="*/ 987379 h 1376989"/>
              <a:gd name="connsiteX1" fmla="*/ 987379 w 1827638"/>
              <a:gd name="connsiteY1" fmla="*/ 0 h 1376989"/>
              <a:gd name="connsiteX2" fmla="*/ 1827638 w 1827638"/>
              <a:gd name="connsiteY2" fmla="*/ 840260 h 1376989"/>
              <a:gd name="connsiteX3" fmla="*/ 1827638 w 1827638"/>
              <a:gd name="connsiteY3" fmla="*/ 1376989 h 1376989"/>
              <a:gd name="connsiteX4" fmla="*/ 0 w 1827638"/>
              <a:gd name="connsiteY4" fmla="*/ 1376989 h 137698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827638" h="1376989">
                <a:moveTo>
                  <a:pt x="0" y="987379"/>
                </a:moveTo>
                <a:lnTo>
                  <a:pt x="987379" y="0"/>
                </a:lnTo>
                <a:lnTo>
                  <a:pt x="1827638" y="840260"/>
                </a:lnTo>
                <a:lnTo>
                  <a:pt x="1827638" y="1376989"/>
                </a:lnTo>
                <a:lnTo>
                  <a:pt x="0" y="1376989"/>
                </a:lnTo>
                <a:close/>
              </a:path>
            </a:pathLst>
          </a:custGeom>
          <a:solidFill>
            <a:schemeClr val="accent1"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DF5C35EE-1BA9-21F0-BB9B-06988C14EDA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8900000" flipH="1">
            <a:off x="891641" y="422146"/>
            <a:ext cx="645368" cy="645368"/>
          </a:xfrm>
          <a:prstGeom prst="rect">
            <a:avLst/>
          </a:prstGeom>
          <a:solidFill>
            <a:schemeClr val="accent1"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4135A377-58A9-54EB-FB32-0B90F804BAB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8900000" flipH="1">
            <a:off x="10043482" y="655140"/>
            <a:ext cx="687472" cy="687472"/>
          </a:xfrm>
          <a:prstGeom prst="rect">
            <a:avLst/>
          </a:prstGeom>
          <a:solidFill>
            <a:schemeClr val="accent4"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7" name="Freeform: Shape 16">
            <a:extLst>
              <a:ext uri="{FF2B5EF4-FFF2-40B4-BE49-F238E27FC236}">
                <a16:creationId xmlns:a16="http://schemas.microsoft.com/office/drawing/2014/main" id="{A34AE739-23B0-0E45-6897-92DFF80B2DB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9356643" y="0"/>
            <a:ext cx="2835357" cy="1480837"/>
          </a:xfrm>
          <a:custGeom>
            <a:avLst/>
            <a:gdLst>
              <a:gd name="connsiteX0" fmla="*/ 2835357 w 2835357"/>
              <a:gd name="connsiteY0" fmla="*/ 1480837 h 1480837"/>
              <a:gd name="connsiteX1" fmla="*/ 0 w 2835357"/>
              <a:gd name="connsiteY1" fmla="*/ 1480837 h 1480837"/>
              <a:gd name="connsiteX2" fmla="*/ 1552727 w 2835357"/>
              <a:gd name="connsiteY2" fmla="*/ 0 h 1480837"/>
              <a:gd name="connsiteX3" fmla="*/ 2835357 w 2835357"/>
              <a:gd name="connsiteY3" fmla="*/ 1223245 h 148083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835357" h="1480837">
                <a:moveTo>
                  <a:pt x="2835357" y="1480837"/>
                </a:moveTo>
                <a:lnTo>
                  <a:pt x="0" y="1480837"/>
                </a:lnTo>
                <a:lnTo>
                  <a:pt x="1552727" y="0"/>
                </a:lnTo>
                <a:lnTo>
                  <a:pt x="2835357" y="1223245"/>
                </a:lnTo>
                <a:close/>
              </a:path>
            </a:pathLst>
          </a:custGeom>
          <a:solidFill>
            <a:schemeClr val="accent4"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19" name="Isosceles Triangle 18">
            <a:extLst>
              <a:ext uri="{FF2B5EF4-FFF2-40B4-BE49-F238E27FC236}">
                <a16:creationId xmlns:a16="http://schemas.microsoft.com/office/drawing/2014/main" id="{8F98F122-AA95-1600-4519-667005034C2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7976344" y="6115501"/>
            <a:ext cx="1494513" cy="742499"/>
          </a:xfrm>
          <a:prstGeom prst="triangle">
            <a:avLst/>
          </a:prstGeom>
          <a:solidFill>
            <a:schemeClr val="accent1"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1" name="Isosceles Triangle 20">
            <a:extLst>
              <a:ext uri="{FF2B5EF4-FFF2-40B4-BE49-F238E27FC236}">
                <a16:creationId xmlns:a16="http://schemas.microsoft.com/office/drawing/2014/main" id="{B6FE8F59-2003-3478-26AB-04D30B05B69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7604080" y="6453143"/>
            <a:ext cx="814903" cy="404857"/>
          </a:xfrm>
          <a:prstGeom prst="triangle">
            <a:avLst/>
          </a:prstGeom>
          <a:solidFill>
            <a:schemeClr val="accent1"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3" name="Immagine 2">
            <a:extLst>
              <a:ext uri="{FF2B5EF4-FFF2-40B4-BE49-F238E27FC236}">
                <a16:creationId xmlns:a16="http://schemas.microsoft.com/office/drawing/2014/main" id="{333EDFA9-A314-8926-8161-1E4AD99C4B0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77387" y="1208737"/>
            <a:ext cx="8327547" cy="5116543"/>
          </a:xfrm>
          <a:prstGeom prst="rect">
            <a:avLst/>
          </a:prstGeom>
        </p:spPr>
      </p:pic>
      <p:sp>
        <p:nvSpPr>
          <p:cNvPr id="4" name="CasellaDiTesto 3">
            <a:extLst>
              <a:ext uri="{FF2B5EF4-FFF2-40B4-BE49-F238E27FC236}">
                <a16:creationId xmlns:a16="http://schemas.microsoft.com/office/drawing/2014/main" id="{B1FA04CB-E577-0E98-2A5B-4692FC9D31FC}"/>
              </a:ext>
            </a:extLst>
          </p:cNvPr>
          <p:cNvSpPr txBox="1"/>
          <p:nvPr/>
        </p:nvSpPr>
        <p:spPr>
          <a:xfrm>
            <a:off x="9338254" y="738886"/>
            <a:ext cx="2855868" cy="6463308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marL="285750" indent="-285750">
              <a:buFont typeface="Arial"/>
              <a:buChar char="•"/>
            </a:pPr>
            <a:r>
              <a:rPr lang="it-IT">
                <a:ea typeface="+mn-lt"/>
                <a:cs typeface="+mn-lt"/>
              </a:rPr>
              <a:t>Tra le 10 e le 20 ore (La zona grigia di transizione), questo range rappresenta una fase critica in cui lo stress rischia di degenerare.</a:t>
            </a:r>
            <a:endParaRPr lang="it-IT"/>
          </a:p>
          <a:p>
            <a:pPr marL="285750" indent="-285750">
              <a:buFont typeface="Arial"/>
              <a:buChar char="•"/>
            </a:pPr>
            <a:endParaRPr lang="it-IT">
              <a:ea typeface="+mn-lt"/>
              <a:cs typeface="+mn-lt"/>
            </a:endParaRPr>
          </a:p>
          <a:p>
            <a:pPr marL="285750" indent="-285750">
              <a:buFont typeface="Arial"/>
              <a:buChar char="•"/>
            </a:pPr>
            <a:r>
              <a:rPr lang="it-IT"/>
              <a:t>Livelli alti di </a:t>
            </a:r>
            <a:r>
              <a:rPr lang="it-IT" err="1"/>
              <a:t>burnou</a:t>
            </a:r>
            <a:r>
              <a:rPr lang="it-IT"/>
              <a:t>t sono correlati con l'uso </a:t>
            </a:r>
            <a:r>
              <a:rPr lang="it-IT" err="1"/>
              <a:t>della ai</a:t>
            </a:r>
            <a:r>
              <a:rPr lang="it-IT"/>
              <a:t> superiore alle 20h</a:t>
            </a:r>
          </a:p>
          <a:p>
            <a:pPr marL="285750" indent="-285750">
              <a:buFont typeface="Arial"/>
              <a:buChar char="•"/>
            </a:pPr>
            <a:endParaRPr lang="it-IT"/>
          </a:p>
          <a:p>
            <a:pPr marL="285750" indent="-285750">
              <a:buFont typeface="Arial"/>
              <a:buChar char="•"/>
            </a:pPr>
            <a:r>
              <a:rPr lang="it-IT"/>
              <a:t>la base di tutti e tre i violini è schiacciata sullo zero. Significa che un uso minimo o nullo di </a:t>
            </a:r>
            <a:r>
              <a:rPr lang="it-IT" err="1"/>
              <a:t>GenAI</a:t>
            </a:r>
            <a:r>
              <a:rPr lang="it-IT"/>
              <a:t> (0-5 ore) è una condizione comune a tutti gli studenti</a:t>
            </a:r>
          </a:p>
          <a:p>
            <a:endParaRPr lang="it-IT"/>
          </a:p>
          <a:p>
            <a:endParaRPr lang="it-IT"/>
          </a:p>
          <a:p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3270617851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D6A4583-0A68-D1ED-024D-C4DF3C70A27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Freeform: Shape 10">
            <a:extLst>
              <a:ext uri="{FF2B5EF4-FFF2-40B4-BE49-F238E27FC236}">
                <a16:creationId xmlns:a16="http://schemas.microsoft.com/office/drawing/2014/main" id="{2547AD75-040F-F3E9-DBC3-7A19613C441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8900000" flipH="1">
            <a:off x="-376156" y="-253670"/>
            <a:ext cx="1827638" cy="1376989"/>
          </a:xfrm>
          <a:custGeom>
            <a:avLst/>
            <a:gdLst>
              <a:gd name="connsiteX0" fmla="*/ 0 w 1827638"/>
              <a:gd name="connsiteY0" fmla="*/ 987379 h 1376989"/>
              <a:gd name="connsiteX1" fmla="*/ 987379 w 1827638"/>
              <a:gd name="connsiteY1" fmla="*/ 0 h 1376989"/>
              <a:gd name="connsiteX2" fmla="*/ 1827638 w 1827638"/>
              <a:gd name="connsiteY2" fmla="*/ 840260 h 1376989"/>
              <a:gd name="connsiteX3" fmla="*/ 1827638 w 1827638"/>
              <a:gd name="connsiteY3" fmla="*/ 1376989 h 1376989"/>
              <a:gd name="connsiteX4" fmla="*/ 0 w 1827638"/>
              <a:gd name="connsiteY4" fmla="*/ 1376989 h 137698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827638" h="1376989">
                <a:moveTo>
                  <a:pt x="0" y="987379"/>
                </a:moveTo>
                <a:lnTo>
                  <a:pt x="987379" y="0"/>
                </a:lnTo>
                <a:lnTo>
                  <a:pt x="1827638" y="840260"/>
                </a:lnTo>
                <a:lnTo>
                  <a:pt x="1827638" y="1376989"/>
                </a:lnTo>
                <a:lnTo>
                  <a:pt x="0" y="1376989"/>
                </a:lnTo>
                <a:close/>
              </a:path>
            </a:pathLst>
          </a:custGeom>
          <a:solidFill>
            <a:schemeClr val="accent1"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A26ADF8C-386B-FFA6-D623-09D2D785775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8900000" flipH="1">
            <a:off x="891641" y="422146"/>
            <a:ext cx="645368" cy="645368"/>
          </a:xfrm>
          <a:prstGeom prst="rect">
            <a:avLst/>
          </a:prstGeom>
          <a:solidFill>
            <a:schemeClr val="accent1"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3BBBC675-E6A3-DF0E-FA16-E3B9377A5F8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8900000" flipH="1">
            <a:off x="10043482" y="655140"/>
            <a:ext cx="687472" cy="687472"/>
          </a:xfrm>
          <a:prstGeom prst="rect">
            <a:avLst/>
          </a:prstGeom>
          <a:solidFill>
            <a:schemeClr val="accent4"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7" name="Freeform: Shape 16">
            <a:extLst>
              <a:ext uri="{FF2B5EF4-FFF2-40B4-BE49-F238E27FC236}">
                <a16:creationId xmlns:a16="http://schemas.microsoft.com/office/drawing/2014/main" id="{0E9E45DC-20AD-D76E-0F80-DBCE3A9B376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9356643" y="0"/>
            <a:ext cx="2835357" cy="1480837"/>
          </a:xfrm>
          <a:custGeom>
            <a:avLst/>
            <a:gdLst>
              <a:gd name="connsiteX0" fmla="*/ 2835357 w 2835357"/>
              <a:gd name="connsiteY0" fmla="*/ 1480837 h 1480837"/>
              <a:gd name="connsiteX1" fmla="*/ 0 w 2835357"/>
              <a:gd name="connsiteY1" fmla="*/ 1480837 h 1480837"/>
              <a:gd name="connsiteX2" fmla="*/ 1552727 w 2835357"/>
              <a:gd name="connsiteY2" fmla="*/ 0 h 1480837"/>
              <a:gd name="connsiteX3" fmla="*/ 2835357 w 2835357"/>
              <a:gd name="connsiteY3" fmla="*/ 1223245 h 148083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835357" h="1480837">
                <a:moveTo>
                  <a:pt x="2835357" y="1480837"/>
                </a:moveTo>
                <a:lnTo>
                  <a:pt x="0" y="1480837"/>
                </a:lnTo>
                <a:lnTo>
                  <a:pt x="1552727" y="0"/>
                </a:lnTo>
                <a:lnTo>
                  <a:pt x="2835357" y="1223245"/>
                </a:lnTo>
                <a:close/>
              </a:path>
            </a:pathLst>
          </a:custGeom>
          <a:solidFill>
            <a:schemeClr val="accent4"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19" name="Isosceles Triangle 18">
            <a:extLst>
              <a:ext uri="{FF2B5EF4-FFF2-40B4-BE49-F238E27FC236}">
                <a16:creationId xmlns:a16="http://schemas.microsoft.com/office/drawing/2014/main" id="{89F2EA6A-272D-3D03-55E5-EA6117B65BA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7976344" y="6115501"/>
            <a:ext cx="1494513" cy="742499"/>
          </a:xfrm>
          <a:prstGeom prst="triangle">
            <a:avLst/>
          </a:prstGeom>
          <a:solidFill>
            <a:schemeClr val="accent1"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1" name="Isosceles Triangle 20">
            <a:extLst>
              <a:ext uri="{FF2B5EF4-FFF2-40B4-BE49-F238E27FC236}">
                <a16:creationId xmlns:a16="http://schemas.microsoft.com/office/drawing/2014/main" id="{674E20F2-5C4C-F64E-3B61-9FD3CE8BFB5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7604080" y="6453143"/>
            <a:ext cx="814903" cy="404857"/>
          </a:xfrm>
          <a:prstGeom prst="triangle">
            <a:avLst/>
          </a:prstGeom>
          <a:solidFill>
            <a:schemeClr val="accent1"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CasellaDiTesto 2">
            <a:extLst>
              <a:ext uri="{FF2B5EF4-FFF2-40B4-BE49-F238E27FC236}">
                <a16:creationId xmlns:a16="http://schemas.microsoft.com/office/drawing/2014/main" id="{8D172B17-37A7-6A54-28BD-A8539F8AE238}"/>
              </a:ext>
            </a:extLst>
          </p:cNvPr>
          <p:cNvSpPr txBox="1"/>
          <p:nvPr/>
        </p:nvSpPr>
        <p:spPr>
          <a:xfrm>
            <a:off x="930593" y="4978117"/>
            <a:ext cx="8289045" cy="1477328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marL="285750" indent="-285750">
              <a:buFont typeface="Arial"/>
              <a:buChar char="•"/>
            </a:pPr>
            <a:r>
              <a:rPr lang="it-IT"/>
              <a:t>chi passa poche ore settimanali a usare </a:t>
            </a:r>
            <a:r>
              <a:rPr lang="it-IT" err="1"/>
              <a:t>l'ai</a:t>
            </a:r>
            <a:r>
              <a:rPr lang="it-IT"/>
              <a:t> indipendentemente dal numero di ore di studio tradizionale manifesta bassi livelli di burnout</a:t>
            </a:r>
          </a:p>
          <a:p>
            <a:pPr marL="285750" indent="-285750">
              <a:buFont typeface="Arial"/>
              <a:buChar char="•"/>
            </a:pPr>
            <a:endParaRPr lang="it-IT"/>
          </a:p>
          <a:p>
            <a:pPr marL="285750" indent="-285750">
              <a:buFont typeface="Arial"/>
              <a:buChar char="•"/>
            </a:pPr>
            <a:r>
              <a:rPr lang="it-IT"/>
              <a:t>chi </a:t>
            </a:r>
            <a:r>
              <a:rPr lang="it-IT" err="1"/>
              <a:t>riscontra</a:t>
            </a:r>
            <a:r>
              <a:rPr lang="it-IT"/>
              <a:t> livelli medi e alti di burnout non ha un andamento definito di ore di studio tradizionali e uso </a:t>
            </a:r>
            <a:r>
              <a:rPr lang="it-IT" err="1"/>
              <a:t>della ai</a:t>
            </a:r>
            <a:endParaRPr lang="it-IT"/>
          </a:p>
        </p:txBody>
      </p:sp>
      <p:pic>
        <p:nvPicPr>
          <p:cNvPr id="5" name="Immagine 4" descr="Immagine che contiene testo, schermata, diagramma, Diagramma&#10;&#10;Il contenuto generato dall&amp;#39;IA potrebbe non essere corretto.">
            <a:extLst>
              <a:ext uri="{FF2B5EF4-FFF2-40B4-BE49-F238E27FC236}">
                <a16:creationId xmlns:a16="http://schemas.microsoft.com/office/drawing/2014/main" id="{B5ABCCB1-118D-5DC1-DE58-0F88C9CB007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52872" y="1001275"/>
            <a:ext cx="10547048" cy="37559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27270986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AEE87AA-0F9B-1DA2-9C62-B837C18C162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Freeform: Shape 10">
            <a:extLst>
              <a:ext uri="{FF2B5EF4-FFF2-40B4-BE49-F238E27FC236}">
                <a16:creationId xmlns:a16="http://schemas.microsoft.com/office/drawing/2014/main" id="{7D7D2135-CE3F-3AA6-DF0D-E4C6EF7ED50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8900000" flipH="1">
            <a:off x="-376156" y="-253670"/>
            <a:ext cx="1827638" cy="1376989"/>
          </a:xfrm>
          <a:custGeom>
            <a:avLst/>
            <a:gdLst>
              <a:gd name="connsiteX0" fmla="*/ 0 w 1827638"/>
              <a:gd name="connsiteY0" fmla="*/ 987379 h 1376989"/>
              <a:gd name="connsiteX1" fmla="*/ 987379 w 1827638"/>
              <a:gd name="connsiteY1" fmla="*/ 0 h 1376989"/>
              <a:gd name="connsiteX2" fmla="*/ 1827638 w 1827638"/>
              <a:gd name="connsiteY2" fmla="*/ 840260 h 1376989"/>
              <a:gd name="connsiteX3" fmla="*/ 1827638 w 1827638"/>
              <a:gd name="connsiteY3" fmla="*/ 1376989 h 1376989"/>
              <a:gd name="connsiteX4" fmla="*/ 0 w 1827638"/>
              <a:gd name="connsiteY4" fmla="*/ 1376989 h 137698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827638" h="1376989">
                <a:moveTo>
                  <a:pt x="0" y="987379"/>
                </a:moveTo>
                <a:lnTo>
                  <a:pt x="987379" y="0"/>
                </a:lnTo>
                <a:lnTo>
                  <a:pt x="1827638" y="840260"/>
                </a:lnTo>
                <a:lnTo>
                  <a:pt x="1827638" y="1376989"/>
                </a:lnTo>
                <a:lnTo>
                  <a:pt x="0" y="1376989"/>
                </a:lnTo>
                <a:close/>
              </a:path>
            </a:pathLst>
          </a:custGeom>
          <a:solidFill>
            <a:schemeClr val="accent1"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300E34A0-9BA2-69C4-D90E-73ABD418ED5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8900000" flipH="1">
            <a:off x="891641" y="422146"/>
            <a:ext cx="645368" cy="645368"/>
          </a:xfrm>
          <a:prstGeom prst="rect">
            <a:avLst/>
          </a:prstGeom>
          <a:solidFill>
            <a:schemeClr val="accent1"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6630BB0B-B1E7-FCA4-7CC9-CF3F649206F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8900000" flipH="1">
            <a:off x="10043482" y="655140"/>
            <a:ext cx="687472" cy="687472"/>
          </a:xfrm>
          <a:prstGeom prst="rect">
            <a:avLst/>
          </a:prstGeom>
          <a:solidFill>
            <a:schemeClr val="accent4"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7" name="Freeform: Shape 16">
            <a:extLst>
              <a:ext uri="{FF2B5EF4-FFF2-40B4-BE49-F238E27FC236}">
                <a16:creationId xmlns:a16="http://schemas.microsoft.com/office/drawing/2014/main" id="{C039DF0B-6BDA-B079-B0B4-49B1F186A53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9356643" y="0"/>
            <a:ext cx="2835357" cy="1480837"/>
          </a:xfrm>
          <a:custGeom>
            <a:avLst/>
            <a:gdLst>
              <a:gd name="connsiteX0" fmla="*/ 2835357 w 2835357"/>
              <a:gd name="connsiteY0" fmla="*/ 1480837 h 1480837"/>
              <a:gd name="connsiteX1" fmla="*/ 0 w 2835357"/>
              <a:gd name="connsiteY1" fmla="*/ 1480837 h 1480837"/>
              <a:gd name="connsiteX2" fmla="*/ 1552727 w 2835357"/>
              <a:gd name="connsiteY2" fmla="*/ 0 h 1480837"/>
              <a:gd name="connsiteX3" fmla="*/ 2835357 w 2835357"/>
              <a:gd name="connsiteY3" fmla="*/ 1223245 h 148083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835357" h="1480837">
                <a:moveTo>
                  <a:pt x="2835357" y="1480837"/>
                </a:moveTo>
                <a:lnTo>
                  <a:pt x="0" y="1480837"/>
                </a:lnTo>
                <a:lnTo>
                  <a:pt x="1552727" y="0"/>
                </a:lnTo>
                <a:lnTo>
                  <a:pt x="2835357" y="1223245"/>
                </a:lnTo>
                <a:close/>
              </a:path>
            </a:pathLst>
          </a:custGeom>
          <a:solidFill>
            <a:schemeClr val="accent4"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19" name="Isosceles Triangle 18">
            <a:extLst>
              <a:ext uri="{FF2B5EF4-FFF2-40B4-BE49-F238E27FC236}">
                <a16:creationId xmlns:a16="http://schemas.microsoft.com/office/drawing/2014/main" id="{CFDDD0CE-F0B5-E76B-9FE7-0BE15F7D7C1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7976344" y="6115501"/>
            <a:ext cx="1494513" cy="742499"/>
          </a:xfrm>
          <a:prstGeom prst="triangle">
            <a:avLst/>
          </a:prstGeom>
          <a:solidFill>
            <a:schemeClr val="accent1"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1" name="Isosceles Triangle 20">
            <a:extLst>
              <a:ext uri="{FF2B5EF4-FFF2-40B4-BE49-F238E27FC236}">
                <a16:creationId xmlns:a16="http://schemas.microsoft.com/office/drawing/2014/main" id="{84132EA3-7493-4319-C5F0-50C6101EC97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7604080" y="6453143"/>
            <a:ext cx="814903" cy="404857"/>
          </a:xfrm>
          <a:prstGeom prst="triangle">
            <a:avLst/>
          </a:prstGeom>
          <a:solidFill>
            <a:schemeClr val="accent1"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2" name="Immagine 1" descr="Immagine che contiene testo, schermata, Rettangolo, diagramma&#10;&#10;Il contenuto generato dall&amp;#39;IA potrebbe non essere corretto.">
            <a:extLst>
              <a:ext uri="{FF2B5EF4-FFF2-40B4-BE49-F238E27FC236}">
                <a16:creationId xmlns:a16="http://schemas.microsoft.com/office/drawing/2014/main" id="{35B92CA8-EAC4-014A-2357-0FC481228D5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07586" y="1697426"/>
            <a:ext cx="7651810" cy="4670844"/>
          </a:xfrm>
          <a:prstGeom prst="rect">
            <a:avLst/>
          </a:prstGeom>
        </p:spPr>
      </p:pic>
      <p:sp>
        <p:nvSpPr>
          <p:cNvPr id="3" name="CasellaDiTesto 2">
            <a:extLst>
              <a:ext uri="{FF2B5EF4-FFF2-40B4-BE49-F238E27FC236}">
                <a16:creationId xmlns:a16="http://schemas.microsoft.com/office/drawing/2014/main" id="{8B73DAB8-C748-5696-0D58-1966F6A17543}"/>
              </a:ext>
            </a:extLst>
          </p:cNvPr>
          <p:cNvSpPr txBox="1"/>
          <p:nvPr/>
        </p:nvSpPr>
        <p:spPr>
          <a:xfrm>
            <a:off x="7975582" y="533966"/>
            <a:ext cx="3945285" cy="6186309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l"/>
            <a:endParaRPr lang="it-IT"/>
          </a:p>
          <a:p>
            <a:endParaRPr lang="it-IT"/>
          </a:p>
          <a:p>
            <a:pPr marL="285750" indent="-285750">
              <a:buFont typeface="Arial"/>
              <a:buChar char="•"/>
            </a:pPr>
            <a:r>
              <a:rPr lang="it-IT">
                <a:ea typeface="+mn-lt"/>
                <a:cs typeface="+mn-lt"/>
              </a:rPr>
              <a:t>I Freshman (1) iniziano con un livello di burnout alto (il rosso sfiora il 28%). Questo è fisiologico e descrive lo shock da inserimento universitario, le prime sessioni d'esame e il cambio di metodo di studio.</a:t>
            </a:r>
          </a:p>
          <a:p>
            <a:pPr marL="285750" indent="-285750">
              <a:buFont typeface="Arial"/>
              <a:buChar char="•"/>
            </a:pPr>
            <a:endParaRPr lang="it-IT">
              <a:ea typeface="+mn-lt"/>
              <a:cs typeface="+mn-lt"/>
            </a:endParaRPr>
          </a:p>
          <a:p>
            <a:pPr marL="285750" indent="-285750">
              <a:buFont typeface="Arial"/>
              <a:buChar char="•"/>
            </a:pPr>
            <a:r>
              <a:rPr lang="it-IT" dirty="0">
                <a:ea typeface="+mn-lt"/>
                <a:cs typeface="+mn-lt"/>
              </a:rPr>
              <a:t>Nei </a:t>
            </a:r>
            <a:r>
              <a:rPr lang="it-IT" dirty="0" err="1">
                <a:ea typeface="+mn-lt"/>
                <a:cs typeface="+mn-lt"/>
              </a:rPr>
              <a:t>Sophomore</a:t>
            </a:r>
            <a:r>
              <a:rPr lang="it-IT" dirty="0">
                <a:ea typeface="+mn-lt"/>
                <a:cs typeface="+mn-lt"/>
              </a:rPr>
              <a:t> (2) e ancora di più </a:t>
            </a:r>
            <a:r>
              <a:rPr lang="it-IT" dirty="0" err="1">
                <a:ea typeface="+mn-lt"/>
                <a:cs typeface="+mn-lt"/>
              </a:rPr>
              <a:t>nei</a:t>
            </a:r>
            <a:r>
              <a:rPr lang="it-IT" dirty="0">
                <a:ea typeface="+mn-lt"/>
                <a:cs typeface="+mn-lt"/>
              </a:rPr>
              <a:t> Junior (3), la fascia rossa si restringe visibilmente, toccando il punto più basso (sotto il 20%). </a:t>
            </a:r>
          </a:p>
          <a:p>
            <a:pPr marL="285750" indent="-285750">
              <a:buFont typeface="Arial"/>
              <a:buChar char="•"/>
            </a:pPr>
            <a:endParaRPr lang="it-IT">
              <a:ea typeface="+mn-lt"/>
              <a:cs typeface="+mn-lt"/>
            </a:endParaRPr>
          </a:p>
          <a:p>
            <a:pPr marL="285750" indent="-285750">
              <a:buFont typeface="Arial"/>
              <a:buChar char="•"/>
            </a:pPr>
            <a:r>
              <a:rPr lang="it-IT" dirty="0">
                <a:ea typeface="+mn-lt"/>
                <a:cs typeface="+mn-lt"/>
              </a:rPr>
              <a:t>Parallelamente, </a:t>
            </a:r>
            <a:r>
              <a:rPr lang="it-IT" dirty="0" err="1">
                <a:ea typeface="+mn-lt"/>
                <a:cs typeface="+mn-lt"/>
              </a:rPr>
              <a:t>nei</a:t>
            </a:r>
            <a:r>
              <a:rPr lang="it-IT" dirty="0">
                <a:ea typeface="+mn-lt"/>
                <a:cs typeface="+mn-lt"/>
              </a:rPr>
              <a:t> Junior la fascia verde (Low) raggiunge la sua massima espansione (oltre il 40%). La fascia rossa (High) torna a espandersi, superando nuovamente il 20%</a:t>
            </a:r>
            <a:endParaRPr lang="it-IT" dirty="0"/>
          </a:p>
          <a:p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1266754711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>
            <a:extLst>
              <a:ext uri="{FF2B5EF4-FFF2-40B4-BE49-F238E27FC236}">
                <a16:creationId xmlns:a16="http://schemas.microsoft.com/office/drawing/2014/main" id="{F3060C83-F051-4F0E-ABAD-AA0DFC48B21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Freeform: Shape 10">
            <a:extLst>
              <a:ext uri="{FF2B5EF4-FFF2-40B4-BE49-F238E27FC236}">
                <a16:creationId xmlns:a16="http://schemas.microsoft.com/office/drawing/2014/main" id="{83C98ABE-055B-441F-B07E-44F97F083C3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8900000" flipH="1">
            <a:off x="-376156" y="-253670"/>
            <a:ext cx="1827638" cy="1376989"/>
          </a:xfrm>
          <a:custGeom>
            <a:avLst/>
            <a:gdLst>
              <a:gd name="connsiteX0" fmla="*/ 0 w 1827638"/>
              <a:gd name="connsiteY0" fmla="*/ 987379 h 1376989"/>
              <a:gd name="connsiteX1" fmla="*/ 987379 w 1827638"/>
              <a:gd name="connsiteY1" fmla="*/ 0 h 1376989"/>
              <a:gd name="connsiteX2" fmla="*/ 1827638 w 1827638"/>
              <a:gd name="connsiteY2" fmla="*/ 840260 h 1376989"/>
              <a:gd name="connsiteX3" fmla="*/ 1827638 w 1827638"/>
              <a:gd name="connsiteY3" fmla="*/ 1376989 h 1376989"/>
              <a:gd name="connsiteX4" fmla="*/ 0 w 1827638"/>
              <a:gd name="connsiteY4" fmla="*/ 1376989 h 137698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827638" h="1376989">
                <a:moveTo>
                  <a:pt x="0" y="987379"/>
                </a:moveTo>
                <a:lnTo>
                  <a:pt x="987379" y="0"/>
                </a:lnTo>
                <a:lnTo>
                  <a:pt x="1827638" y="840260"/>
                </a:lnTo>
                <a:lnTo>
                  <a:pt x="1827638" y="1376989"/>
                </a:lnTo>
                <a:lnTo>
                  <a:pt x="0" y="1376989"/>
                </a:lnTo>
                <a:close/>
              </a:path>
            </a:pathLst>
          </a:custGeom>
          <a:solidFill>
            <a:schemeClr val="accent1"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29FDB030-9B49-4CED-8CCD-4D99382388A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8900000" flipH="1">
            <a:off x="891641" y="422146"/>
            <a:ext cx="645368" cy="645368"/>
          </a:xfrm>
          <a:prstGeom prst="rect">
            <a:avLst/>
          </a:prstGeom>
          <a:solidFill>
            <a:schemeClr val="accent1"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3783CA14-24A1-485C-8B30-D6A5D87987A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8900000" flipH="1">
            <a:off x="10043482" y="655140"/>
            <a:ext cx="687472" cy="687472"/>
          </a:xfrm>
          <a:prstGeom prst="rect">
            <a:avLst/>
          </a:prstGeom>
          <a:solidFill>
            <a:schemeClr val="accent4"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7" name="Freeform: Shape 16">
            <a:extLst>
              <a:ext uri="{FF2B5EF4-FFF2-40B4-BE49-F238E27FC236}">
                <a16:creationId xmlns:a16="http://schemas.microsoft.com/office/drawing/2014/main" id="{9A97C86A-04D6-40F7-AE84-31AB43E6A84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9356643" y="0"/>
            <a:ext cx="2835357" cy="1480837"/>
          </a:xfrm>
          <a:custGeom>
            <a:avLst/>
            <a:gdLst>
              <a:gd name="connsiteX0" fmla="*/ 2835357 w 2835357"/>
              <a:gd name="connsiteY0" fmla="*/ 1480837 h 1480837"/>
              <a:gd name="connsiteX1" fmla="*/ 0 w 2835357"/>
              <a:gd name="connsiteY1" fmla="*/ 1480837 h 1480837"/>
              <a:gd name="connsiteX2" fmla="*/ 1552727 w 2835357"/>
              <a:gd name="connsiteY2" fmla="*/ 0 h 1480837"/>
              <a:gd name="connsiteX3" fmla="*/ 2835357 w 2835357"/>
              <a:gd name="connsiteY3" fmla="*/ 1223245 h 148083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835357" h="1480837">
                <a:moveTo>
                  <a:pt x="2835357" y="1480837"/>
                </a:moveTo>
                <a:lnTo>
                  <a:pt x="0" y="1480837"/>
                </a:lnTo>
                <a:lnTo>
                  <a:pt x="1552727" y="0"/>
                </a:lnTo>
                <a:lnTo>
                  <a:pt x="2835357" y="1223245"/>
                </a:lnTo>
                <a:close/>
              </a:path>
            </a:pathLst>
          </a:custGeom>
          <a:solidFill>
            <a:schemeClr val="accent4"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19" name="Isosceles Triangle 18">
            <a:extLst>
              <a:ext uri="{FF2B5EF4-FFF2-40B4-BE49-F238E27FC236}">
                <a16:creationId xmlns:a16="http://schemas.microsoft.com/office/drawing/2014/main" id="{FF9F2414-84E8-453E-B1F3-389FDE8192D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7976344" y="6115501"/>
            <a:ext cx="1494513" cy="742499"/>
          </a:xfrm>
          <a:prstGeom prst="triangle">
            <a:avLst/>
          </a:prstGeom>
          <a:solidFill>
            <a:schemeClr val="accent1"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4" name="Immagine 3" descr="Immagine che contiene testo, linea, diagramma, Parallelo&#10;&#10;Il contenuto generato dall&amp;#39;IA potrebbe non essere corretto.">
            <a:extLst>
              <a:ext uri="{FF2B5EF4-FFF2-40B4-BE49-F238E27FC236}">
                <a16:creationId xmlns:a16="http://schemas.microsoft.com/office/drawing/2014/main" id="{A5D40E7F-CC81-E7E1-F873-B0C9CDB5BC5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55114" y="269655"/>
            <a:ext cx="6857395" cy="6218046"/>
          </a:xfrm>
          <a:prstGeom prst="rect">
            <a:avLst/>
          </a:prstGeom>
          <a:ln>
            <a:noFill/>
          </a:ln>
        </p:spPr>
      </p:pic>
      <p:sp>
        <p:nvSpPr>
          <p:cNvPr id="21" name="Isosceles Triangle 20">
            <a:extLst>
              <a:ext uri="{FF2B5EF4-FFF2-40B4-BE49-F238E27FC236}">
                <a16:creationId xmlns:a16="http://schemas.microsoft.com/office/drawing/2014/main" id="{3ECA69A1-7536-43AC-85EF-C7106179F5E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7604080" y="6453143"/>
            <a:ext cx="814903" cy="404857"/>
          </a:xfrm>
          <a:prstGeom prst="triangle">
            <a:avLst/>
          </a:prstGeom>
          <a:solidFill>
            <a:schemeClr val="accent1"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CasellaDiTesto 4">
            <a:extLst>
              <a:ext uri="{FF2B5EF4-FFF2-40B4-BE49-F238E27FC236}">
                <a16:creationId xmlns:a16="http://schemas.microsoft.com/office/drawing/2014/main" id="{164484CB-ABBC-17AF-2AC8-951D5410CDA5}"/>
              </a:ext>
            </a:extLst>
          </p:cNvPr>
          <p:cNvSpPr txBox="1"/>
          <p:nvPr/>
        </p:nvSpPr>
        <p:spPr>
          <a:xfrm>
            <a:off x="7741490" y="765551"/>
            <a:ext cx="4223805" cy="4524315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marL="285750" indent="-285750">
              <a:buFont typeface="Arial"/>
              <a:buChar char="•"/>
            </a:pPr>
            <a:endParaRPr lang="it-IT"/>
          </a:p>
          <a:p>
            <a:pPr marL="285750" indent="-285750">
              <a:buFont typeface="Arial"/>
              <a:buChar char="•"/>
            </a:pPr>
            <a:r>
              <a:rPr lang="it-IT"/>
              <a:t>In alto si vede il numero di studenti che hanno inserito quel determinato valore di stress </a:t>
            </a:r>
          </a:p>
          <a:p>
            <a:pPr marL="285750" indent="-285750">
              <a:buFont typeface="Arial"/>
              <a:buChar char="•"/>
            </a:pPr>
            <a:endParaRPr lang="it-IT"/>
          </a:p>
          <a:p>
            <a:pPr marL="285750" indent="-285750">
              <a:buFont typeface="Arial"/>
              <a:buChar char="•"/>
            </a:pPr>
            <a:r>
              <a:rPr lang="it-IT"/>
              <a:t>La distribuzione della ritenzione è per tutti gaussiana con media discendente (linea rossa)</a:t>
            </a:r>
          </a:p>
          <a:p>
            <a:pPr marL="285750" indent="-285750">
              <a:buFont typeface="Arial"/>
              <a:buChar char="•"/>
            </a:pPr>
            <a:endParaRPr lang="it-IT"/>
          </a:p>
          <a:p>
            <a:pPr marL="285750" indent="-285750">
              <a:buFont typeface="Arial"/>
              <a:buChar char="•"/>
            </a:pPr>
            <a:r>
              <a:rPr lang="it-IT"/>
              <a:t>Ci sono pochi studenti che riscontrano alti livelli di ansia, ma quest'ultimi risentono di un calo nelle capacità di ritenzione (linea rossa)</a:t>
            </a:r>
          </a:p>
          <a:p>
            <a:pPr marL="285750" indent="-285750">
              <a:buFont typeface="Arial"/>
              <a:buChar char="•"/>
            </a:pPr>
            <a:endParaRPr lang="it-IT"/>
          </a:p>
          <a:p>
            <a:pPr marL="285750" indent="-285750">
              <a:buFont typeface="Arial"/>
              <a:buChar char="•"/>
            </a:pPr>
            <a:endParaRPr lang="it-IT"/>
          </a:p>
          <a:p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1021620497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>
            <a:extLst>
              <a:ext uri="{FF2B5EF4-FFF2-40B4-BE49-F238E27FC236}">
                <a16:creationId xmlns:a16="http://schemas.microsoft.com/office/drawing/2014/main" id="{F3060C83-F051-4F0E-ABAD-AA0DFC48B21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Freeform: Shape 10">
            <a:extLst>
              <a:ext uri="{FF2B5EF4-FFF2-40B4-BE49-F238E27FC236}">
                <a16:creationId xmlns:a16="http://schemas.microsoft.com/office/drawing/2014/main" id="{83C98ABE-055B-441F-B07E-44F97F083C3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8900000" flipH="1">
            <a:off x="-376156" y="-253670"/>
            <a:ext cx="1827638" cy="1376989"/>
          </a:xfrm>
          <a:custGeom>
            <a:avLst/>
            <a:gdLst>
              <a:gd name="connsiteX0" fmla="*/ 0 w 1827638"/>
              <a:gd name="connsiteY0" fmla="*/ 987379 h 1376989"/>
              <a:gd name="connsiteX1" fmla="*/ 987379 w 1827638"/>
              <a:gd name="connsiteY1" fmla="*/ 0 h 1376989"/>
              <a:gd name="connsiteX2" fmla="*/ 1827638 w 1827638"/>
              <a:gd name="connsiteY2" fmla="*/ 840260 h 1376989"/>
              <a:gd name="connsiteX3" fmla="*/ 1827638 w 1827638"/>
              <a:gd name="connsiteY3" fmla="*/ 1376989 h 1376989"/>
              <a:gd name="connsiteX4" fmla="*/ 0 w 1827638"/>
              <a:gd name="connsiteY4" fmla="*/ 1376989 h 137698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827638" h="1376989">
                <a:moveTo>
                  <a:pt x="0" y="987379"/>
                </a:moveTo>
                <a:lnTo>
                  <a:pt x="987379" y="0"/>
                </a:lnTo>
                <a:lnTo>
                  <a:pt x="1827638" y="840260"/>
                </a:lnTo>
                <a:lnTo>
                  <a:pt x="1827638" y="1376989"/>
                </a:lnTo>
                <a:lnTo>
                  <a:pt x="0" y="1376989"/>
                </a:lnTo>
                <a:close/>
              </a:path>
            </a:pathLst>
          </a:custGeom>
          <a:solidFill>
            <a:schemeClr val="accent1"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29FDB030-9B49-4CED-8CCD-4D99382388A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8900000" flipH="1">
            <a:off x="891641" y="422146"/>
            <a:ext cx="645368" cy="645368"/>
          </a:xfrm>
          <a:prstGeom prst="rect">
            <a:avLst/>
          </a:prstGeom>
          <a:solidFill>
            <a:schemeClr val="accent1"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3783CA14-24A1-485C-8B30-D6A5D87987A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8900000" flipH="1">
            <a:off x="10043482" y="655140"/>
            <a:ext cx="687472" cy="687472"/>
          </a:xfrm>
          <a:prstGeom prst="rect">
            <a:avLst/>
          </a:prstGeom>
          <a:solidFill>
            <a:schemeClr val="accent4"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7" name="Freeform: Shape 16">
            <a:extLst>
              <a:ext uri="{FF2B5EF4-FFF2-40B4-BE49-F238E27FC236}">
                <a16:creationId xmlns:a16="http://schemas.microsoft.com/office/drawing/2014/main" id="{9A97C86A-04D6-40F7-AE84-31AB43E6A84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9356643" y="0"/>
            <a:ext cx="2835357" cy="1480837"/>
          </a:xfrm>
          <a:custGeom>
            <a:avLst/>
            <a:gdLst>
              <a:gd name="connsiteX0" fmla="*/ 2835357 w 2835357"/>
              <a:gd name="connsiteY0" fmla="*/ 1480837 h 1480837"/>
              <a:gd name="connsiteX1" fmla="*/ 0 w 2835357"/>
              <a:gd name="connsiteY1" fmla="*/ 1480837 h 1480837"/>
              <a:gd name="connsiteX2" fmla="*/ 1552727 w 2835357"/>
              <a:gd name="connsiteY2" fmla="*/ 0 h 1480837"/>
              <a:gd name="connsiteX3" fmla="*/ 2835357 w 2835357"/>
              <a:gd name="connsiteY3" fmla="*/ 1223245 h 148083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835357" h="1480837">
                <a:moveTo>
                  <a:pt x="2835357" y="1480837"/>
                </a:moveTo>
                <a:lnTo>
                  <a:pt x="0" y="1480837"/>
                </a:lnTo>
                <a:lnTo>
                  <a:pt x="1552727" y="0"/>
                </a:lnTo>
                <a:lnTo>
                  <a:pt x="2835357" y="1223245"/>
                </a:lnTo>
                <a:close/>
              </a:path>
            </a:pathLst>
          </a:custGeom>
          <a:solidFill>
            <a:schemeClr val="accent4"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19" name="Isosceles Triangle 18">
            <a:extLst>
              <a:ext uri="{FF2B5EF4-FFF2-40B4-BE49-F238E27FC236}">
                <a16:creationId xmlns:a16="http://schemas.microsoft.com/office/drawing/2014/main" id="{FF9F2414-84E8-453E-B1F3-389FDE8192D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7976344" y="6115501"/>
            <a:ext cx="1494513" cy="742499"/>
          </a:xfrm>
          <a:prstGeom prst="triangle">
            <a:avLst/>
          </a:prstGeom>
          <a:solidFill>
            <a:schemeClr val="accent1"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4" name="Immagine 3" descr="Immagine che contiene testo, Diagramma&#10;&#10;Il contenuto generato dall&amp;#39;IA potrebbe non essere corretto.">
            <a:extLst>
              <a:ext uri="{FF2B5EF4-FFF2-40B4-BE49-F238E27FC236}">
                <a16:creationId xmlns:a16="http://schemas.microsoft.com/office/drawing/2014/main" id="{DF2EB23C-D4D2-DFC8-BEFF-978115889FF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62075" y="1218561"/>
            <a:ext cx="7519208" cy="4420878"/>
          </a:xfrm>
          <a:prstGeom prst="rect">
            <a:avLst/>
          </a:prstGeom>
          <a:ln>
            <a:noFill/>
          </a:ln>
        </p:spPr>
      </p:pic>
      <p:sp>
        <p:nvSpPr>
          <p:cNvPr id="21" name="Isosceles Triangle 20">
            <a:extLst>
              <a:ext uri="{FF2B5EF4-FFF2-40B4-BE49-F238E27FC236}">
                <a16:creationId xmlns:a16="http://schemas.microsoft.com/office/drawing/2014/main" id="{3ECA69A1-7536-43AC-85EF-C7106179F5E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7604080" y="6453143"/>
            <a:ext cx="814903" cy="404857"/>
          </a:xfrm>
          <a:prstGeom prst="triangle">
            <a:avLst/>
          </a:prstGeom>
          <a:solidFill>
            <a:schemeClr val="accent1"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CasellaDiTesto 4">
            <a:extLst>
              <a:ext uri="{FF2B5EF4-FFF2-40B4-BE49-F238E27FC236}">
                <a16:creationId xmlns:a16="http://schemas.microsoft.com/office/drawing/2014/main" id="{6709F683-AF06-70A4-218B-EC07545800BA}"/>
              </a:ext>
            </a:extLst>
          </p:cNvPr>
          <p:cNvSpPr txBox="1"/>
          <p:nvPr/>
        </p:nvSpPr>
        <p:spPr>
          <a:xfrm>
            <a:off x="8725851" y="2083650"/>
            <a:ext cx="2910345" cy="2308324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marL="285750" indent="-285750">
              <a:buFont typeface="Arial"/>
              <a:buChar char="•"/>
            </a:pPr>
            <a:r>
              <a:rPr lang="it-IT"/>
              <a:t>Livello d'ansia superiori a 8.5 è più probabile che ricada nel burnout </a:t>
            </a:r>
          </a:p>
          <a:p>
            <a:pPr marL="285750" indent="-285750">
              <a:buFont typeface="Arial"/>
              <a:buChar char="•"/>
            </a:pPr>
            <a:endParaRPr lang="it-IT"/>
          </a:p>
          <a:p>
            <a:pPr marL="285750" indent="-285750">
              <a:buFont typeface="Arial"/>
              <a:buChar char="•"/>
            </a:pPr>
            <a:r>
              <a:rPr lang="it-IT"/>
              <a:t>… e come mostrato prima subisca un calo di ritenzione  </a:t>
            </a:r>
          </a:p>
          <a:p>
            <a:pPr marL="285750" indent="-285750">
              <a:buFont typeface="Arial"/>
              <a:buChar char="•"/>
            </a:pPr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40083173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25" name="Rectangle 7">
            <a:extLst>
              <a:ext uri="{FF2B5EF4-FFF2-40B4-BE49-F238E27FC236}">
                <a16:creationId xmlns:a16="http://schemas.microsoft.com/office/drawing/2014/main" id="{BAD76F3E-3A97-486B-B402-44400A8B917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olo 1">
            <a:extLst>
              <a:ext uri="{FF2B5EF4-FFF2-40B4-BE49-F238E27FC236}">
                <a16:creationId xmlns:a16="http://schemas.microsoft.com/office/drawing/2014/main" id="{A854B907-7E18-F5F8-195D-9C2F29BB4AF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199" y="1093788"/>
            <a:ext cx="10506455" cy="2967208"/>
          </a:xfr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en-US" sz="8000" kern="1200">
                <a:solidFill>
                  <a:schemeClr val="tx1"/>
                </a:solidFill>
                <a:latin typeface="+mj-lt"/>
                <a:ea typeface="+mj-ea"/>
                <a:cs typeface="+mj-cs"/>
              </a:rPr>
              <a:t>Modelli addestrati</a:t>
            </a:r>
          </a:p>
        </p:txBody>
      </p:sp>
      <p:sp>
        <p:nvSpPr>
          <p:cNvPr id="3" name="Segnaposto contenuto 2">
            <a:extLst>
              <a:ext uri="{FF2B5EF4-FFF2-40B4-BE49-F238E27FC236}">
                <a16:creationId xmlns:a16="http://schemas.microsoft.com/office/drawing/2014/main" id="{A80EDC9E-75B5-D1A1-D1CE-CC878FE6026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7393526" y="3650478"/>
            <a:ext cx="3946779" cy="1038225"/>
          </a:xfrm>
        </p:spPr>
        <p:txBody>
          <a:bodyPr vert="horz" lIns="91440" tIns="45720" rIns="91440" bIns="45720" rtlCol="0" anchor="t">
            <a:normAutofit/>
          </a:bodyPr>
          <a:lstStyle/>
          <a:p>
            <a:pPr algn="r"/>
            <a:r>
              <a:rPr lang="en-US" sz="1400" dirty="0">
                <a:solidFill>
                  <a:schemeClr val="tx1"/>
                </a:solidFill>
              </a:rPr>
              <a:t>con  </a:t>
            </a:r>
            <a:r>
              <a:rPr lang="en-US" sz="1400" dirty="0" err="1">
                <a:solidFill>
                  <a:schemeClr val="tx1"/>
                </a:solidFill>
              </a:rPr>
              <a:t>XGBoost</a:t>
            </a:r>
            <a:endParaRPr lang="en-US" sz="1400" kern="1200">
              <a:solidFill>
                <a:schemeClr val="tx1"/>
              </a:solidFill>
              <a:latin typeface="+mn-lt"/>
            </a:endParaRPr>
          </a:p>
        </p:txBody>
      </p:sp>
      <p:sp>
        <p:nvSpPr>
          <p:cNvPr id="26" name="Rectangle 9">
            <a:extLst>
              <a:ext uri="{FF2B5EF4-FFF2-40B4-BE49-F238E27FC236}">
                <a16:creationId xmlns:a16="http://schemas.microsoft.com/office/drawing/2014/main" id="{391F6B52-91F4-4AEB-B6DB-29FEBCF28C8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841248" y="4331166"/>
            <a:ext cx="10506456" cy="18288"/>
          </a:xfrm>
          <a:prstGeom prst="rect">
            <a:avLst/>
          </a:prstGeom>
          <a:solidFill>
            <a:srgbClr val="D5D5D5"/>
          </a:solidFill>
          <a:ln w="3175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prstClr val="white"/>
              </a:solidFill>
              <a:latin typeface="Calibri" panose="020F0502020204030204"/>
            </a:endParaRPr>
          </a:p>
        </p:txBody>
      </p:sp>
      <p:sp>
        <p:nvSpPr>
          <p:cNvPr id="27" name="Rectangle 11">
            <a:extLst>
              <a:ext uri="{FF2B5EF4-FFF2-40B4-BE49-F238E27FC236}">
                <a16:creationId xmlns:a16="http://schemas.microsoft.com/office/drawing/2014/main" id="{2CD6F061-7C53-44F4-9794-953DB70A451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>
            <a:off x="9346882" y="2348839"/>
            <a:ext cx="54864" cy="394677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436694859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>
            <a:extLst>
              <a:ext uri="{FF2B5EF4-FFF2-40B4-BE49-F238E27FC236}">
                <a16:creationId xmlns:a16="http://schemas.microsoft.com/office/drawing/2014/main" id="{F3060C83-F051-4F0E-ABAD-AA0DFC48B21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Freeform: Shape 10">
            <a:extLst>
              <a:ext uri="{FF2B5EF4-FFF2-40B4-BE49-F238E27FC236}">
                <a16:creationId xmlns:a16="http://schemas.microsoft.com/office/drawing/2014/main" id="{83C98ABE-055B-441F-B07E-44F97F083C3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8900000" flipH="1">
            <a:off x="-376156" y="-253670"/>
            <a:ext cx="1827638" cy="1376989"/>
          </a:xfrm>
          <a:custGeom>
            <a:avLst/>
            <a:gdLst>
              <a:gd name="connsiteX0" fmla="*/ 0 w 1827638"/>
              <a:gd name="connsiteY0" fmla="*/ 987379 h 1376989"/>
              <a:gd name="connsiteX1" fmla="*/ 987379 w 1827638"/>
              <a:gd name="connsiteY1" fmla="*/ 0 h 1376989"/>
              <a:gd name="connsiteX2" fmla="*/ 1827638 w 1827638"/>
              <a:gd name="connsiteY2" fmla="*/ 840260 h 1376989"/>
              <a:gd name="connsiteX3" fmla="*/ 1827638 w 1827638"/>
              <a:gd name="connsiteY3" fmla="*/ 1376989 h 1376989"/>
              <a:gd name="connsiteX4" fmla="*/ 0 w 1827638"/>
              <a:gd name="connsiteY4" fmla="*/ 1376989 h 137698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827638" h="1376989">
                <a:moveTo>
                  <a:pt x="0" y="987379"/>
                </a:moveTo>
                <a:lnTo>
                  <a:pt x="987379" y="0"/>
                </a:lnTo>
                <a:lnTo>
                  <a:pt x="1827638" y="840260"/>
                </a:lnTo>
                <a:lnTo>
                  <a:pt x="1827638" y="1376989"/>
                </a:lnTo>
                <a:lnTo>
                  <a:pt x="0" y="1376989"/>
                </a:lnTo>
                <a:close/>
              </a:path>
            </a:pathLst>
          </a:custGeom>
          <a:solidFill>
            <a:schemeClr val="accent1"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29FDB030-9B49-4CED-8CCD-4D99382388A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8900000" flipH="1">
            <a:off x="891641" y="422146"/>
            <a:ext cx="645368" cy="645368"/>
          </a:xfrm>
          <a:prstGeom prst="rect">
            <a:avLst/>
          </a:prstGeom>
          <a:solidFill>
            <a:schemeClr val="accent1"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3783CA14-24A1-485C-8B30-D6A5D87987A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8900000" flipH="1">
            <a:off x="10043482" y="655140"/>
            <a:ext cx="687472" cy="687472"/>
          </a:xfrm>
          <a:prstGeom prst="rect">
            <a:avLst/>
          </a:prstGeom>
          <a:solidFill>
            <a:schemeClr val="accent4"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7" name="Freeform: Shape 16">
            <a:extLst>
              <a:ext uri="{FF2B5EF4-FFF2-40B4-BE49-F238E27FC236}">
                <a16:creationId xmlns:a16="http://schemas.microsoft.com/office/drawing/2014/main" id="{9A97C86A-04D6-40F7-AE84-31AB43E6A84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9356643" y="0"/>
            <a:ext cx="2835357" cy="1480837"/>
          </a:xfrm>
          <a:custGeom>
            <a:avLst/>
            <a:gdLst>
              <a:gd name="connsiteX0" fmla="*/ 2835357 w 2835357"/>
              <a:gd name="connsiteY0" fmla="*/ 1480837 h 1480837"/>
              <a:gd name="connsiteX1" fmla="*/ 0 w 2835357"/>
              <a:gd name="connsiteY1" fmla="*/ 1480837 h 1480837"/>
              <a:gd name="connsiteX2" fmla="*/ 1552727 w 2835357"/>
              <a:gd name="connsiteY2" fmla="*/ 0 h 1480837"/>
              <a:gd name="connsiteX3" fmla="*/ 2835357 w 2835357"/>
              <a:gd name="connsiteY3" fmla="*/ 1223245 h 148083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835357" h="1480837">
                <a:moveTo>
                  <a:pt x="2835357" y="1480837"/>
                </a:moveTo>
                <a:lnTo>
                  <a:pt x="0" y="1480837"/>
                </a:lnTo>
                <a:lnTo>
                  <a:pt x="1552727" y="0"/>
                </a:lnTo>
                <a:lnTo>
                  <a:pt x="2835357" y="1223245"/>
                </a:lnTo>
                <a:close/>
              </a:path>
            </a:pathLst>
          </a:custGeom>
          <a:solidFill>
            <a:schemeClr val="accent4"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19" name="Isosceles Triangle 18">
            <a:extLst>
              <a:ext uri="{FF2B5EF4-FFF2-40B4-BE49-F238E27FC236}">
                <a16:creationId xmlns:a16="http://schemas.microsoft.com/office/drawing/2014/main" id="{FF9F2414-84E8-453E-B1F3-389FDE8192D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7976344" y="6115501"/>
            <a:ext cx="1494513" cy="742499"/>
          </a:xfrm>
          <a:prstGeom prst="triangle">
            <a:avLst/>
          </a:prstGeom>
          <a:solidFill>
            <a:schemeClr val="accent1"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4" name="Immagine 3" descr="Immagine che contiene testo, schermata, Policromia, diagramma&#10;&#10;Il contenuto generato dall&amp;#39;IA potrebbe non essere corretto.">
            <a:extLst>
              <a:ext uri="{FF2B5EF4-FFF2-40B4-BE49-F238E27FC236}">
                <a16:creationId xmlns:a16="http://schemas.microsoft.com/office/drawing/2014/main" id="{C5C59561-5C04-B6C0-4CD5-CEE07E8C0DA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60234" y="1199847"/>
            <a:ext cx="8154755" cy="5019523"/>
          </a:xfrm>
          <a:prstGeom prst="rect">
            <a:avLst/>
          </a:prstGeom>
          <a:ln>
            <a:noFill/>
          </a:ln>
        </p:spPr>
      </p:pic>
      <p:sp>
        <p:nvSpPr>
          <p:cNvPr id="21" name="Isosceles Triangle 20">
            <a:extLst>
              <a:ext uri="{FF2B5EF4-FFF2-40B4-BE49-F238E27FC236}">
                <a16:creationId xmlns:a16="http://schemas.microsoft.com/office/drawing/2014/main" id="{3ECA69A1-7536-43AC-85EF-C7106179F5E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7604080" y="6453143"/>
            <a:ext cx="814903" cy="404857"/>
          </a:xfrm>
          <a:prstGeom prst="triangle">
            <a:avLst/>
          </a:prstGeom>
          <a:solidFill>
            <a:schemeClr val="accent1"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CasellaDiTesto 5">
            <a:extLst>
              <a:ext uri="{FF2B5EF4-FFF2-40B4-BE49-F238E27FC236}">
                <a16:creationId xmlns:a16="http://schemas.microsoft.com/office/drawing/2014/main" id="{448AA850-2B4A-1A87-802C-CA0654344F11}"/>
              </a:ext>
            </a:extLst>
          </p:cNvPr>
          <p:cNvSpPr txBox="1"/>
          <p:nvPr/>
        </p:nvSpPr>
        <p:spPr>
          <a:xfrm>
            <a:off x="9045530" y="1389558"/>
            <a:ext cx="2687887" cy="5909310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marL="285750" indent="-285750">
              <a:buFont typeface="Arial"/>
              <a:buChar char="•"/>
            </a:pPr>
            <a:r>
              <a:rPr lang="it-IT"/>
              <a:t>Ogni plot corrisponde ad un modello diverso. </a:t>
            </a:r>
          </a:p>
          <a:p>
            <a:endParaRPr lang="it-IT"/>
          </a:p>
          <a:p>
            <a:pPr marL="285750" indent="-285750">
              <a:buFont typeface="Arial"/>
              <a:buChar char="•"/>
            </a:pPr>
            <a:r>
              <a:rPr lang="it-IT"/>
              <a:t>I modelli addestrati su singolo major hanno comportamenti simili.</a:t>
            </a:r>
          </a:p>
          <a:p>
            <a:endParaRPr lang="it-IT"/>
          </a:p>
          <a:p>
            <a:pPr marL="285750" indent="-285750">
              <a:buFont typeface="Arial"/>
              <a:buChar char="•"/>
            </a:pPr>
            <a:r>
              <a:rPr lang="it-IT" dirty="0"/>
              <a:t>Il modello </a:t>
            </a:r>
            <a:r>
              <a:rPr lang="it-IT" dirty="0" err="1"/>
              <a:t>addestrato  su</a:t>
            </a:r>
            <a:r>
              <a:rPr lang="it-IT" dirty="0"/>
              <a:t> tutti i major ottiene R2 e MAE migliori per ogni major.</a:t>
            </a:r>
          </a:p>
          <a:p>
            <a:pPr marL="285750" indent="-285750">
              <a:buFont typeface="Arial"/>
              <a:buChar char="•"/>
            </a:pPr>
            <a:endParaRPr lang="it-IT" dirty="0"/>
          </a:p>
          <a:p>
            <a:pPr marL="285750" indent="-285750">
              <a:buFont typeface="Arial"/>
              <a:buChar char="•"/>
            </a:pPr>
            <a:r>
              <a:rPr lang="it-IT"/>
              <a:t>Pulizia minima dei dati</a:t>
            </a:r>
            <a:endParaRPr lang="it-IT" dirty="0"/>
          </a:p>
          <a:p>
            <a:pPr marL="285750" indent="-285750">
              <a:buFont typeface="Arial"/>
              <a:buChar char="•"/>
            </a:pPr>
            <a:endParaRPr lang="it-IT" dirty="0"/>
          </a:p>
          <a:p>
            <a:pPr marL="285750" indent="-285750">
              <a:buFont typeface="Arial"/>
              <a:buChar char="•"/>
            </a:pPr>
            <a:r>
              <a:rPr lang="it-IT" dirty="0"/>
              <a:t>Feat</a:t>
            </a:r>
            <a:r>
              <a:rPr lang="it-IT"/>
              <a:t>ure engineering in corso</a:t>
            </a:r>
            <a:endParaRPr lang="it-IT" dirty="0"/>
          </a:p>
          <a:p>
            <a:endParaRPr lang="it-IT"/>
          </a:p>
          <a:p>
            <a:pPr marL="285750" indent="-285750">
              <a:buFont typeface="Arial"/>
              <a:buChar char="•"/>
            </a:pPr>
            <a:endParaRPr lang="it-IT"/>
          </a:p>
          <a:p>
            <a:endParaRPr lang="it-IT"/>
          </a:p>
          <a:p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1124885310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Rectangle 8">
            <a:extLst>
              <a:ext uri="{FF2B5EF4-FFF2-40B4-BE49-F238E27FC236}">
                <a16:creationId xmlns:a16="http://schemas.microsoft.com/office/drawing/2014/main" id="{F3060C83-F051-4F0E-ABAD-AA0DFC48B21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0" name="Freeform: Shape 10">
            <a:extLst>
              <a:ext uri="{FF2B5EF4-FFF2-40B4-BE49-F238E27FC236}">
                <a16:creationId xmlns:a16="http://schemas.microsoft.com/office/drawing/2014/main" id="{83C98ABE-055B-441F-B07E-44F97F083C3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8900000" flipH="1">
            <a:off x="-376156" y="-253670"/>
            <a:ext cx="1827638" cy="1376989"/>
          </a:xfrm>
          <a:custGeom>
            <a:avLst/>
            <a:gdLst>
              <a:gd name="connsiteX0" fmla="*/ 0 w 1827638"/>
              <a:gd name="connsiteY0" fmla="*/ 987379 h 1376989"/>
              <a:gd name="connsiteX1" fmla="*/ 987379 w 1827638"/>
              <a:gd name="connsiteY1" fmla="*/ 0 h 1376989"/>
              <a:gd name="connsiteX2" fmla="*/ 1827638 w 1827638"/>
              <a:gd name="connsiteY2" fmla="*/ 840260 h 1376989"/>
              <a:gd name="connsiteX3" fmla="*/ 1827638 w 1827638"/>
              <a:gd name="connsiteY3" fmla="*/ 1376989 h 1376989"/>
              <a:gd name="connsiteX4" fmla="*/ 0 w 1827638"/>
              <a:gd name="connsiteY4" fmla="*/ 1376989 h 137698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827638" h="1376989">
                <a:moveTo>
                  <a:pt x="0" y="987379"/>
                </a:moveTo>
                <a:lnTo>
                  <a:pt x="987379" y="0"/>
                </a:lnTo>
                <a:lnTo>
                  <a:pt x="1827638" y="840260"/>
                </a:lnTo>
                <a:lnTo>
                  <a:pt x="1827638" y="1376989"/>
                </a:lnTo>
                <a:lnTo>
                  <a:pt x="0" y="1376989"/>
                </a:lnTo>
                <a:close/>
              </a:path>
            </a:pathLst>
          </a:custGeom>
          <a:solidFill>
            <a:schemeClr val="accent1"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1" name="Rectangle 12">
            <a:extLst>
              <a:ext uri="{FF2B5EF4-FFF2-40B4-BE49-F238E27FC236}">
                <a16:creationId xmlns:a16="http://schemas.microsoft.com/office/drawing/2014/main" id="{29FDB030-9B49-4CED-8CCD-4D99382388A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8900000" flipH="1">
            <a:off x="891641" y="422146"/>
            <a:ext cx="645368" cy="645368"/>
          </a:xfrm>
          <a:prstGeom prst="rect">
            <a:avLst/>
          </a:prstGeom>
          <a:solidFill>
            <a:schemeClr val="accent1"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2" name="Rectangle 14">
            <a:extLst>
              <a:ext uri="{FF2B5EF4-FFF2-40B4-BE49-F238E27FC236}">
                <a16:creationId xmlns:a16="http://schemas.microsoft.com/office/drawing/2014/main" id="{3783CA14-24A1-485C-8B30-D6A5D87987A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8900000" flipH="1">
            <a:off x="10043482" y="655140"/>
            <a:ext cx="687472" cy="687472"/>
          </a:xfrm>
          <a:prstGeom prst="rect">
            <a:avLst/>
          </a:prstGeom>
          <a:solidFill>
            <a:schemeClr val="accent4"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3" name="Freeform: Shape 16">
            <a:extLst>
              <a:ext uri="{FF2B5EF4-FFF2-40B4-BE49-F238E27FC236}">
                <a16:creationId xmlns:a16="http://schemas.microsoft.com/office/drawing/2014/main" id="{9A97C86A-04D6-40F7-AE84-31AB43E6A84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9356643" y="0"/>
            <a:ext cx="2835357" cy="1480837"/>
          </a:xfrm>
          <a:custGeom>
            <a:avLst/>
            <a:gdLst>
              <a:gd name="connsiteX0" fmla="*/ 2835357 w 2835357"/>
              <a:gd name="connsiteY0" fmla="*/ 1480837 h 1480837"/>
              <a:gd name="connsiteX1" fmla="*/ 0 w 2835357"/>
              <a:gd name="connsiteY1" fmla="*/ 1480837 h 1480837"/>
              <a:gd name="connsiteX2" fmla="*/ 1552727 w 2835357"/>
              <a:gd name="connsiteY2" fmla="*/ 0 h 1480837"/>
              <a:gd name="connsiteX3" fmla="*/ 2835357 w 2835357"/>
              <a:gd name="connsiteY3" fmla="*/ 1223245 h 148083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835357" h="1480837">
                <a:moveTo>
                  <a:pt x="2835357" y="1480837"/>
                </a:moveTo>
                <a:lnTo>
                  <a:pt x="0" y="1480837"/>
                </a:lnTo>
                <a:lnTo>
                  <a:pt x="1552727" y="0"/>
                </a:lnTo>
                <a:lnTo>
                  <a:pt x="2835357" y="1223245"/>
                </a:lnTo>
                <a:close/>
              </a:path>
            </a:pathLst>
          </a:custGeom>
          <a:solidFill>
            <a:schemeClr val="accent4"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34" name="Isosceles Triangle 18">
            <a:extLst>
              <a:ext uri="{FF2B5EF4-FFF2-40B4-BE49-F238E27FC236}">
                <a16:creationId xmlns:a16="http://schemas.microsoft.com/office/drawing/2014/main" id="{FF9F2414-84E8-453E-B1F3-389FDE8192D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7976344" y="6115501"/>
            <a:ext cx="1494513" cy="742499"/>
          </a:xfrm>
          <a:prstGeom prst="triangle">
            <a:avLst/>
          </a:prstGeom>
          <a:solidFill>
            <a:schemeClr val="accent1"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4" name="Immagine 3" descr="Immagine che contiene testo, schermata, Carattere, diagramma&#10;&#10;Il contenuto generato dall&amp;#39;IA potrebbe non essere corretto.">
            <a:extLst>
              <a:ext uri="{FF2B5EF4-FFF2-40B4-BE49-F238E27FC236}">
                <a16:creationId xmlns:a16="http://schemas.microsoft.com/office/drawing/2014/main" id="{271A5B07-079F-7E15-711C-ABB972046AB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2267" y="1204184"/>
            <a:ext cx="6592976" cy="5571065"/>
          </a:xfrm>
          <a:prstGeom prst="rect">
            <a:avLst/>
          </a:prstGeom>
          <a:ln>
            <a:noFill/>
          </a:ln>
        </p:spPr>
      </p:pic>
      <p:sp>
        <p:nvSpPr>
          <p:cNvPr id="35" name="Isosceles Triangle 20">
            <a:extLst>
              <a:ext uri="{FF2B5EF4-FFF2-40B4-BE49-F238E27FC236}">
                <a16:creationId xmlns:a16="http://schemas.microsoft.com/office/drawing/2014/main" id="{3ECA69A1-7536-43AC-85EF-C7106179F5E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7604080" y="6453143"/>
            <a:ext cx="814903" cy="404857"/>
          </a:xfrm>
          <a:prstGeom prst="triangle">
            <a:avLst/>
          </a:prstGeom>
          <a:solidFill>
            <a:schemeClr val="accent1"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CasellaDiTesto 5">
            <a:extLst>
              <a:ext uri="{FF2B5EF4-FFF2-40B4-BE49-F238E27FC236}">
                <a16:creationId xmlns:a16="http://schemas.microsoft.com/office/drawing/2014/main" id="{E1F42BE4-2546-3D40-03B0-87C019AAE992}"/>
              </a:ext>
            </a:extLst>
          </p:cNvPr>
          <p:cNvSpPr txBox="1"/>
          <p:nvPr/>
        </p:nvSpPr>
        <p:spPr>
          <a:xfrm>
            <a:off x="7377213" y="1568072"/>
            <a:ext cx="4190516" cy="3970318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marL="285750" indent="-285750">
              <a:buFont typeface="Arial"/>
              <a:buChar char="•"/>
            </a:pPr>
            <a:r>
              <a:rPr lang="it-IT">
                <a:ea typeface="+mn-lt"/>
                <a:cs typeface="+mn-lt"/>
              </a:rPr>
              <a:t>Il modello </a:t>
            </a:r>
            <a:r>
              <a:rPr lang="it-IT" b="1">
                <a:ea typeface="+mn-lt"/>
                <a:cs typeface="+mn-lt"/>
              </a:rPr>
              <a:t>si comporta benone con la fascia media</a:t>
            </a:r>
            <a:r>
              <a:rPr lang="it-IT">
                <a:ea typeface="+mn-lt"/>
                <a:cs typeface="+mn-lt"/>
              </a:rPr>
              <a:t>, individuando correttamente ben 2.673 studenti nella fascia intermedia</a:t>
            </a:r>
          </a:p>
          <a:p>
            <a:pPr marL="285750" indent="-285750">
              <a:buFont typeface="Arial"/>
              <a:buChar char="•"/>
            </a:pPr>
            <a:endParaRPr lang="it-IT"/>
          </a:p>
          <a:p>
            <a:pPr marL="285750" indent="-285750">
              <a:buFont typeface="Arial"/>
              <a:buChar char="•"/>
            </a:pPr>
            <a:r>
              <a:rPr lang="it-IT" b="1">
                <a:ea typeface="+mn-lt"/>
                <a:cs typeface="+mn-lt"/>
              </a:rPr>
              <a:t>Buona </a:t>
            </a:r>
            <a:r>
              <a:rPr lang="it-IT">
                <a:ea typeface="+mn-lt"/>
                <a:cs typeface="+mn-lt"/>
              </a:rPr>
              <a:t>capacità di </a:t>
            </a:r>
            <a:r>
              <a:rPr lang="it-IT" b="1">
                <a:ea typeface="+mn-lt"/>
                <a:cs typeface="+mn-lt"/>
              </a:rPr>
              <a:t>identificazione </a:t>
            </a:r>
            <a:r>
              <a:rPr lang="it-IT">
                <a:ea typeface="+mn-lt"/>
                <a:cs typeface="+mn-lt"/>
              </a:rPr>
              <a:t>per la classe "</a:t>
            </a:r>
            <a:r>
              <a:rPr lang="it-IT" b="1">
                <a:ea typeface="+mn-lt"/>
                <a:cs typeface="+mn-lt"/>
              </a:rPr>
              <a:t>Low</a:t>
            </a:r>
            <a:r>
              <a:rPr lang="it-IT">
                <a:ea typeface="+mn-lt"/>
                <a:cs typeface="+mn-lt"/>
              </a:rPr>
              <a:t>"</a:t>
            </a:r>
            <a:endParaRPr lang="it-IT"/>
          </a:p>
          <a:p>
            <a:pPr marL="285750" indent="-285750">
              <a:buFont typeface="Arial"/>
              <a:buChar char="•"/>
            </a:pPr>
            <a:endParaRPr lang="it-IT"/>
          </a:p>
          <a:p>
            <a:pPr marL="285750" indent="-285750">
              <a:buFont typeface="Arial"/>
              <a:buChar char="•"/>
            </a:pPr>
            <a:r>
              <a:rPr lang="it-IT"/>
              <a:t>Buona </a:t>
            </a:r>
            <a:r>
              <a:rPr lang="it-IT" b="1"/>
              <a:t>affidabilità </a:t>
            </a:r>
            <a:r>
              <a:rPr lang="it-IT"/>
              <a:t>sulla classe </a:t>
            </a:r>
            <a:r>
              <a:rPr lang="it-IT" b="1"/>
              <a:t>High</a:t>
            </a:r>
          </a:p>
          <a:p>
            <a:pPr marL="285750" indent="-285750">
              <a:buFont typeface="Arial"/>
              <a:buChar char="•"/>
            </a:pPr>
            <a:endParaRPr lang="it-IT"/>
          </a:p>
          <a:p>
            <a:pPr marL="285750" indent="-285750">
              <a:buFont typeface="Arial"/>
              <a:buChar char="•"/>
            </a:pPr>
            <a:r>
              <a:rPr lang="it-IT"/>
              <a:t>Il modello </a:t>
            </a:r>
            <a:r>
              <a:rPr lang="it-IT" b="1" err="1"/>
              <a:t>fat</a:t>
            </a:r>
            <a:r>
              <a:rPr lang="it-IT" b="1"/>
              <a:t>ica ancora a distinguere le classi vicine </a:t>
            </a:r>
            <a:r>
              <a:rPr lang="it-IT"/>
              <a:t>ma ha capito molto bene come distinguere Low e High</a:t>
            </a:r>
          </a:p>
        </p:txBody>
      </p:sp>
    </p:spTree>
    <p:extLst>
      <p:ext uri="{BB962C8B-B14F-4D97-AF65-F5344CB8AC3E}">
        <p14:creationId xmlns:p14="http://schemas.microsoft.com/office/powerpoint/2010/main" val="1929615668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0" name="Rectangle 9">
            <a:extLst>
              <a:ext uri="{FF2B5EF4-FFF2-40B4-BE49-F238E27FC236}">
                <a16:creationId xmlns:a16="http://schemas.microsoft.com/office/drawing/2014/main" id="{EDDBB197-D710-4A4F-A9CA-FD2177498BE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975D1CFA-2CDB-4B64-BD9F-85744E8DA12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05" y="0"/>
            <a:ext cx="12191695" cy="6858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olo 1">
            <a:extLst>
              <a:ext uri="{FF2B5EF4-FFF2-40B4-BE49-F238E27FC236}">
                <a16:creationId xmlns:a16="http://schemas.microsoft.com/office/drawing/2014/main" id="{E5F35B7F-A1CD-C025-CCE0-49F3B811A7A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04672" y="802955"/>
            <a:ext cx="4977976" cy="1454051"/>
          </a:xfrm>
        </p:spPr>
        <p:txBody>
          <a:bodyPr>
            <a:normAutofit/>
          </a:bodyPr>
          <a:lstStyle/>
          <a:p>
            <a:r>
              <a:rPr lang="it-IT" sz="3600">
                <a:solidFill>
                  <a:schemeClr val="tx2"/>
                </a:solidFill>
              </a:rPr>
              <a:t>Prossimi passi</a:t>
            </a:r>
          </a:p>
        </p:txBody>
      </p:sp>
      <p:sp>
        <p:nvSpPr>
          <p:cNvPr id="3" name="Segnaposto contenuto 2">
            <a:extLst>
              <a:ext uri="{FF2B5EF4-FFF2-40B4-BE49-F238E27FC236}">
                <a16:creationId xmlns:a16="http://schemas.microsoft.com/office/drawing/2014/main" id="{198FE794-58FE-F0A8-9A51-078F32CE028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04672" y="2421682"/>
            <a:ext cx="4977578" cy="3639289"/>
          </a:xfrm>
        </p:spPr>
        <p:txBody>
          <a:bodyPr vert="horz" lIns="91440" tIns="45720" rIns="91440" bIns="45720" rtlCol="0" anchor="ctr">
            <a:normAutofit/>
          </a:bodyPr>
          <a:lstStyle/>
          <a:p>
            <a:endParaRPr lang="it-IT" sz="1800">
              <a:solidFill>
                <a:schemeClr val="tx2"/>
              </a:solidFill>
            </a:endParaRPr>
          </a:p>
          <a:p>
            <a:r>
              <a:rPr lang="it-IT" sz="1800">
                <a:solidFill>
                  <a:schemeClr val="tx2"/>
                </a:solidFill>
              </a:rPr>
              <a:t>Realizzazione interfaccia</a:t>
            </a:r>
          </a:p>
          <a:p>
            <a:r>
              <a:rPr lang="it-IT" sz="1800">
                <a:solidFill>
                  <a:schemeClr val="tx2"/>
                </a:solidFill>
              </a:rPr>
              <a:t>Migliorare predizione con Ensamble</a:t>
            </a:r>
          </a:p>
          <a:p>
            <a:r>
              <a:rPr lang="it-IT" sz="1800">
                <a:solidFill>
                  <a:schemeClr val="tx2"/>
                </a:solidFill>
              </a:rPr>
              <a:t>Migliorare presentazione</a:t>
            </a:r>
          </a:p>
        </p:txBody>
      </p:sp>
      <p:grpSp>
        <p:nvGrpSpPr>
          <p:cNvPr id="14" name="Group 13">
            <a:extLst>
              <a:ext uri="{FF2B5EF4-FFF2-40B4-BE49-F238E27FC236}">
                <a16:creationId xmlns:a16="http://schemas.microsoft.com/office/drawing/2014/main" id="{25EE5136-01F1-466C-962D-BA9B4C6757A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6369897" y="0"/>
            <a:ext cx="5822103" cy="6685267"/>
            <a:chOff x="6357228" y="0"/>
            <a:chExt cx="5822103" cy="6685267"/>
          </a:xfrm>
        </p:grpSpPr>
        <p:sp>
          <p:nvSpPr>
            <p:cNvPr id="15" name="Freeform: Shape 14">
              <a:extLst>
                <a:ext uri="{FF2B5EF4-FFF2-40B4-BE49-F238E27FC236}">
                  <a16:creationId xmlns:a16="http://schemas.microsoft.com/office/drawing/2014/main" id="{E11D3AD4-AF9B-4EB5-8C7B-C45D173B4B5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357228" y="0"/>
              <a:ext cx="5822102" cy="6685267"/>
            </a:xfrm>
            <a:custGeom>
              <a:avLst/>
              <a:gdLst>
                <a:gd name="connsiteX0" fmla="*/ 2605444 w 5822102"/>
                <a:gd name="connsiteY0" fmla="*/ 0 h 6685267"/>
                <a:gd name="connsiteX1" fmla="*/ 4757391 w 5822102"/>
                <a:gd name="connsiteY1" fmla="*/ 0 h 6685267"/>
                <a:gd name="connsiteX2" fmla="*/ 4913680 w 5822102"/>
                <a:gd name="connsiteY2" fmla="*/ 56274 h 6685267"/>
                <a:gd name="connsiteX3" fmla="*/ 5376238 w 5822102"/>
                <a:gd name="connsiteY3" fmla="*/ 282027 h 6685267"/>
                <a:gd name="connsiteX4" fmla="*/ 5658024 w 5822102"/>
                <a:gd name="connsiteY4" fmla="*/ 471014 h 6685267"/>
                <a:gd name="connsiteX5" fmla="*/ 5822102 w 5822102"/>
                <a:gd name="connsiteY5" fmla="*/ 609109 h 6685267"/>
                <a:gd name="connsiteX6" fmla="*/ 5822102 w 5822102"/>
                <a:gd name="connsiteY6" fmla="*/ 760697 h 6685267"/>
                <a:gd name="connsiteX7" fmla="*/ 5707785 w 5822102"/>
                <a:gd name="connsiteY7" fmla="*/ 666601 h 6685267"/>
                <a:gd name="connsiteX8" fmla="*/ 5577306 w 5822102"/>
                <a:gd name="connsiteY8" fmla="*/ 571666 h 6685267"/>
                <a:gd name="connsiteX9" fmla="*/ 5298630 w 5822102"/>
                <a:gd name="connsiteY9" fmla="*/ 407449 h 6685267"/>
                <a:gd name="connsiteX10" fmla="*/ 4690768 w 5822102"/>
                <a:gd name="connsiteY10" fmla="*/ 184979 h 6685267"/>
                <a:gd name="connsiteX11" fmla="*/ 4048577 w 5822102"/>
                <a:gd name="connsiteY11" fmla="*/ 99280 h 6685267"/>
                <a:gd name="connsiteX12" fmla="*/ 3405404 w 5822102"/>
                <a:gd name="connsiteY12" fmla="*/ 131937 h 6685267"/>
                <a:gd name="connsiteX13" fmla="*/ 3089702 w 5822102"/>
                <a:gd name="connsiteY13" fmla="*/ 190190 h 6685267"/>
                <a:gd name="connsiteX14" fmla="*/ 2780132 w 5822102"/>
                <a:gd name="connsiteY14" fmla="*/ 273457 h 6685267"/>
                <a:gd name="connsiteX15" fmla="*/ 2478040 w 5822102"/>
                <a:gd name="connsiteY15" fmla="*/ 379654 h 6685267"/>
                <a:gd name="connsiteX16" fmla="*/ 2184897 w 5822102"/>
                <a:gd name="connsiteY16" fmla="*/ 507972 h 6685267"/>
                <a:gd name="connsiteX17" fmla="*/ 1629141 w 5822102"/>
                <a:gd name="connsiteY17" fmla="*/ 823205 h 6685267"/>
                <a:gd name="connsiteX18" fmla="*/ 1497711 w 5822102"/>
                <a:gd name="connsiteY18" fmla="*/ 914000 h 6685267"/>
                <a:gd name="connsiteX19" fmla="*/ 1433099 w 5822102"/>
                <a:gd name="connsiteY19" fmla="*/ 960903 h 6685267"/>
                <a:gd name="connsiteX20" fmla="*/ 1369346 w 5822102"/>
                <a:gd name="connsiteY20" fmla="*/ 1008963 h 6685267"/>
                <a:gd name="connsiteX21" fmla="*/ 1123406 w 5822102"/>
                <a:gd name="connsiteY21" fmla="*/ 1212905 h 6685267"/>
                <a:gd name="connsiteX22" fmla="*/ 684367 w 5822102"/>
                <a:gd name="connsiteY22" fmla="*/ 1675564 h 6685267"/>
                <a:gd name="connsiteX23" fmla="*/ 497153 w 5822102"/>
                <a:gd name="connsiteY23" fmla="*/ 1933588 h 6685267"/>
                <a:gd name="connsiteX24" fmla="*/ 337770 w 5822102"/>
                <a:gd name="connsiteY24" fmla="*/ 2208983 h 6685267"/>
                <a:gd name="connsiteX25" fmla="*/ 302461 w 5822102"/>
                <a:gd name="connsiteY25" fmla="*/ 2280207 h 6685267"/>
                <a:gd name="connsiteX26" fmla="*/ 285296 w 5822102"/>
                <a:gd name="connsiteY26" fmla="*/ 2316107 h 6685267"/>
                <a:gd name="connsiteX27" fmla="*/ 268991 w 5822102"/>
                <a:gd name="connsiteY27" fmla="*/ 2352355 h 6685267"/>
                <a:gd name="connsiteX28" fmla="*/ 237849 w 5822102"/>
                <a:gd name="connsiteY28" fmla="*/ 2425432 h 6685267"/>
                <a:gd name="connsiteX29" fmla="*/ 208670 w 5822102"/>
                <a:gd name="connsiteY29" fmla="*/ 2499319 h 6685267"/>
                <a:gd name="connsiteX30" fmla="*/ 113775 w 5822102"/>
                <a:gd name="connsiteY30" fmla="*/ 2801929 h 6685267"/>
                <a:gd name="connsiteX31" fmla="*/ 36781 w 5822102"/>
                <a:gd name="connsiteY31" fmla="*/ 3428922 h 6685267"/>
                <a:gd name="connsiteX32" fmla="*/ 69148 w 5822102"/>
                <a:gd name="connsiteY32" fmla="*/ 3741955 h 6685267"/>
                <a:gd name="connsiteX33" fmla="*/ 167966 w 5822102"/>
                <a:gd name="connsiteY33" fmla="*/ 4041323 h 6685267"/>
                <a:gd name="connsiteX34" fmla="*/ 202049 w 5822102"/>
                <a:gd name="connsiteY34" fmla="*/ 4112894 h 6685267"/>
                <a:gd name="connsiteX35" fmla="*/ 239933 w 5822102"/>
                <a:gd name="connsiteY35" fmla="*/ 4182843 h 6685267"/>
                <a:gd name="connsiteX36" fmla="*/ 323916 w 5822102"/>
                <a:gd name="connsiteY36" fmla="*/ 4318456 h 6685267"/>
                <a:gd name="connsiteX37" fmla="*/ 416604 w 5822102"/>
                <a:gd name="connsiteY37" fmla="*/ 4449436 h 6685267"/>
                <a:gd name="connsiteX38" fmla="*/ 515911 w 5822102"/>
                <a:gd name="connsiteY38" fmla="*/ 4576711 h 6685267"/>
                <a:gd name="connsiteX39" fmla="*/ 722619 w 5822102"/>
                <a:gd name="connsiteY39" fmla="*/ 4828482 h 6685267"/>
                <a:gd name="connsiteX40" fmla="*/ 825972 w 5822102"/>
                <a:gd name="connsiteY40" fmla="*/ 4956104 h 6685267"/>
                <a:gd name="connsiteX41" fmla="*/ 926506 w 5822102"/>
                <a:gd name="connsiteY41" fmla="*/ 5085347 h 6685267"/>
                <a:gd name="connsiteX42" fmla="*/ 1027040 w 5822102"/>
                <a:gd name="connsiteY42" fmla="*/ 5210191 h 6685267"/>
                <a:gd name="connsiteX43" fmla="*/ 1132110 w 5822102"/>
                <a:gd name="connsiteY43" fmla="*/ 5330748 h 6685267"/>
                <a:gd name="connsiteX44" fmla="*/ 1354880 w 5822102"/>
                <a:gd name="connsiteY44" fmla="*/ 5558083 h 6685267"/>
                <a:gd name="connsiteX45" fmla="*/ 1855220 w 5822102"/>
                <a:gd name="connsiteY45" fmla="*/ 5937591 h 6685267"/>
                <a:gd name="connsiteX46" fmla="*/ 2131810 w 5822102"/>
                <a:gd name="connsiteY46" fmla="*/ 6080268 h 6685267"/>
                <a:gd name="connsiteX47" fmla="*/ 2423726 w 5822102"/>
                <a:gd name="connsiteY47" fmla="*/ 6188087 h 6685267"/>
                <a:gd name="connsiteX48" fmla="*/ 2727780 w 5822102"/>
                <a:gd name="connsiteY48" fmla="*/ 6262552 h 6685267"/>
                <a:gd name="connsiteX49" fmla="*/ 3041276 w 5822102"/>
                <a:gd name="connsiteY49" fmla="*/ 6304245 h 6685267"/>
                <a:gd name="connsiteX50" fmla="*/ 3360532 w 5822102"/>
                <a:gd name="connsiteY50" fmla="*/ 6317331 h 6685267"/>
                <a:gd name="connsiteX51" fmla="*/ 3439855 w 5822102"/>
                <a:gd name="connsiteY51" fmla="*/ 6316751 h 6685267"/>
                <a:gd name="connsiteX52" fmla="*/ 3478721 w 5822102"/>
                <a:gd name="connsiteY52" fmla="*/ 6315826 h 6685267"/>
                <a:gd name="connsiteX53" fmla="*/ 3517463 w 5822102"/>
                <a:gd name="connsiteY53" fmla="*/ 6313971 h 6685267"/>
                <a:gd name="connsiteX54" fmla="*/ 3671452 w 5822102"/>
                <a:gd name="connsiteY54" fmla="*/ 6301233 h 6685267"/>
                <a:gd name="connsiteX55" fmla="*/ 4265460 w 5822102"/>
                <a:gd name="connsiteY55" fmla="*/ 6149638 h 6685267"/>
                <a:gd name="connsiteX56" fmla="*/ 4546587 w 5822102"/>
                <a:gd name="connsiteY56" fmla="*/ 6018079 h 6685267"/>
                <a:gd name="connsiteX57" fmla="*/ 4818030 w 5822102"/>
                <a:gd name="connsiteY57" fmla="*/ 5858029 h 6685267"/>
                <a:gd name="connsiteX58" fmla="*/ 5081870 w 5822102"/>
                <a:gd name="connsiteY58" fmla="*/ 5676903 h 6685267"/>
                <a:gd name="connsiteX59" fmla="*/ 5212073 w 5822102"/>
                <a:gd name="connsiteY59" fmla="*/ 5581013 h 6685267"/>
                <a:gd name="connsiteX60" fmla="*/ 5343625 w 5822102"/>
                <a:gd name="connsiteY60" fmla="*/ 5481533 h 6685267"/>
                <a:gd name="connsiteX61" fmla="*/ 5610378 w 5822102"/>
                <a:gd name="connsiteY61" fmla="*/ 5284425 h 6685267"/>
                <a:gd name="connsiteX62" fmla="*/ 5822102 w 5822102"/>
                <a:gd name="connsiteY62" fmla="*/ 5126414 h 6685267"/>
                <a:gd name="connsiteX63" fmla="*/ 5822102 w 5822102"/>
                <a:gd name="connsiteY63" fmla="*/ 5556641 h 6685267"/>
                <a:gd name="connsiteX64" fmla="*/ 5576325 w 5822102"/>
                <a:gd name="connsiteY64" fmla="*/ 5749979 h 6685267"/>
                <a:gd name="connsiteX65" fmla="*/ 5447715 w 5822102"/>
                <a:gd name="connsiteY65" fmla="*/ 5852818 h 6685267"/>
                <a:gd name="connsiteX66" fmla="*/ 5315059 w 5822102"/>
                <a:gd name="connsiteY66" fmla="*/ 5956236 h 6685267"/>
                <a:gd name="connsiteX67" fmla="*/ 5038468 w 5822102"/>
                <a:gd name="connsiteY67" fmla="*/ 6155776 h 6685267"/>
                <a:gd name="connsiteX68" fmla="*/ 4741892 w 5822102"/>
                <a:gd name="connsiteY68" fmla="*/ 6338292 h 6685267"/>
                <a:gd name="connsiteX69" fmla="*/ 4420920 w 5822102"/>
                <a:gd name="connsiteY69" fmla="*/ 6492203 h 6685267"/>
                <a:gd name="connsiteX70" fmla="*/ 3717672 w 5822102"/>
                <a:gd name="connsiteY70" fmla="*/ 6670434 h 6685267"/>
                <a:gd name="connsiteX71" fmla="*/ 3535853 w 5822102"/>
                <a:gd name="connsiteY71" fmla="*/ 6683289 h 6685267"/>
                <a:gd name="connsiteX72" fmla="*/ 3490367 w 5822102"/>
                <a:gd name="connsiteY72" fmla="*/ 6684910 h 6685267"/>
                <a:gd name="connsiteX73" fmla="*/ 3445005 w 5822102"/>
                <a:gd name="connsiteY73" fmla="*/ 6685142 h 6685267"/>
                <a:gd name="connsiteX74" fmla="*/ 3355872 w 5822102"/>
                <a:gd name="connsiteY74" fmla="*/ 6684100 h 6685267"/>
                <a:gd name="connsiteX75" fmla="*/ 3179203 w 5822102"/>
                <a:gd name="connsiteY75" fmla="*/ 6677150 h 6685267"/>
                <a:gd name="connsiteX76" fmla="*/ 3002410 w 5822102"/>
                <a:gd name="connsiteY76" fmla="*/ 6661169 h 6685267"/>
                <a:gd name="connsiteX77" fmla="*/ 2650296 w 5822102"/>
                <a:gd name="connsiteY77" fmla="*/ 6604191 h 6685267"/>
                <a:gd name="connsiteX78" fmla="*/ 2306028 w 5822102"/>
                <a:gd name="connsiteY78" fmla="*/ 6505869 h 6685267"/>
                <a:gd name="connsiteX79" fmla="*/ 1978803 w 5822102"/>
                <a:gd name="connsiteY79" fmla="*/ 6363307 h 6685267"/>
                <a:gd name="connsiteX80" fmla="*/ 1678428 w 5822102"/>
                <a:gd name="connsiteY80" fmla="*/ 6177779 h 6685267"/>
                <a:gd name="connsiteX81" fmla="*/ 1175880 w 5822102"/>
                <a:gd name="connsiteY81" fmla="*/ 5710373 h 6685267"/>
                <a:gd name="connsiteX82" fmla="*/ 971502 w 5822102"/>
                <a:gd name="connsiteY82" fmla="*/ 5445399 h 6685267"/>
                <a:gd name="connsiteX83" fmla="*/ 790909 w 5822102"/>
                <a:gd name="connsiteY83" fmla="*/ 5169078 h 6685267"/>
                <a:gd name="connsiteX84" fmla="*/ 706680 w 5822102"/>
                <a:gd name="connsiteY84" fmla="*/ 5031959 h 6685267"/>
                <a:gd name="connsiteX85" fmla="*/ 619143 w 5822102"/>
                <a:gd name="connsiteY85" fmla="*/ 4897157 h 6685267"/>
                <a:gd name="connsiteX86" fmla="*/ 436465 w 5822102"/>
                <a:gd name="connsiteY86" fmla="*/ 4628710 h 6685267"/>
                <a:gd name="connsiteX87" fmla="*/ 347088 w 5822102"/>
                <a:gd name="connsiteY87" fmla="*/ 4492171 h 6685267"/>
                <a:gd name="connsiteX88" fmla="*/ 262001 w 5822102"/>
                <a:gd name="connsiteY88" fmla="*/ 4352619 h 6685267"/>
                <a:gd name="connsiteX89" fmla="*/ 118679 w 5822102"/>
                <a:gd name="connsiteY89" fmla="*/ 4059853 h 6685267"/>
                <a:gd name="connsiteX90" fmla="*/ 28322 w 5822102"/>
                <a:gd name="connsiteY90" fmla="*/ 3749136 h 6685267"/>
                <a:gd name="connsiteX91" fmla="*/ 0 w 5822102"/>
                <a:gd name="connsiteY91" fmla="*/ 3428922 h 6685267"/>
                <a:gd name="connsiteX92" fmla="*/ 253052 w 5822102"/>
                <a:gd name="connsiteY92" fmla="*/ 2174356 h 6685267"/>
                <a:gd name="connsiteX93" fmla="*/ 389141 w 5822102"/>
                <a:gd name="connsiteY93" fmla="*/ 1877652 h 6685267"/>
                <a:gd name="connsiteX94" fmla="*/ 552079 w 5822102"/>
                <a:gd name="connsiteY94" fmla="*/ 1591834 h 6685267"/>
                <a:gd name="connsiteX95" fmla="*/ 954950 w 5822102"/>
                <a:gd name="connsiteY95" fmla="*/ 1061773 h 6685267"/>
                <a:gd name="connsiteX96" fmla="*/ 1192922 w 5822102"/>
                <a:gd name="connsiteY96" fmla="*/ 822626 h 6685267"/>
                <a:gd name="connsiteX97" fmla="*/ 1255939 w 5822102"/>
                <a:gd name="connsiteY97" fmla="*/ 765880 h 6685267"/>
                <a:gd name="connsiteX98" fmla="*/ 1320183 w 5822102"/>
                <a:gd name="connsiteY98" fmla="*/ 710291 h 6685267"/>
                <a:gd name="connsiteX99" fmla="*/ 1452961 w 5822102"/>
                <a:gd name="connsiteY99" fmla="*/ 603514 h 6685267"/>
                <a:gd name="connsiteX100" fmla="*/ 2033360 w 5822102"/>
                <a:gd name="connsiteY100" fmla="*/ 235818 h 6685267"/>
                <a:gd name="connsiteX101" fmla="*/ 2512513 w 5822102"/>
                <a:gd name="connsiteY101" fmla="*/ 30012 h 668526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</a:cxnLst>
              <a:rect l="l" t="t" r="r" b="b"/>
              <a:pathLst>
                <a:path w="5822102" h="6685267">
                  <a:moveTo>
                    <a:pt x="2605444" y="0"/>
                  </a:moveTo>
                  <a:lnTo>
                    <a:pt x="4757391" y="0"/>
                  </a:lnTo>
                  <a:lnTo>
                    <a:pt x="4913680" y="56274"/>
                  </a:lnTo>
                  <a:cubicBezTo>
                    <a:pt x="5074659" y="119278"/>
                    <a:pt x="5229483" y="195083"/>
                    <a:pt x="5376238" y="282027"/>
                  </a:cubicBezTo>
                  <a:cubicBezTo>
                    <a:pt x="5474014" y="340105"/>
                    <a:pt x="5568080" y="403280"/>
                    <a:pt x="5658024" y="471014"/>
                  </a:cubicBezTo>
                  <a:lnTo>
                    <a:pt x="5822102" y="609109"/>
                  </a:lnTo>
                  <a:lnTo>
                    <a:pt x="5822102" y="760697"/>
                  </a:lnTo>
                  <a:lnTo>
                    <a:pt x="5707785" y="666601"/>
                  </a:lnTo>
                  <a:cubicBezTo>
                    <a:pt x="5665273" y="633682"/>
                    <a:pt x="5621749" y="602008"/>
                    <a:pt x="5577306" y="571666"/>
                  </a:cubicBezTo>
                  <a:cubicBezTo>
                    <a:pt x="5487929" y="511562"/>
                    <a:pt x="5395118" y="456089"/>
                    <a:pt x="5298630" y="407449"/>
                  </a:cubicBezTo>
                  <a:cubicBezTo>
                    <a:pt x="5106266" y="309010"/>
                    <a:pt x="4901153" y="235355"/>
                    <a:pt x="4690768" y="184979"/>
                  </a:cubicBezTo>
                  <a:cubicBezTo>
                    <a:pt x="4480382" y="134486"/>
                    <a:pt x="4264724" y="106807"/>
                    <a:pt x="4048577" y="99280"/>
                  </a:cubicBezTo>
                  <a:cubicBezTo>
                    <a:pt x="3832182" y="90709"/>
                    <a:pt x="3617997" y="102290"/>
                    <a:pt x="3405404" y="131937"/>
                  </a:cubicBezTo>
                  <a:cubicBezTo>
                    <a:pt x="3299353" y="147340"/>
                    <a:pt x="3193915" y="166449"/>
                    <a:pt x="3089702" y="190190"/>
                  </a:cubicBezTo>
                  <a:cubicBezTo>
                    <a:pt x="2985491" y="214278"/>
                    <a:pt x="2882137" y="241725"/>
                    <a:pt x="2780132" y="273457"/>
                  </a:cubicBezTo>
                  <a:cubicBezTo>
                    <a:pt x="2678126" y="305073"/>
                    <a:pt x="2577348" y="340510"/>
                    <a:pt x="2478040" y="379654"/>
                  </a:cubicBezTo>
                  <a:cubicBezTo>
                    <a:pt x="2378854" y="418914"/>
                    <a:pt x="2281017" y="461763"/>
                    <a:pt x="2184897" y="507972"/>
                  </a:cubicBezTo>
                  <a:cubicBezTo>
                    <a:pt x="1992657" y="600271"/>
                    <a:pt x="1806791" y="705542"/>
                    <a:pt x="1629141" y="823205"/>
                  </a:cubicBezTo>
                  <a:cubicBezTo>
                    <a:pt x="1584882" y="852736"/>
                    <a:pt x="1540745" y="882731"/>
                    <a:pt x="1497711" y="914000"/>
                  </a:cubicBezTo>
                  <a:cubicBezTo>
                    <a:pt x="1475888" y="929286"/>
                    <a:pt x="1454555" y="945153"/>
                    <a:pt x="1433099" y="960903"/>
                  </a:cubicBezTo>
                  <a:cubicBezTo>
                    <a:pt x="1411521" y="976537"/>
                    <a:pt x="1390311" y="992634"/>
                    <a:pt x="1369346" y="1008963"/>
                  </a:cubicBezTo>
                  <a:cubicBezTo>
                    <a:pt x="1285119" y="1074165"/>
                    <a:pt x="1202730" y="1141797"/>
                    <a:pt x="1123406" y="1212905"/>
                  </a:cubicBezTo>
                  <a:cubicBezTo>
                    <a:pt x="964391" y="1354656"/>
                    <a:pt x="816900" y="1509261"/>
                    <a:pt x="684367" y="1675564"/>
                  </a:cubicBezTo>
                  <a:cubicBezTo>
                    <a:pt x="618161" y="1758716"/>
                    <a:pt x="555512" y="1844763"/>
                    <a:pt x="497153" y="1933588"/>
                  </a:cubicBezTo>
                  <a:cubicBezTo>
                    <a:pt x="439775" y="2022877"/>
                    <a:pt x="385584" y="2114367"/>
                    <a:pt x="337770" y="2208983"/>
                  </a:cubicBezTo>
                  <a:cubicBezTo>
                    <a:pt x="325388" y="2232493"/>
                    <a:pt x="313862" y="2256349"/>
                    <a:pt x="302461" y="2280207"/>
                  </a:cubicBezTo>
                  <a:lnTo>
                    <a:pt x="285296" y="2316107"/>
                  </a:lnTo>
                  <a:lnTo>
                    <a:pt x="268991" y="2352355"/>
                  </a:lnTo>
                  <a:cubicBezTo>
                    <a:pt x="258324" y="2376560"/>
                    <a:pt x="247535" y="2400764"/>
                    <a:pt x="237849" y="2425432"/>
                  </a:cubicBezTo>
                  <a:cubicBezTo>
                    <a:pt x="228163" y="2450099"/>
                    <a:pt x="217498" y="2474419"/>
                    <a:pt x="208670" y="2499319"/>
                  </a:cubicBezTo>
                  <a:cubicBezTo>
                    <a:pt x="170909" y="2598219"/>
                    <a:pt x="138908" y="2699206"/>
                    <a:pt x="113775" y="2801929"/>
                  </a:cubicBezTo>
                  <a:cubicBezTo>
                    <a:pt x="62773" y="3006911"/>
                    <a:pt x="36659" y="3217917"/>
                    <a:pt x="36781" y="3428922"/>
                  </a:cubicBezTo>
                  <a:cubicBezTo>
                    <a:pt x="37394" y="3534078"/>
                    <a:pt x="47816" y="3639001"/>
                    <a:pt x="69148" y="3741955"/>
                  </a:cubicBezTo>
                  <a:cubicBezTo>
                    <a:pt x="91585" y="3844679"/>
                    <a:pt x="124074" y="3945202"/>
                    <a:pt x="167966" y="4041323"/>
                  </a:cubicBezTo>
                  <a:cubicBezTo>
                    <a:pt x="178387" y="4065528"/>
                    <a:pt x="190525" y="4089153"/>
                    <a:pt x="202049" y="4112894"/>
                  </a:cubicBezTo>
                  <a:cubicBezTo>
                    <a:pt x="214555" y="4136288"/>
                    <a:pt x="226447" y="4159912"/>
                    <a:pt x="239933" y="4182843"/>
                  </a:cubicBezTo>
                  <a:cubicBezTo>
                    <a:pt x="265680" y="4229167"/>
                    <a:pt x="294368" y="4274101"/>
                    <a:pt x="323916" y="4318456"/>
                  </a:cubicBezTo>
                  <a:cubicBezTo>
                    <a:pt x="353341" y="4362927"/>
                    <a:pt x="384849" y="4406240"/>
                    <a:pt x="416604" y="4449436"/>
                  </a:cubicBezTo>
                  <a:cubicBezTo>
                    <a:pt x="448847" y="4492286"/>
                    <a:pt x="482319" y="4534557"/>
                    <a:pt x="515911" y="4576711"/>
                  </a:cubicBezTo>
                  <a:cubicBezTo>
                    <a:pt x="583219" y="4661137"/>
                    <a:pt x="653594" y="4743825"/>
                    <a:pt x="722619" y="4828482"/>
                  </a:cubicBezTo>
                  <a:cubicBezTo>
                    <a:pt x="757315" y="4870637"/>
                    <a:pt x="791889" y="4913138"/>
                    <a:pt x="825972" y="4956104"/>
                  </a:cubicBezTo>
                  <a:cubicBezTo>
                    <a:pt x="859934" y="4998722"/>
                    <a:pt x="893649" y="5044004"/>
                    <a:pt x="926506" y="5085347"/>
                  </a:cubicBezTo>
                  <a:cubicBezTo>
                    <a:pt x="959119" y="5127734"/>
                    <a:pt x="993324" y="5168847"/>
                    <a:pt x="1027040" y="5210191"/>
                  </a:cubicBezTo>
                  <a:cubicBezTo>
                    <a:pt x="1061737" y="5250840"/>
                    <a:pt x="1096188" y="5291488"/>
                    <a:pt x="1132110" y="5330748"/>
                  </a:cubicBezTo>
                  <a:cubicBezTo>
                    <a:pt x="1203465" y="5409731"/>
                    <a:pt x="1277639" y="5485818"/>
                    <a:pt x="1354880" y="5558083"/>
                  </a:cubicBezTo>
                  <a:cubicBezTo>
                    <a:pt x="1509603" y="5702266"/>
                    <a:pt x="1676588" y="5830930"/>
                    <a:pt x="1855220" y="5937591"/>
                  </a:cubicBezTo>
                  <a:cubicBezTo>
                    <a:pt x="1944720" y="5990632"/>
                    <a:pt x="2036549" y="6039272"/>
                    <a:pt x="2131810" y="6080268"/>
                  </a:cubicBezTo>
                  <a:cubicBezTo>
                    <a:pt x="2226460" y="6122423"/>
                    <a:pt x="2324173" y="6157977"/>
                    <a:pt x="2423726" y="6188087"/>
                  </a:cubicBezTo>
                  <a:cubicBezTo>
                    <a:pt x="2523280" y="6218313"/>
                    <a:pt x="2624794" y="6242749"/>
                    <a:pt x="2727780" y="6262552"/>
                  </a:cubicBezTo>
                  <a:cubicBezTo>
                    <a:pt x="2830890" y="6282008"/>
                    <a:pt x="2935714" y="6295326"/>
                    <a:pt x="3041276" y="6304245"/>
                  </a:cubicBezTo>
                  <a:cubicBezTo>
                    <a:pt x="3146836" y="6313277"/>
                    <a:pt x="3253499" y="6317215"/>
                    <a:pt x="3360532" y="6317331"/>
                  </a:cubicBezTo>
                  <a:cubicBezTo>
                    <a:pt x="3387259" y="6317331"/>
                    <a:pt x="3414354" y="6317794"/>
                    <a:pt x="3439855" y="6316751"/>
                  </a:cubicBezTo>
                  <a:lnTo>
                    <a:pt x="3478721" y="6315826"/>
                  </a:lnTo>
                  <a:lnTo>
                    <a:pt x="3517463" y="6313971"/>
                  </a:lnTo>
                  <a:cubicBezTo>
                    <a:pt x="3569078" y="6311772"/>
                    <a:pt x="3620449" y="6306907"/>
                    <a:pt x="3671452" y="6301233"/>
                  </a:cubicBezTo>
                  <a:cubicBezTo>
                    <a:pt x="3875707" y="6277608"/>
                    <a:pt x="4074445" y="6225841"/>
                    <a:pt x="4265460" y="6149638"/>
                  </a:cubicBezTo>
                  <a:cubicBezTo>
                    <a:pt x="4361212" y="6111884"/>
                    <a:pt x="4454636" y="6067065"/>
                    <a:pt x="4546587" y="6018079"/>
                  </a:cubicBezTo>
                  <a:cubicBezTo>
                    <a:pt x="4638662" y="5969322"/>
                    <a:pt x="4729020" y="5915240"/>
                    <a:pt x="4818030" y="5858029"/>
                  </a:cubicBezTo>
                  <a:cubicBezTo>
                    <a:pt x="4907038" y="5800703"/>
                    <a:pt x="4994577" y="5739672"/>
                    <a:pt x="5081870" y="5676903"/>
                  </a:cubicBezTo>
                  <a:cubicBezTo>
                    <a:pt x="5125392" y="5645519"/>
                    <a:pt x="5168794" y="5613324"/>
                    <a:pt x="5212073" y="5581013"/>
                  </a:cubicBezTo>
                  <a:lnTo>
                    <a:pt x="5343625" y="5481533"/>
                  </a:lnTo>
                  <a:cubicBezTo>
                    <a:pt x="5432696" y="5414768"/>
                    <a:pt x="5521951" y="5349452"/>
                    <a:pt x="5610378" y="5284425"/>
                  </a:cubicBezTo>
                  <a:lnTo>
                    <a:pt x="5822102" y="5126414"/>
                  </a:lnTo>
                  <a:lnTo>
                    <a:pt x="5822102" y="5556641"/>
                  </a:lnTo>
                  <a:lnTo>
                    <a:pt x="5576325" y="5749979"/>
                  </a:lnTo>
                  <a:lnTo>
                    <a:pt x="5447715" y="5852818"/>
                  </a:lnTo>
                  <a:cubicBezTo>
                    <a:pt x="5403945" y="5887445"/>
                    <a:pt x="5359932" y="5922073"/>
                    <a:pt x="5315059" y="5956236"/>
                  </a:cubicBezTo>
                  <a:cubicBezTo>
                    <a:pt x="5225682" y="6024680"/>
                    <a:pt x="5133976" y="6091734"/>
                    <a:pt x="5038468" y="6155776"/>
                  </a:cubicBezTo>
                  <a:cubicBezTo>
                    <a:pt x="4943084" y="6219703"/>
                    <a:pt x="4845002" y="6281777"/>
                    <a:pt x="4741892" y="6338292"/>
                  </a:cubicBezTo>
                  <a:cubicBezTo>
                    <a:pt x="4638784" y="6394692"/>
                    <a:pt x="4532120" y="6447038"/>
                    <a:pt x="4420920" y="6492203"/>
                  </a:cubicBezTo>
                  <a:cubicBezTo>
                    <a:pt x="4199255" y="6583693"/>
                    <a:pt x="3959813" y="6644840"/>
                    <a:pt x="3717672" y="6670434"/>
                  </a:cubicBezTo>
                  <a:cubicBezTo>
                    <a:pt x="3657106" y="6676456"/>
                    <a:pt x="3596419" y="6681321"/>
                    <a:pt x="3535853" y="6683289"/>
                  </a:cubicBezTo>
                  <a:lnTo>
                    <a:pt x="3490367" y="6684910"/>
                  </a:lnTo>
                  <a:lnTo>
                    <a:pt x="3445005" y="6685142"/>
                  </a:lnTo>
                  <a:cubicBezTo>
                    <a:pt x="3414354" y="6685605"/>
                    <a:pt x="3385297" y="6684679"/>
                    <a:pt x="3355872" y="6684100"/>
                  </a:cubicBezTo>
                  <a:cubicBezTo>
                    <a:pt x="3297146" y="6683405"/>
                    <a:pt x="3238052" y="6680047"/>
                    <a:pt x="3179203" y="6677150"/>
                  </a:cubicBezTo>
                  <a:cubicBezTo>
                    <a:pt x="3120232" y="6672519"/>
                    <a:pt x="3061259" y="6668233"/>
                    <a:pt x="3002410" y="6661169"/>
                  </a:cubicBezTo>
                  <a:cubicBezTo>
                    <a:pt x="2884589" y="6647851"/>
                    <a:pt x="2766891" y="6629669"/>
                    <a:pt x="2650296" y="6604191"/>
                  </a:cubicBezTo>
                  <a:cubicBezTo>
                    <a:pt x="2533702" y="6578713"/>
                    <a:pt x="2418456" y="6545938"/>
                    <a:pt x="2306028" y="6505869"/>
                  </a:cubicBezTo>
                  <a:cubicBezTo>
                    <a:pt x="2193602" y="6465683"/>
                    <a:pt x="2084118" y="6417738"/>
                    <a:pt x="1978803" y="6363307"/>
                  </a:cubicBezTo>
                  <a:cubicBezTo>
                    <a:pt x="1873855" y="6308066"/>
                    <a:pt x="1773077" y="6246340"/>
                    <a:pt x="1678428" y="6177779"/>
                  </a:cubicBezTo>
                  <a:cubicBezTo>
                    <a:pt x="1488393" y="6041356"/>
                    <a:pt x="1321900" y="5881423"/>
                    <a:pt x="1175880" y="5710373"/>
                  </a:cubicBezTo>
                  <a:cubicBezTo>
                    <a:pt x="1103177" y="5624441"/>
                    <a:pt x="1035501" y="5535732"/>
                    <a:pt x="971502" y="5445399"/>
                  </a:cubicBezTo>
                  <a:cubicBezTo>
                    <a:pt x="907380" y="5355069"/>
                    <a:pt x="847550" y="5262768"/>
                    <a:pt x="790909" y="5169078"/>
                  </a:cubicBezTo>
                  <a:cubicBezTo>
                    <a:pt x="761974" y="5121712"/>
                    <a:pt x="735492" y="5077357"/>
                    <a:pt x="706680" y="5031959"/>
                  </a:cubicBezTo>
                  <a:cubicBezTo>
                    <a:pt x="678114" y="4986910"/>
                    <a:pt x="649058" y="4941860"/>
                    <a:pt x="619143" y="4897157"/>
                  </a:cubicBezTo>
                  <a:lnTo>
                    <a:pt x="436465" y="4628710"/>
                  </a:lnTo>
                  <a:cubicBezTo>
                    <a:pt x="406182" y="4583544"/>
                    <a:pt x="376267" y="4538147"/>
                    <a:pt x="347088" y="4492171"/>
                  </a:cubicBezTo>
                  <a:cubicBezTo>
                    <a:pt x="317908" y="4446194"/>
                    <a:pt x="288974" y="4400102"/>
                    <a:pt x="262001" y="4352619"/>
                  </a:cubicBezTo>
                  <a:cubicBezTo>
                    <a:pt x="207934" y="4258119"/>
                    <a:pt x="158280" y="4160840"/>
                    <a:pt x="118679" y="4059853"/>
                  </a:cubicBezTo>
                  <a:cubicBezTo>
                    <a:pt x="78343" y="3959214"/>
                    <a:pt x="48429" y="3854870"/>
                    <a:pt x="28322" y="3749136"/>
                  </a:cubicBezTo>
                  <a:cubicBezTo>
                    <a:pt x="9073" y="3643402"/>
                    <a:pt x="0" y="3536046"/>
                    <a:pt x="0" y="3428922"/>
                  </a:cubicBezTo>
                  <a:cubicBezTo>
                    <a:pt x="1594" y="3001816"/>
                    <a:pt x="89010" y="2575868"/>
                    <a:pt x="253052" y="2174356"/>
                  </a:cubicBezTo>
                  <a:cubicBezTo>
                    <a:pt x="294246" y="2074066"/>
                    <a:pt x="338873" y="1974700"/>
                    <a:pt x="389141" y="1877652"/>
                  </a:cubicBezTo>
                  <a:cubicBezTo>
                    <a:pt x="438672" y="1780256"/>
                    <a:pt x="493230" y="1684945"/>
                    <a:pt x="552079" y="1591834"/>
                  </a:cubicBezTo>
                  <a:cubicBezTo>
                    <a:pt x="669900" y="1405728"/>
                    <a:pt x="804394" y="1227729"/>
                    <a:pt x="954950" y="1061773"/>
                  </a:cubicBezTo>
                  <a:cubicBezTo>
                    <a:pt x="1030597" y="979085"/>
                    <a:pt x="1109552" y="898829"/>
                    <a:pt x="1192922" y="822626"/>
                  </a:cubicBezTo>
                  <a:cubicBezTo>
                    <a:pt x="1213642" y="803402"/>
                    <a:pt x="1234483" y="784409"/>
                    <a:pt x="1255939" y="765880"/>
                  </a:cubicBezTo>
                  <a:cubicBezTo>
                    <a:pt x="1277273" y="747234"/>
                    <a:pt x="1298237" y="728241"/>
                    <a:pt x="1320183" y="710291"/>
                  </a:cubicBezTo>
                  <a:cubicBezTo>
                    <a:pt x="1363585" y="673811"/>
                    <a:pt x="1408088" y="638489"/>
                    <a:pt x="1452961" y="603514"/>
                  </a:cubicBezTo>
                  <a:cubicBezTo>
                    <a:pt x="1633310" y="464543"/>
                    <a:pt x="1828125" y="341437"/>
                    <a:pt x="2033360" y="235818"/>
                  </a:cubicBezTo>
                  <a:cubicBezTo>
                    <a:pt x="2187242" y="156561"/>
                    <a:pt x="2347554" y="87597"/>
                    <a:pt x="2512513" y="30012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6" name="Freeform: Shape 15">
              <a:extLst>
                <a:ext uri="{FF2B5EF4-FFF2-40B4-BE49-F238E27FC236}">
                  <a16:creationId xmlns:a16="http://schemas.microsoft.com/office/drawing/2014/main" id="{15102EBE-A80F-4CFF-B1DD-941EF9728B5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404998" y="98659"/>
              <a:ext cx="5774333" cy="6315453"/>
            </a:xfrm>
            <a:custGeom>
              <a:avLst/>
              <a:gdLst>
                <a:gd name="connsiteX0" fmla="*/ 3707237 w 5774333"/>
                <a:gd name="connsiteY0" fmla="*/ 1489 h 6315453"/>
                <a:gd name="connsiteX1" fmla="*/ 4037665 w 5774333"/>
                <a:gd name="connsiteY1" fmla="*/ 6121 h 6315453"/>
                <a:gd name="connsiteX2" fmla="*/ 4692239 w 5774333"/>
                <a:gd name="connsiteY2" fmla="*/ 102128 h 6315453"/>
                <a:gd name="connsiteX3" fmla="*/ 5315059 w 5774333"/>
                <a:gd name="connsiteY3" fmla="*/ 324945 h 6315453"/>
                <a:gd name="connsiteX4" fmla="*/ 5738325 w 5774333"/>
                <a:gd name="connsiteY4" fmla="*/ 578286 h 6315453"/>
                <a:gd name="connsiteX5" fmla="*/ 5774333 w 5774333"/>
                <a:gd name="connsiteY5" fmla="*/ 606551 h 6315453"/>
                <a:gd name="connsiteX6" fmla="*/ 5774333 w 5774333"/>
                <a:gd name="connsiteY6" fmla="*/ 975490 h 6315453"/>
                <a:gd name="connsiteX7" fmla="*/ 5676001 w 5774333"/>
                <a:gd name="connsiteY7" fmla="*/ 889749 h 6315453"/>
                <a:gd name="connsiteX8" fmla="*/ 5177132 w 5774333"/>
                <a:gd name="connsiteY8" fmla="*/ 581926 h 6315453"/>
                <a:gd name="connsiteX9" fmla="*/ 4615735 w 5774333"/>
                <a:gd name="connsiteY9" fmla="*/ 388640 h 6315453"/>
                <a:gd name="connsiteX10" fmla="*/ 4020010 w 5774333"/>
                <a:gd name="connsiteY10" fmla="*/ 308500 h 6315453"/>
                <a:gd name="connsiteX11" fmla="*/ 3416315 w 5774333"/>
                <a:gd name="connsiteY11" fmla="*/ 328882 h 6315453"/>
                <a:gd name="connsiteX12" fmla="*/ 2823779 w 5774333"/>
                <a:gd name="connsiteY12" fmla="*/ 446545 h 6315453"/>
                <a:gd name="connsiteX13" fmla="*/ 2256987 w 5774333"/>
                <a:gd name="connsiteY13" fmla="*/ 651296 h 6315453"/>
                <a:gd name="connsiteX14" fmla="*/ 1244169 w 5774333"/>
                <a:gd name="connsiteY14" fmla="*/ 1280374 h 6315453"/>
                <a:gd name="connsiteX15" fmla="*/ 830141 w 5774333"/>
                <a:gd name="connsiteY15" fmla="*/ 1700184 h 6315453"/>
                <a:gd name="connsiteX16" fmla="*/ 502792 w 5774333"/>
                <a:gd name="connsiteY16" fmla="*/ 2182300 h 6315453"/>
                <a:gd name="connsiteX17" fmla="*/ 280637 w 5774333"/>
                <a:gd name="connsiteY17" fmla="*/ 2715256 h 6315453"/>
                <a:gd name="connsiteX18" fmla="*/ 199843 w 5774333"/>
                <a:gd name="connsiteY18" fmla="*/ 3283418 h 6315453"/>
                <a:gd name="connsiteX19" fmla="*/ 233926 w 5774333"/>
                <a:gd name="connsiteY19" fmla="*/ 3561593 h 6315453"/>
                <a:gd name="connsiteX20" fmla="*/ 334582 w 5774333"/>
                <a:gd name="connsiteY20" fmla="*/ 3821816 h 6315453"/>
                <a:gd name="connsiteX21" fmla="*/ 404834 w 5774333"/>
                <a:gd name="connsiteY21" fmla="*/ 3944343 h 6315453"/>
                <a:gd name="connsiteX22" fmla="*/ 485506 w 5774333"/>
                <a:gd name="connsiteY22" fmla="*/ 4062932 h 6315453"/>
                <a:gd name="connsiteX23" fmla="*/ 671861 w 5774333"/>
                <a:gd name="connsiteY23" fmla="*/ 4292120 h 6315453"/>
                <a:gd name="connsiteX24" fmla="*/ 873542 w 5774333"/>
                <a:gd name="connsiteY24" fmla="*/ 4523044 h 6315453"/>
                <a:gd name="connsiteX25" fmla="*/ 973831 w 5774333"/>
                <a:gd name="connsiteY25" fmla="*/ 4643601 h 6315453"/>
                <a:gd name="connsiteX26" fmla="*/ 1022014 w 5774333"/>
                <a:gd name="connsiteY26" fmla="*/ 4702780 h 6315453"/>
                <a:gd name="connsiteX27" fmla="*/ 1069215 w 5774333"/>
                <a:gd name="connsiteY27" fmla="*/ 4759411 h 6315453"/>
                <a:gd name="connsiteX28" fmla="*/ 1474784 w 5774333"/>
                <a:gd name="connsiteY28" fmla="*/ 5177948 h 6315453"/>
                <a:gd name="connsiteX29" fmla="*/ 1690442 w 5774333"/>
                <a:gd name="connsiteY29" fmla="*/ 5366255 h 6315453"/>
                <a:gd name="connsiteX30" fmla="*/ 1916276 w 5774333"/>
                <a:gd name="connsiteY30" fmla="*/ 5539852 h 6315453"/>
                <a:gd name="connsiteX31" fmla="*/ 2420784 w 5774333"/>
                <a:gd name="connsiteY31" fmla="*/ 5814437 h 6315453"/>
                <a:gd name="connsiteX32" fmla="*/ 2703015 w 5774333"/>
                <a:gd name="connsiteY32" fmla="*/ 5892029 h 6315453"/>
                <a:gd name="connsiteX33" fmla="*/ 2775350 w 5774333"/>
                <a:gd name="connsiteY33" fmla="*/ 5905695 h 6315453"/>
                <a:gd name="connsiteX34" fmla="*/ 2848299 w 5774333"/>
                <a:gd name="connsiteY34" fmla="*/ 5917161 h 6315453"/>
                <a:gd name="connsiteX35" fmla="*/ 2995544 w 5774333"/>
                <a:gd name="connsiteY35" fmla="*/ 5933605 h 6315453"/>
                <a:gd name="connsiteX36" fmla="*/ 3069596 w 5774333"/>
                <a:gd name="connsiteY36" fmla="*/ 5938933 h 6315453"/>
                <a:gd name="connsiteX37" fmla="*/ 3143894 w 5774333"/>
                <a:gd name="connsiteY37" fmla="*/ 5942639 h 6315453"/>
                <a:gd name="connsiteX38" fmla="*/ 3218436 w 5774333"/>
                <a:gd name="connsiteY38" fmla="*/ 5944260 h 6315453"/>
                <a:gd name="connsiteX39" fmla="*/ 3293101 w 5774333"/>
                <a:gd name="connsiteY39" fmla="*/ 5943913 h 6315453"/>
                <a:gd name="connsiteX40" fmla="*/ 3330494 w 5774333"/>
                <a:gd name="connsiteY40" fmla="*/ 5943565 h 6315453"/>
                <a:gd name="connsiteX41" fmla="*/ 3366540 w 5774333"/>
                <a:gd name="connsiteY41" fmla="*/ 5942059 h 6315453"/>
                <a:gd name="connsiteX42" fmla="*/ 3402462 w 5774333"/>
                <a:gd name="connsiteY42" fmla="*/ 5940323 h 6315453"/>
                <a:gd name="connsiteX43" fmla="*/ 3438262 w 5774333"/>
                <a:gd name="connsiteY43" fmla="*/ 5937543 h 6315453"/>
                <a:gd name="connsiteX44" fmla="*/ 3580236 w 5774333"/>
                <a:gd name="connsiteY44" fmla="*/ 5920982 h 6315453"/>
                <a:gd name="connsiteX45" fmla="*/ 4121034 w 5774333"/>
                <a:gd name="connsiteY45" fmla="*/ 5753290 h 6315453"/>
                <a:gd name="connsiteX46" fmla="*/ 4620639 w 5774333"/>
                <a:gd name="connsiteY46" fmla="*/ 5459364 h 6315453"/>
                <a:gd name="connsiteX47" fmla="*/ 4741771 w 5774333"/>
                <a:gd name="connsiteY47" fmla="*/ 5372971 h 6315453"/>
                <a:gd name="connsiteX48" fmla="*/ 4862901 w 5774333"/>
                <a:gd name="connsiteY48" fmla="*/ 5283682 h 6315453"/>
                <a:gd name="connsiteX49" fmla="*/ 5108229 w 5774333"/>
                <a:gd name="connsiteY49" fmla="*/ 5098386 h 6315453"/>
                <a:gd name="connsiteX50" fmla="*/ 5612493 w 5774333"/>
                <a:gd name="connsiteY50" fmla="*/ 4739724 h 6315453"/>
                <a:gd name="connsiteX51" fmla="*/ 5774333 w 5774333"/>
                <a:gd name="connsiteY51" fmla="*/ 4623488 h 6315453"/>
                <a:gd name="connsiteX52" fmla="*/ 5774333 w 5774333"/>
                <a:gd name="connsiteY52" fmla="*/ 5232926 h 6315453"/>
                <a:gd name="connsiteX53" fmla="*/ 5676492 w 5774333"/>
                <a:gd name="connsiteY53" fmla="*/ 5306859 h 6315453"/>
                <a:gd name="connsiteX54" fmla="*/ 5426260 w 5774333"/>
                <a:gd name="connsiteY54" fmla="*/ 5486233 h 6315453"/>
                <a:gd name="connsiteX55" fmla="*/ 5300225 w 5774333"/>
                <a:gd name="connsiteY55" fmla="*/ 5576217 h 6315453"/>
                <a:gd name="connsiteX56" fmla="*/ 5170757 w 5774333"/>
                <a:gd name="connsiteY56" fmla="*/ 5666780 h 6315453"/>
                <a:gd name="connsiteX57" fmla="*/ 5038100 w 5774333"/>
                <a:gd name="connsiteY57" fmla="*/ 5756185 h 6315453"/>
                <a:gd name="connsiteX58" fmla="*/ 4901276 w 5774333"/>
                <a:gd name="connsiteY58" fmla="*/ 5843043 h 6315453"/>
                <a:gd name="connsiteX59" fmla="*/ 4614019 w 5774333"/>
                <a:gd name="connsiteY59" fmla="*/ 6006103 h 6315453"/>
                <a:gd name="connsiteX60" fmla="*/ 4305061 w 5774333"/>
                <a:gd name="connsiteY60" fmla="*/ 6144726 h 6315453"/>
                <a:gd name="connsiteX61" fmla="*/ 3632710 w 5774333"/>
                <a:gd name="connsiteY61" fmla="*/ 6304196 h 6315453"/>
                <a:gd name="connsiteX62" fmla="*/ 3459594 w 5774333"/>
                <a:gd name="connsiteY62" fmla="*/ 6314504 h 6315453"/>
                <a:gd name="connsiteX63" fmla="*/ 3416315 w 5774333"/>
                <a:gd name="connsiteY63" fmla="*/ 6315429 h 6315453"/>
                <a:gd name="connsiteX64" fmla="*/ 3373159 w 5774333"/>
                <a:gd name="connsiteY64" fmla="*/ 6315198 h 6315453"/>
                <a:gd name="connsiteX65" fmla="*/ 3330127 w 5774333"/>
                <a:gd name="connsiteY65" fmla="*/ 6314735 h 6315453"/>
                <a:gd name="connsiteX66" fmla="*/ 3288320 w 5774333"/>
                <a:gd name="connsiteY66" fmla="*/ 6313230 h 6315453"/>
                <a:gd name="connsiteX67" fmla="*/ 2954350 w 5774333"/>
                <a:gd name="connsiteY67" fmla="*/ 6288098 h 6315453"/>
                <a:gd name="connsiteX68" fmla="*/ 2622466 w 5774333"/>
                <a:gd name="connsiteY68" fmla="*/ 6232742 h 6315453"/>
                <a:gd name="connsiteX69" fmla="*/ 2296466 w 5774333"/>
                <a:gd name="connsiteY69" fmla="*/ 6146001 h 6315453"/>
                <a:gd name="connsiteX70" fmla="*/ 1672419 w 5774333"/>
                <a:gd name="connsiteY70" fmla="*/ 5885197 h 6315453"/>
                <a:gd name="connsiteX71" fmla="*/ 1146578 w 5774333"/>
                <a:gd name="connsiteY71" fmla="*/ 5479168 h 6315453"/>
                <a:gd name="connsiteX72" fmla="*/ 933372 w 5774333"/>
                <a:gd name="connsiteY72" fmla="*/ 5234810 h 6315453"/>
                <a:gd name="connsiteX73" fmla="*/ 747140 w 5774333"/>
                <a:gd name="connsiteY73" fmla="*/ 4976091 h 6315453"/>
                <a:gd name="connsiteX74" fmla="*/ 703616 w 5774333"/>
                <a:gd name="connsiteY74" fmla="*/ 4910196 h 6315453"/>
                <a:gd name="connsiteX75" fmla="*/ 662053 w 5774333"/>
                <a:gd name="connsiteY75" fmla="*/ 4846269 h 6315453"/>
                <a:gd name="connsiteX76" fmla="*/ 580033 w 5774333"/>
                <a:gd name="connsiteY76" fmla="*/ 4722352 h 6315453"/>
                <a:gd name="connsiteX77" fmla="*/ 410105 w 5774333"/>
                <a:gd name="connsiteY77" fmla="*/ 4469193 h 6315453"/>
                <a:gd name="connsiteX78" fmla="*/ 244224 w 5774333"/>
                <a:gd name="connsiteY78" fmla="*/ 4201556 h 6315453"/>
                <a:gd name="connsiteX79" fmla="*/ 169437 w 5774333"/>
                <a:gd name="connsiteY79" fmla="*/ 4059690 h 6315453"/>
                <a:gd name="connsiteX80" fmla="*/ 105929 w 5774333"/>
                <a:gd name="connsiteY80" fmla="*/ 3911221 h 6315453"/>
                <a:gd name="connsiteX81" fmla="*/ 57256 w 5774333"/>
                <a:gd name="connsiteY81" fmla="*/ 3757195 h 6315453"/>
                <a:gd name="connsiteX82" fmla="*/ 39111 w 5774333"/>
                <a:gd name="connsiteY82" fmla="*/ 3678677 h 6315453"/>
                <a:gd name="connsiteX83" fmla="*/ 31142 w 5774333"/>
                <a:gd name="connsiteY83" fmla="*/ 3639300 h 6315453"/>
                <a:gd name="connsiteX84" fmla="*/ 24521 w 5774333"/>
                <a:gd name="connsiteY84" fmla="*/ 3599809 h 6315453"/>
                <a:gd name="connsiteX85" fmla="*/ 0 w 5774333"/>
                <a:gd name="connsiteY85" fmla="*/ 3283418 h 6315453"/>
                <a:gd name="connsiteX86" fmla="*/ 68045 w 5774333"/>
                <a:gd name="connsiteY86" fmla="*/ 2666963 h 6315453"/>
                <a:gd name="connsiteX87" fmla="*/ 272546 w 5774333"/>
                <a:gd name="connsiteY87" fmla="*/ 2076334 h 6315453"/>
                <a:gd name="connsiteX88" fmla="*/ 1039300 w 5774333"/>
                <a:gd name="connsiteY88" fmla="*/ 1073307 h 6315453"/>
                <a:gd name="connsiteX89" fmla="*/ 1547733 w 5774333"/>
                <a:gd name="connsiteY89" fmla="*/ 680365 h 6315453"/>
                <a:gd name="connsiteX90" fmla="*/ 2115995 w 5774333"/>
                <a:gd name="connsiteY90" fmla="*/ 368373 h 6315453"/>
                <a:gd name="connsiteX91" fmla="*/ 3377451 w 5774333"/>
                <a:gd name="connsiteY91" fmla="*/ 24304 h 6315453"/>
                <a:gd name="connsiteX92" fmla="*/ 3707237 w 5774333"/>
                <a:gd name="connsiteY92" fmla="*/ 1489 h 631545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</a:cxnLst>
              <a:rect l="l" t="t" r="r" b="b"/>
              <a:pathLst>
                <a:path w="5774333" h="6315453">
                  <a:moveTo>
                    <a:pt x="3707237" y="1489"/>
                  </a:moveTo>
                  <a:cubicBezTo>
                    <a:pt x="3817502" y="-1522"/>
                    <a:pt x="3927875" y="41"/>
                    <a:pt x="4037665" y="6121"/>
                  </a:cubicBezTo>
                  <a:cubicBezTo>
                    <a:pt x="4257614" y="18745"/>
                    <a:pt x="4477439" y="49665"/>
                    <a:pt x="4692239" y="102128"/>
                  </a:cubicBezTo>
                  <a:cubicBezTo>
                    <a:pt x="4907039" y="154474"/>
                    <a:pt x="5116811" y="228592"/>
                    <a:pt x="5315059" y="324945"/>
                  </a:cubicBezTo>
                  <a:cubicBezTo>
                    <a:pt x="5463562" y="397211"/>
                    <a:pt x="5606133" y="481527"/>
                    <a:pt x="5738325" y="578286"/>
                  </a:cubicBezTo>
                  <a:lnTo>
                    <a:pt x="5774333" y="606551"/>
                  </a:lnTo>
                  <a:lnTo>
                    <a:pt x="5774333" y="975490"/>
                  </a:lnTo>
                  <a:lnTo>
                    <a:pt x="5676001" y="889749"/>
                  </a:lnTo>
                  <a:cubicBezTo>
                    <a:pt x="5522381" y="769886"/>
                    <a:pt x="5355519" y="665657"/>
                    <a:pt x="5177132" y="581926"/>
                  </a:cubicBezTo>
                  <a:cubicBezTo>
                    <a:pt x="4998867" y="497965"/>
                    <a:pt x="4810183" y="433574"/>
                    <a:pt x="4615735" y="388640"/>
                  </a:cubicBezTo>
                  <a:cubicBezTo>
                    <a:pt x="4421289" y="343591"/>
                    <a:pt x="4221446" y="317649"/>
                    <a:pt x="4020010" y="308500"/>
                  </a:cubicBezTo>
                  <a:cubicBezTo>
                    <a:pt x="3818207" y="298887"/>
                    <a:pt x="3616649" y="305257"/>
                    <a:pt x="3416315" y="328882"/>
                  </a:cubicBezTo>
                  <a:cubicBezTo>
                    <a:pt x="3216106" y="352623"/>
                    <a:pt x="3017736" y="392346"/>
                    <a:pt x="2823779" y="446545"/>
                  </a:cubicBezTo>
                  <a:cubicBezTo>
                    <a:pt x="2629699" y="500513"/>
                    <a:pt x="2440401" y="570345"/>
                    <a:pt x="2256987" y="651296"/>
                  </a:cubicBezTo>
                  <a:cubicBezTo>
                    <a:pt x="1889058" y="811461"/>
                    <a:pt x="1545527" y="1023856"/>
                    <a:pt x="1244169" y="1280374"/>
                  </a:cubicBezTo>
                  <a:cubicBezTo>
                    <a:pt x="1093982" y="1409039"/>
                    <a:pt x="954828" y="1549400"/>
                    <a:pt x="830141" y="1700184"/>
                  </a:cubicBezTo>
                  <a:cubicBezTo>
                    <a:pt x="705209" y="1850736"/>
                    <a:pt x="594989" y="2012176"/>
                    <a:pt x="502792" y="2182300"/>
                  </a:cubicBezTo>
                  <a:cubicBezTo>
                    <a:pt x="410595" y="2352308"/>
                    <a:pt x="333847" y="2530307"/>
                    <a:pt x="280637" y="2715256"/>
                  </a:cubicBezTo>
                  <a:cubicBezTo>
                    <a:pt x="227306" y="2899741"/>
                    <a:pt x="199719" y="3091521"/>
                    <a:pt x="199843" y="3283418"/>
                  </a:cubicBezTo>
                  <a:cubicBezTo>
                    <a:pt x="200946" y="3377687"/>
                    <a:pt x="210754" y="3471261"/>
                    <a:pt x="233926" y="3561593"/>
                  </a:cubicBezTo>
                  <a:cubicBezTo>
                    <a:pt x="256730" y="3652040"/>
                    <a:pt x="292162" y="3738550"/>
                    <a:pt x="334582" y="3821816"/>
                  </a:cubicBezTo>
                  <a:cubicBezTo>
                    <a:pt x="356038" y="3863392"/>
                    <a:pt x="379823" y="3904157"/>
                    <a:pt x="404834" y="3944343"/>
                  </a:cubicBezTo>
                  <a:cubicBezTo>
                    <a:pt x="430212" y="3984413"/>
                    <a:pt x="457308" y="4023905"/>
                    <a:pt x="485506" y="4062932"/>
                  </a:cubicBezTo>
                  <a:cubicBezTo>
                    <a:pt x="542639" y="4140757"/>
                    <a:pt x="606146" y="4216265"/>
                    <a:pt x="671861" y="4292120"/>
                  </a:cubicBezTo>
                  <a:cubicBezTo>
                    <a:pt x="737576" y="4368091"/>
                    <a:pt x="806234" y="4444062"/>
                    <a:pt x="873542" y="4523044"/>
                  </a:cubicBezTo>
                  <a:cubicBezTo>
                    <a:pt x="907258" y="4562419"/>
                    <a:pt x="940606" y="4602721"/>
                    <a:pt x="973831" y="4643601"/>
                  </a:cubicBezTo>
                  <a:lnTo>
                    <a:pt x="1022014" y="4702780"/>
                  </a:lnTo>
                  <a:cubicBezTo>
                    <a:pt x="1037829" y="4721658"/>
                    <a:pt x="1052910" y="4740998"/>
                    <a:pt x="1069215" y="4759411"/>
                  </a:cubicBezTo>
                  <a:cubicBezTo>
                    <a:pt x="1196477" y="4909269"/>
                    <a:pt x="1334527" y="5047199"/>
                    <a:pt x="1474784" y="5177948"/>
                  </a:cubicBezTo>
                  <a:cubicBezTo>
                    <a:pt x="1545281" y="5243033"/>
                    <a:pt x="1617003" y="5305917"/>
                    <a:pt x="1690442" y="5366255"/>
                  </a:cubicBezTo>
                  <a:cubicBezTo>
                    <a:pt x="1763881" y="5426591"/>
                    <a:pt x="1838668" y="5484959"/>
                    <a:pt x="1916276" y="5539852"/>
                  </a:cubicBezTo>
                  <a:cubicBezTo>
                    <a:pt x="2070877" y="5649872"/>
                    <a:pt x="2237617" y="5748194"/>
                    <a:pt x="2420784" y="5814437"/>
                  </a:cubicBezTo>
                  <a:cubicBezTo>
                    <a:pt x="2512124" y="5847559"/>
                    <a:pt x="2606773" y="5872921"/>
                    <a:pt x="2703015" y="5892029"/>
                  </a:cubicBezTo>
                  <a:cubicBezTo>
                    <a:pt x="2727168" y="5896546"/>
                    <a:pt x="2751075" y="5901758"/>
                    <a:pt x="2775350" y="5905695"/>
                  </a:cubicBezTo>
                  <a:lnTo>
                    <a:pt x="2848299" y="5917161"/>
                  </a:lnTo>
                  <a:cubicBezTo>
                    <a:pt x="2897218" y="5923298"/>
                    <a:pt x="2946136" y="5929784"/>
                    <a:pt x="2995544" y="5933605"/>
                  </a:cubicBezTo>
                  <a:cubicBezTo>
                    <a:pt x="3020188" y="5935806"/>
                    <a:pt x="3044831" y="5937891"/>
                    <a:pt x="3069596" y="5938933"/>
                  </a:cubicBezTo>
                  <a:cubicBezTo>
                    <a:pt x="3094362" y="5940090"/>
                    <a:pt x="3119005" y="5941943"/>
                    <a:pt x="3143894" y="5942639"/>
                  </a:cubicBezTo>
                  <a:lnTo>
                    <a:pt x="3218436" y="5944260"/>
                  </a:lnTo>
                  <a:cubicBezTo>
                    <a:pt x="3243201" y="5944838"/>
                    <a:pt x="3268212" y="5944029"/>
                    <a:pt x="3293101" y="5943913"/>
                  </a:cubicBezTo>
                  <a:lnTo>
                    <a:pt x="3330494" y="5943565"/>
                  </a:lnTo>
                  <a:cubicBezTo>
                    <a:pt x="3342632" y="5943218"/>
                    <a:pt x="3354524" y="5942523"/>
                    <a:pt x="3366540" y="5942059"/>
                  </a:cubicBezTo>
                  <a:cubicBezTo>
                    <a:pt x="3378554" y="5941480"/>
                    <a:pt x="3390570" y="5941134"/>
                    <a:pt x="3402462" y="5940323"/>
                  </a:cubicBezTo>
                  <a:lnTo>
                    <a:pt x="3438262" y="5937543"/>
                  </a:lnTo>
                  <a:cubicBezTo>
                    <a:pt x="3485954" y="5933953"/>
                    <a:pt x="3533279" y="5927931"/>
                    <a:pt x="3580236" y="5920982"/>
                  </a:cubicBezTo>
                  <a:cubicBezTo>
                    <a:pt x="3768185" y="5891567"/>
                    <a:pt x="3948901" y="5834010"/>
                    <a:pt x="4121034" y="5753290"/>
                  </a:cubicBezTo>
                  <a:cubicBezTo>
                    <a:pt x="4293782" y="5673497"/>
                    <a:pt x="4458191" y="5571353"/>
                    <a:pt x="4620639" y="5459364"/>
                  </a:cubicBezTo>
                  <a:cubicBezTo>
                    <a:pt x="4661221" y="5431455"/>
                    <a:pt x="4701557" y="5402271"/>
                    <a:pt x="4741771" y="5372971"/>
                  </a:cubicBezTo>
                  <a:cubicBezTo>
                    <a:pt x="4782230" y="5343672"/>
                    <a:pt x="4822566" y="5313908"/>
                    <a:pt x="4862901" y="5283682"/>
                  </a:cubicBezTo>
                  <a:lnTo>
                    <a:pt x="5108229" y="5098386"/>
                  </a:lnTo>
                  <a:cubicBezTo>
                    <a:pt x="5276563" y="4972270"/>
                    <a:pt x="5446489" y="4854838"/>
                    <a:pt x="5612493" y="4739724"/>
                  </a:cubicBezTo>
                  <a:lnTo>
                    <a:pt x="5774333" y="4623488"/>
                  </a:lnTo>
                  <a:lnTo>
                    <a:pt x="5774333" y="5232926"/>
                  </a:lnTo>
                  <a:lnTo>
                    <a:pt x="5676492" y="5306859"/>
                  </a:lnTo>
                  <a:cubicBezTo>
                    <a:pt x="5592693" y="5367905"/>
                    <a:pt x="5508955" y="5427286"/>
                    <a:pt x="5426260" y="5486233"/>
                  </a:cubicBezTo>
                  <a:lnTo>
                    <a:pt x="5300225" y="5576217"/>
                  </a:lnTo>
                  <a:cubicBezTo>
                    <a:pt x="5257559" y="5606443"/>
                    <a:pt x="5214525" y="5636901"/>
                    <a:pt x="5170757" y="5666780"/>
                  </a:cubicBezTo>
                  <a:cubicBezTo>
                    <a:pt x="5127110" y="5696775"/>
                    <a:pt x="5082973" y="5726654"/>
                    <a:pt x="5038100" y="5756185"/>
                  </a:cubicBezTo>
                  <a:cubicBezTo>
                    <a:pt x="4993106" y="5785486"/>
                    <a:pt x="4947743" y="5814553"/>
                    <a:pt x="4901276" y="5843043"/>
                  </a:cubicBezTo>
                  <a:cubicBezTo>
                    <a:pt x="4808835" y="5900136"/>
                    <a:pt x="4713449" y="5955494"/>
                    <a:pt x="4614019" y="6006103"/>
                  </a:cubicBezTo>
                  <a:cubicBezTo>
                    <a:pt x="4514711" y="6056943"/>
                    <a:pt x="4411971" y="6104192"/>
                    <a:pt x="4305061" y="6144726"/>
                  </a:cubicBezTo>
                  <a:cubicBezTo>
                    <a:pt x="4092223" y="6226952"/>
                    <a:pt x="3863569" y="6282424"/>
                    <a:pt x="3632710" y="6304196"/>
                  </a:cubicBezTo>
                  <a:cubicBezTo>
                    <a:pt x="3574964" y="6309408"/>
                    <a:pt x="3517218" y="6313345"/>
                    <a:pt x="3459594" y="6314504"/>
                  </a:cubicBezTo>
                  <a:lnTo>
                    <a:pt x="3416315" y="6315429"/>
                  </a:lnTo>
                  <a:cubicBezTo>
                    <a:pt x="3401971" y="6315546"/>
                    <a:pt x="3387505" y="6315198"/>
                    <a:pt x="3373159" y="6315198"/>
                  </a:cubicBezTo>
                  <a:lnTo>
                    <a:pt x="3330127" y="6314735"/>
                  </a:lnTo>
                  <a:lnTo>
                    <a:pt x="3288320" y="6313230"/>
                  </a:lnTo>
                  <a:cubicBezTo>
                    <a:pt x="3176996" y="6309870"/>
                    <a:pt x="3065428" y="6301533"/>
                    <a:pt x="2954350" y="6288098"/>
                  </a:cubicBezTo>
                  <a:cubicBezTo>
                    <a:pt x="2843150" y="6275360"/>
                    <a:pt x="2732194" y="6257061"/>
                    <a:pt x="2622466" y="6232742"/>
                  </a:cubicBezTo>
                  <a:cubicBezTo>
                    <a:pt x="2512859" y="6208190"/>
                    <a:pt x="2404110" y="6179122"/>
                    <a:pt x="2296466" y="6146001"/>
                  </a:cubicBezTo>
                  <a:cubicBezTo>
                    <a:pt x="2081544" y="6079179"/>
                    <a:pt x="1869073" y="5996027"/>
                    <a:pt x="1672419" y="5885197"/>
                  </a:cubicBezTo>
                  <a:cubicBezTo>
                    <a:pt x="1475643" y="5774599"/>
                    <a:pt x="1299954" y="5634353"/>
                    <a:pt x="1146578" y="5479168"/>
                  </a:cubicBezTo>
                  <a:cubicBezTo>
                    <a:pt x="1069461" y="5401692"/>
                    <a:pt x="999333" y="5319235"/>
                    <a:pt x="933372" y="5234810"/>
                  </a:cubicBezTo>
                  <a:cubicBezTo>
                    <a:pt x="867781" y="5150038"/>
                    <a:pt x="805375" y="5063991"/>
                    <a:pt x="747140" y="4976091"/>
                  </a:cubicBezTo>
                  <a:cubicBezTo>
                    <a:pt x="732182" y="4954319"/>
                    <a:pt x="718082" y="4932199"/>
                    <a:pt x="703616" y="4910196"/>
                  </a:cubicBezTo>
                  <a:lnTo>
                    <a:pt x="662053" y="4846269"/>
                  </a:lnTo>
                  <a:cubicBezTo>
                    <a:pt x="635449" y="4804925"/>
                    <a:pt x="607864" y="4763928"/>
                    <a:pt x="580033" y="4722352"/>
                  </a:cubicBezTo>
                  <a:lnTo>
                    <a:pt x="410105" y="4469193"/>
                  </a:lnTo>
                  <a:cubicBezTo>
                    <a:pt x="353095" y="4382915"/>
                    <a:pt x="296820" y="4294089"/>
                    <a:pt x="244224" y="4201556"/>
                  </a:cubicBezTo>
                  <a:cubicBezTo>
                    <a:pt x="217987" y="4155232"/>
                    <a:pt x="192609" y="4108098"/>
                    <a:pt x="169437" y="4059690"/>
                  </a:cubicBezTo>
                  <a:cubicBezTo>
                    <a:pt x="146388" y="4011165"/>
                    <a:pt x="124932" y="3961715"/>
                    <a:pt x="105929" y="3911221"/>
                  </a:cubicBezTo>
                  <a:cubicBezTo>
                    <a:pt x="87293" y="3860613"/>
                    <a:pt x="70742" y="3809309"/>
                    <a:pt x="57256" y="3757195"/>
                  </a:cubicBezTo>
                  <a:cubicBezTo>
                    <a:pt x="50881" y="3731138"/>
                    <a:pt x="44383" y="3704965"/>
                    <a:pt x="39111" y="3678677"/>
                  </a:cubicBezTo>
                  <a:lnTo>
                    <a:pt x="31142" y="3639300"/>
                  </a:lnTo>
                  <a:lnTo>
                    <a:pt x="24521" y="3599809"/>
                  </a:lnTo>
                  <a:cubicBezTo>
                    <a:pt x="7234" y="3494423"/>
                    <a:pt x="0" y="3388457"/>
                    <a:pt x="0" y="3283418"/>
                  </a:cubicBezTo>
                  <a:cubicBezTo>
                    <a:pt x="491" y="3076698"/>
                    <a:pt x="23418" y="2869978"/>
                    <a:pt x="68045" y="2666963"/>
                  </a:cubicBezTo>
                  <a:cubicBezTo>
                    <a:pt x="112550" y="2464064"/>
                    <a:pt x="180717" y="2265104"/>
                    <a:pt x="272546" y="2076334"/>
                  </a:cubicBezTo>
                  <a:cubicBezTo>
                    <a:pt x="457062" y="1698794"/>
                    <a:pt x="724457" y="1360978"/>
                    <a:pt x="1039300" y="1073307"/>
                  </a:cubicBezTo>
                  <a:cubicBezTo>
                    <a:pt x="1197090" y="929472"/>
                    <a:pt x="1367630" y="798259"/>
                    <a:pt x="1547733" y="680365"/>
                  </a:cubicBezTo>
                  <a:cubicBezTo>
                    <a:pt x="1728081" y="562587"/>
                    <a:pt x="1917870" y="457663"/>
                    <a:pt x="2115995" y="368373"/>
                  </a:cubicBezTo>
                  <a:cubicBezTo>
                    <a:pt x="2512737" y="191070"/>
                    <a:pt x="2939883" y="73870"/>
                    <a:pt x="3377451" y="24304"/>
                  </a:cubicBezTo>
                  <a:cubicBezTo>
                    <a:pt x="3486812" y="12086"/>
                    <a:pt x="3596971" y="4500"/>
                    <a:pt x="3707237" y="1489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7" name="Freeform: Shape 16">
              <a:extLst>
                <a:ext uri="{FF2B5EF4-FFF2-40B4-BE49-F238E27FC236}">
                  <a16:creationId xmlns:a16="http://schemas.microsoft.com/office/drawing/2014/main" id="{EC18CE1F-9DF1-47AF-9E66-6CE348AC233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410220" y="131729"/>
              <a:ext cx="5769111" cy="6229400"/>
            </a:xfrm>
            <a:custGeom>
              <a:avLst/>
              <a:gdLst>
                <a:gd name="connsiteX0" fmla="*/ 3882695 w 5769111"/>
                <a:gd name="connsiteY0" fmla="*/ 0 h 6229400"/>
                <a:gd name="connsiteX1" fmla="*/ 5691883 w 5769111"/>
                <a:gd name="connsiteY1" fmla="*/ 557381 h 6229400"/>
                <a:gd name="connsiteX2" fmla="*/ 5769111 w 5769111"/>
                <a:gd name="connsiteY2" fmla="*/ 620523 h 6229400"/>
                <a:gd name="connsiteX3" fmla="*/ 5769111 w 5769111"/>
                <a:gd name="connsiteY3" fmla="*/ 1464911 h 6229400"/>
                <a:gd name="connsiteX4" fmla="*/ 5660063 w 5769111"/>
                <a:gd name="connsiteY4" fmla="*/ 1328105 h 6229400"/>
                <a:gd name="connsiteX5" fmla="*/ 4910471 w 5769111"/>
                <a:gd name="connsiteY5" fmla="*/ 781599 h 6229400"/>
                <a:gd name="connsiteX6" fmla="*/ 3882695 w 5769111"/>
                <a:gd name="connsiteY6" fmla="*/ 579048 h 6229400"/>
                <a:gd name="connsiteX7" fmla="*/ 2683153 w 5769111"/>
                <a:gd name="connsiteY7" fmla="*/ 797003 h 6229400"/>
                <a:gd name="connsiteX8" fmla="*/ 1617493 w 5769111"/>
                <a:gd name="connsiteY8" fmla="*/ 1395738 h 6229400"/>
                <a:gd name="connsiteX9" fmla="*/ 880408 w 5769111"/>
                <a:gd name="connsiteY9" fmla="*/ 2259099 h 6229400"/>
                <a:gd name="connsiteX10" fmla="*/ 613135 w 5769111"/>
                <a:gd name="connsiteY10" fmla="*/ 3263863 h 6229400"/>
                <a:gd name="connsiteX11" fmla="*/ 1055484 w 5769111"/>
                <a:gd name="connsiteY11" fmla="*/ 4196825 h 6229400"/>
                <a:gd name="connsiteX12" fmla="*/ 1278376 w 5769111"/>
                <a:gd name="connsiteY12" fmla="*/ 4492950 h 6229400"/>
                <a:gd name="connsiteX13" fmla="*/ 3369851 w 5769111"/>
                <a:gd name="connsiteY13" fmla="*/ 5650468 h 6229400"/>
                <a:gd name="connsiteX14" fmla="*/ 4957551 w 5769111"/>
                <a:gd name="connsiteY14" fmla="*/ 4938355 h 6229400"/>
                <a:gd name="connsiteX15" fmla="*/ 5150773 w 5769111"/>
                <a:gd name="connsiteY15" fmla="*/ 4796950 h 6229400"/>
                <a:gd name="connsiteX16" fmla="*/ 5747247 w 5769111"/>
                <a:gd name="connsiteY16" fmla="*/ 4338176 h 6229400"/>
                <a:gd name="connsiteX17" fmla="*/ 5769111 w 5769111"/>
                <a:gd name="connsiteY17" fmla="*/ 4318497 h 6229400"/>
                <a:gd name="connsiteX18" fmla="*/ 5769111 w 5769111"/>
                <a:gd name="connsiteY18" fmla="*/ 5074612 h 6229400"/>
                <a:gd name="connsiteX19" fmla="*/ 5636252 w 5769111"/>
                <a:gd name="connsiteY19" fmla="*/ 5174208 h 6229400"/>
                <a:gd name="connsiteX20" fmla="*/ 5334922 w 5769111"/>
                <a:gd name="connsiteY20" fmla="*/ 5394528 h 6229400"/>
                <a:gd name="connsiteX21" fmla="*/ 3369727 w 5769111"/>
                <a:gd name="connsiteY21" fmla="*/ 6229400 h 6229400"/>
                <a:gd name="connsiteX22" fmla="*/ 771046 w 5769111"/>
                <a:gd name="connsiteY22" fmla="*/ 4817913 h 6229400"/>
                <a:gd name="connsiteX23" fmla="*/ 0 w 5769111"/>
                <a:gd name="connsiteY23" fmla="*/ 3263748 h 6229400"/>
                <a:gd name="connsiteX24" fmla="*/ 3882695 w 5769111"/>
                <a:gd name="connsiteY24" fmla="*/ 0 h 62294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</a:cxnLst>
              <a:rect l="l" t="t" r="r" b="b"/>
              <a:pathLst>
                <a:path w="5769111" h="6229400">
                  <a:moveTo>
                    <a:pt x="3882695" y="0"/>
                  </a:moveTo>
                  <a:cubicBezTo>
                    <a:pt x="4601253" y="0"/>
                    <a:pt x="5210727" y="205477"/>
                    <a:pt x="5691883" y="557381"/>
                  </a:cubicBezTo>
                  <a:lnTo>
                    <a:pt x="5769111" y="620523"/>
                  </a:lnTo>
                  <a:lnTo>
                    <a:pt x="5769111" y="1464911"/>
                  </a:lnTo>
                  <a:lnTo>
                    <a:pt x="5660063" y="1328105"/>
                  </a:lnTo>
                  <a:cubicBezTo>
                    <a:pt x="5449800" y="1091506"/>
                    <a:pt x="5197607" y="907600"/>
                    <a:pt x="4910471" y="781599"/>
                  </a:cubicBezTo>
                  <a:cubicBezTo>
                    <a:pt x="4604088" y="647260"/>
                    <a:pt x="4258349" y="579048"/>
                    <a:pt x="3882695" y="579048"/>
                  </a:cubicBezTo>
                  <a:cubicBezTo>
                    <a:pt x="3484238" y="579048"/>
                    <a:pt x="3080631" y="652240"/>
                    <a:pt x="2683153" y="797003"/>
                  </a:cubicBezTo>
                  <a:cubicBezTo>
                    <a:pt x="2296098" y="937595"/>
                    <a:pt x="1927678" y="1144662"/>
                    <a:pt x="1617493" y="1395738"/>
                  </a:cubicBezTo>
                  <a:cubicBezTo>
                    <a:pt x="1301915" y="1651098"/>
                    <a:pt x="1053890" y="1941665"/>
                    <a:pt x="880408" y="2259099"/>
                  </a:cubicBezTo>
                  <a:cubicBezTo>
                    <a:pt x="703125" y="2583597"/>
                    <a:pt x="613135" y="2921645"/>
                    <a:pt x="613135" y="3263863"/>
                  </a:cubicBezTo>
                  <a:cubicBezTo>
                    <a:pt x="613135" y="3608512"/>
                    <a:pt x="756702" y="3809789"/>
                    <a:pt x="1055484" y="4196825"/>
                  </a:cubicBezTo>
                  <a:cubicBezTo>
                    <a:pt x="1127574" y="4290167"/>
                    <a:pt x="1202116" y="4386753"/>
                    <a:pt x="1278376" y="4492950"/>
                  </a:cubicBezTo>
                  <a:cubicBezTo>
                    <a:pt x="1861105" y="5304313"/>
                    <a:pt x="2486623" y="5650468"/>
                    <a:pt x="3369851" y="5650468"/>
                  </a:cubicBezTo>
                  <a:cubicBezTo>
                    <a:pt x="3949515" y="5650468"/>
                    <a:pt x="4374822" y="5368471"/>
                    <a:pt x="4957551" y="4938355"/>
                  </a:cubicBezTo>
                  <a:cubicBezTo>
                    <a:pt x="5022653" y="4890293"/>
                    <a:pt x="5087755" y="4842811"/>
                    <a:pt x="5150773" y="4796950"/>
                  </a:cubicBezTo>
                  <a:cubicBezTo>
                    <a:pt x="5364254" y="4641404"/>
                    <a:pt x="5570313" y="4491241"/>
                    <a:pt x="5747247" y="4338176"/>
                  </a:cubicBezTo>
                  <a:lnTo>
                    <a:pt x="5769111" y="4318497"/>
                  </a:lnTo>
                  <a:lnTo>
                    <a:pt x="5769111" y="5074612"/>
                  </a:lnTo>
                  <a:lnTo>
                    <a:pt x="5636252" y="5174208"/>
                  </a:lnTo>
                  <a:cubicBezTo>
                    <a:pt x="5537051" y="5246835"/>
                    <a:pt x="5436100" y="5319845"/>
                    <a:pt x="5334922" y="5394528"/>
                  </a:cubicBezTo>
                  <a:cubicBezTo>
                    <a:pt x="4745327" y="5829741"/>
                    <a:pt x="4177309" y="6229400"/>
                    <a:pt x="3369727" y="6229400"/>
                  </a:cubicBezTo>
                  <a:cubicBezTo>
                    <a:pt x="2172147" y="6229400"/>
                    <a:pt x="1394603" y="5686137"/>
                    <a:pt x="771046" y="4817913"/>
                  </a:cubicBezTo>
                  <a:cubicBezTo>
                    <a:pt x="396864" y="4297000"/>
                    <a:pt x="0" y="3939728"/>
                    <a:pt x="0" y="3263748"/>
                  </a:cubicBezTo>
                  <a:cubicBezTo>
                    <a:pt x="0" y="1461170"/>
                    <a:pt x="1955141" y="0"/>
                    <a:pt x="3882695" y="0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8" name="Freeform: Shape 17">
              <a:extLst>
                <a:ext uri="{FF2B5EF4-FFF2-40B4-BE49-F238E27FC236}">
                  <a16:creationId xmlns:a16="http://schemas.microsoft.com/office/drawing/2014/main" id="{5BD26A8C-8D1D-41E6-A71E-FE9AC75F3F8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410220" y="131729"/>
              <a:ext cx="5769111" cy="6229400"/>
            </a:xfrm>
            <a:custGeom>
              <a:avLst/>
              <a:gdLst>
                <a:gd name="connsiteX0" fmla="*/ 3882695 w 5769111"/>
                <a:gd name="connsiteY0" fmla="*/ 0 h 6229400"/>
                <a:gd name="connsiteX1" fmla="*/ 5691883 w 5769111"/>
                <a:gd name="connsiteY1" fmla="*/ 557381 h 6229400"/>
                <a:gd name="connsiteX2" fmla="*/ 5769111 w 5769111"/>
                <a:gd name="connsiteY2" fmla="*/ 620523 h 6229400"/>
                <a:gd name="connsiteX3" fmla="*/ 5769111 w 5769111"/>
                <a:gd name="connsiteY3" fmla="*/ 1675390 h 6229400"/>
                <a:gd name="connsiteX4" fmla="*/ 5711488 w 5769111"/>
                <a:gd name="connsiteY4" fmla="*/ 1585205 h 6229400"/>
                <a:gd name="connsiteX5" fmla="*/ 5566027 w 5769111"/>
                <a:gd name="connsiteY5" fmla="*/ 1402571 h 6229400"/>
                <a:gd name="connsiteX6" fmla="*/ 4858734 w 5769111"/>
                <a:gd name="connsiteY6" fmla="*/ 886639 h 6229400"/>
                <a:gd name="connsiteX7" fmla="*/ 3882695 w 5769111"/>
                <a:gd name="connsiteY7" fmla="*/ 694858 h 6229400"/>
                <a:gd name="connsiteX8" fmla="*/ 2727046 w 5769111"/>
                <a:gd name="connsiteY8" fmla="*/ 905053 h 6229400"/>
                <a:gd name="connsiteX9" fmla="*/ 1697186 w 5769111"/>
                <a:gd name="connsiteY9" fmla="*/ 1483638 h 6229400"/>
                <a:gd name="connsiteX10" fmla="*/ 989279 w 5769111"/>
                <a:gd name="connsiteY10" fmla="*/ 2312139 h 6229400"/>
                <a:gd name="connsiteX11" fmla="*/ 735615 w 5769111"/>
                <a:gd name="connsiteY11" fmla="*/ 3263863 h 6229400"/>
                <a:gd name="connsiteX12" fmla="*/ 1154424 w 5769111"/>
                <a:gd name="connsiteY12" fmla="*/ 4128614 h 6229400"/>
                <a:gd name="connsiteX13" fmla="*/ 1379768 w 5769111"/>
                <a:gd name="connsiteY13" fmla="*/ 4427981 h 6229400"/>
                <a:gd name="connsiteX14" fmla="*/ 2239456 w 5769111"/>
                <a:gd name="connsiteY14" fmla="*/ 5256947 h 6229400"/>
                <a:gd name="connsiteX15" fmla="*/ 3369727 w 5769111"/>
                <a:gd name="connsiteY15" fmla="*/ 5534658 h 6229400"/>
                <a:gd name="connsiteX16" fmla="*/ 4096760 w 5769111"/>
                <a:gd name="connsiteY16" fmla="*/ 5357817 h 6229400"/>
                <a:gd name="connsiteX17" fmla="*/ 4881905 w 5769111"/>
                <a:gd name="connsiteY17" fmla="*/ 4847212 h 6229400"/>
                <a:gd name="connsiteX18" fmla="*/ 5075739 w 5769111"/>
                <a:gd name="connsiteY18" fmla="*/ 4705346 h 6229400"/>
                <a:gd name="connsiteX19" fmla="*/ 5759930 w 5769111"/>
                <a:gd name="connsiteY19" fmla="*/ 4166809 h 6229400"/>
                <a:gd name="connsiteX20" fmla="*/ 5769111 w 5769111"/>
                <a:gd name="connsiteY20" fmla="*/ 4157764 h 6229400"/>
                <a:gd name="connsiteX21" fmla="*/ 5769111 w 5769111"/>
                <a:gd name="connsiteY21" fmla="*/ 5074612 h 6229400"/>
                <a:gd name="connsiteX22" fmla="*/ 5636252 w 5769111"/>
                <a:gd name="connsiteY22" fmla="*/ 5174208 h 6229400"/>
                <a:gd name="connsiteX23" fmla="*/ 5334922 w 5769111"/>
                <a:gd name="connsiteY23" fmla="*/ 5394528 h 6229400"/>
                <a:gd name="connsiteX24" fmla="*/ 3369727 w 5769111"/>
                <a:gd name="connsiteY24" fmla="*/ 6229400 h 6229400"/>
                <a:gd name="connsiteX25" fmla="*/ 771046 w 5769111"/>
                <a:gd name="connsiteY25" fmla="*/ 4817913 h 6229400"/>
                <a:gd name="connsiteX26" fmla="*/ 0 w 5769111"/>
                <a:gd name="connsiteY26" fmla="*/ 3263748 h 6229400"/>
                <a:gd name="connsiteX27" fmla="*/ 3882695 w 5769111"/>
                <a:gd name="connsiteY27" fmla="*/ 0 h 62294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</a:cxnLst>
              <a:rect l="l" t="t" r="r" b="b"/>
              <a:pathLst>
                <a:path w="5769111" h="6229400">
                  <a:moveTo>
                    <a:pt x="3882695" y="0"/>
                  </a:moveTo>
                  <a:cubicBezTo>
                    <a:pt x="4601253" y="0"/>
                    <a:pt x="5210727" y="205477"/>
                    <a:pt x="5691883" y="557381"/>
                  </a:cubicBezTo>
                  <a:lnTo>
                    <a:pt x="5769111" y="620523"/>
                  </a:lnTo>
                  <a:lnTo>
                    <a:pt x="5769111" y="1675390"/>
                  </a:lnTo>
                  <a:lnTo>
                    <a:pt x="5711488" y="1585205"/>
                  </a:lnTo>
                  <a:cubicBezTo>
                    <a:pt x="5665942" y="1521390"/>
                    <a:pt x="5617428" y="1460432"/>
                    <a:pt x="5566027" y="1402571"/>
                  </a:cubicBezTo>
                  <a:cubicBezTo>
                    <a:pt x="5367411" y="1179058"/>
                    <a:pt x="5129563" y="1005460"/>
                    <a:pt x="4858734" y="886639"/>
                  </a:cubicBezTo>
                  <a:cubicBezTo>
                    <a:pt x="4568779" y="759363"/>
                    <a:pt x="4240327" y="694858"/>
                    <a:pt x="3882695" y="694858"/>
                  </a:cubicBezTo>
                  <a:cubicBezTo>
                    <a:pt x="3504835" y="694858"/>
                    <a:pt x="3105151" y="767471"/>
                    <a:pt x="2727046" y="905053"/>
                  </a:cubicBezTo>
                  <a:cubicBezTo>
                    <a:pt x="2352985" y="1041013"/>
                    <a:pt x="1996826" y="1241132"/>
                    <a:pt x="1697186" y="1483638"/>
                  </a:cubicBezTo>
                  <a:cubicBezTo>
                    <a:pt x="1397913" y="1725796"/>
                    <a:pt x="1153199" y="2012308"/>
                    <a:pt x="989279" y="2312139"/>
                  </a:cubicBezTo>
                  <a:cubicBezTo>
                    <a:pt x="820946" y="2620077"/>
                    <a:pt x="735615" y="2940290"/>
                    <a:pt x="735615" y="3263863"/>
                  </a:cubicBezTo>
                  <a:cubicBezTo>
                    <a:pt x="735615" y="3573074"/>
                    <a:pt x="863980" y="3752464"/>
                    <a:pt x="1154424" y="4128614"/>
                  </a:cubicBezTo>
                  <a:cubicBezTo>
                    <a:pt x="1227127" y="4222767"/>
                    <a:pt x="1302282" y="4320162"/>
                    <a:pt x="1379768" y="4427981"/>
                  </a:cubicBezTo>
                  <a:cubicBezTo>
                    <a:pt x="1653784" y="4809458"/>
                    <a:pt x="1934912" y="5080685"/>
                    <a:pt x="2239456" y="5256947"/>
                  </a:cubicBezTo>
                  <a:cubicBezTo>
                    <a:pt x="2562268" y="5443863"/>
                    <a:pt x="2932037" y="5534658"/>
                    <a:pt x="3369727" y="5534658"/>
                  </a:cubicBezTo>
                  <a:cubicBezTo>
                    <a:pt x="3618120" y="5534658"/>
                    <a:pt x="3849103" y="5478491"/>
                    <a:pt x="4096760" y="5357817"/>
                  </a:cubicBezTo>
                  <a:cubicBezTo>
                    <a:pt x="4351037" y="5233901"/>
                    <a:pt x="4602740" y="5053238"/>
                    <a:pt x="4881905" y="4847212"/>
                  </a:cubicBezTo>
                  <a:cubicBezTo>
                    <a:pt x="4947375" y="4798920"/>
                    <a:pt x="5012599" y="4751322"/>
                    <a:pt x="5075739" y="4705346"/>
                  </a:cubicBezTo>
                  <a:cubicBezTo>
                    <a:pt x="5327320" y="4521990"/>
                    <a:pt x="5568418" y="4346256"/>
                    <a:pt x="5759930" y="4166809"/>
                  </a:cubicBezTo>
                  <a:lnTo>
                    <a:pt x="5769111" y="4157764"/>
                  </a:lnTo>
                  <a:lnTo>
                    <a:pt x="5769111" y="5074612"/>
                  </a:lnTo>
                  <a:lnTo>
                    <a:pt x="5636252" y="5174208"/>
                  </a:lnTo>
                  <a:cubicBezTo>
                    <a:pt x="5537051" y="5246835"/>
                    <a:pt x="5436100" y="5319845"/>
                    <a:pt x="5334922" y="5394528"/>
                  </a:cubicBezTo>
                  <a:cubicBezTo>
                    <a:pt x="4745327" y="5829741"/>
                    <a:pt x="4177309" y="6229400"/>
                    <a:pt x="3369727" y="6229400"/>
                  </a:cubicBezTo>
                  <a:cubicBezTo>
                    <a:pt x="2172147" y="6229400"/>
                    <a:pt x="1394603" y="5686137"/>
                    <a:pt x="771046" y="4817913"/>
                  </a:cubicBezTo>
                  <a:cubicBezTo>
                    <a:pt x="396864" y="4297000"/>
                    <a:pt x="0" y="3939728"/>
                    <a:pt x="0" y="3263748"/>
                  </a:cubicBezTo>
                  <a:cubicBezTo>
                    <a:pt x="0" y="1461170"/>
                    <a:pt x="1955141" y="0"/>
                    <a:pt x="3882695" y="0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pic>
        <p:nvPicPr>
          <p:cNvPr id="7" name="Graphic 6" descr="Segno di spunta">
            <a:extLst>
              <a:ext uri="{FF2B5EF4-FFF2-40B4-BE49-F238E27FC236}">
                <a16:creationId xmlns:a16="http://schemas.microsoft.com/office/drawing/2014/main" id="{E78BB58C-A62A-0AC2-D8D2-7915247EECE9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8121726" y="1629089"/>
            <a:ext cx="3620021" cy="362002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72921864"/>
      </p:ext>
    </p:extLst>
  </p:cSld>
  <p:clrMapOvr>
    <a:masterClrMapping/>
  </p:clrMapOvr>
</p:sld>
</file>

<file path=ppt/theme/theme1.xml><?xml version="1.0" encoding="utf-8"?>
<a:theme xmlns:a="http://schemas.openxmlformats.org/drawingml/2006/main" name="Tema di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ptos" panose="020B000402020202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Application>Microsoft Office PowerPoint</Application>
  <PresentationFormat>Widescreen</PresentationFormat>
  <Slides>21</Slides>
  <Notes>0</Notes>
  <HiddenSlides>1</HiddenSlides>
  <ScaleCrop>false</ScaleCrop>
  <HeadingPairs>
    <vt:vector size="4" baseType="variant">
      <vt:variant>
        <vt:lpstr>Tema</vt:lpstr>
      </vt:variant>
      <vt:variant>
        <vt:i4>1</vt:i4>
      </vt:variant>
      <vt:variant>
        <vt:lpstr>Titoli diapositive</vt:lpstr>
      </vt:variant>
      <vt:variant>
        <vt:i4>21</vt:i4>
      </vt:variant>
    </vt:vector>
  </HeadingPairs>
  <TitlesOfParts>
    <vt:vector size="22" baseType="lpstr">
      <vt:lpstr>Tema di Office</vt:lpstr>
      <vt:lpstr>AI IMPACT ON STUDENTS</vt:lpstr>
      <vt:lpstr>Presentazione standard di PowerPoint</vt:lpstr>
      <vt:lpstr>Analisi dei dati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Modelli addestrati</vt:lpstr>
      <vt:lpstr>Presentazione standard di PowerPoint</vt:lpstr>
      <vt:lpstr>Presentazione standard di PowerPoint</vt:lpstr>
      <vt:lpstr>Prossimi passi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/>
  <cp:revision>160</cp:revision>
  <dcterms:created xsi:type="dcterms:W3CDTF">2026-06-04T12:55:22Z</dcterms:created>
  <dcterms:modified xsi:type="dcterms:W3CDTF">2026-06-05T15:45:20Z</dcterms:modified>
</cp:coreProperties>
</file>